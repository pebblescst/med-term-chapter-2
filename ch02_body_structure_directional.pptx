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SLIDE
Learning objectives for Chapter 2:
1. Describe the organizational hierarchy of the human body: cells → tissues → organs → systems → organism
2. Identify the four types of tissues and their functions
3. Define anatomic position and explain its importance as a universal reference frame
4. Apply all directional and positional terms correctly in clinical descriptions
5. Identify the body cavities and their contents
6. Locate all 9 abdominopelvic regions and 4 quadrants, and identify the major organs in each
7. Distinguish the 5 body planes and their clinical imaging relevance
8. Decode the 7 prefixes and 2 suffixes introduced in this chapter
Chapter framing for students:
"Before we can describe what's wrong with a patient, we have to agree on how to describe WHERE we are in the body. If I say 'the patient has a wound on the upper arm' — is that the front or the back of the arm? The inside or outside? Close to the shoulder or close to the elbow? Directional terminology gives us the precision to communicate exactly. A misunderstood location can mean the wrong limb gets operated on."
This chapter is unique because it introduces SPATIAL language rather than pathological language. The terms here are used as modifiers in clinical documentation across every body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CHAPTER OVERVIEW
What makes Chapter 2 different from all other chapters:
- Chapter 1: HOW the language works (word-building rules and CARD method)
- Chapter 2: WHERE in the body (spatial and directional terminology)
- Chapters 3+: WHAT is wrong (body system pathology and procedures)
Chapter 2 establishes the SPATIAL vocabulary used in every subsequent chapter. Terms like "anterior," "lateral," "proximal," and "superior" appear in clinical notes, imaging reports, surgical descriptions, and patient documentation across all specialties.
The 33 key terms in this chapter are primarily DESCRIPTIVE (adjectives and directional adverbs) — very different from the procedural and pathological terms in most other chapters. They describe LOCATION and DIRECTION rather than conditions or procedures.
Unique features of this chapter:
- Only 2 suffixes (fewest of any chapter): -ad and -um
- Most terms are built from combining forms + -al (pertaining to)
- The body organization hierarchy (cells → tissues → organs → systems) sets up ALL subsequent body system chapters
- The abdominopelvic regions and planes directly apply to imaging interpretation and physical exam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BODY ORGANIZATION HIERARCHY
Teaching the hierarchy as a progression from simple to complex:
LEVEL 1 — CELLS (cyt/o):
- Metabolism definition: "The sum of all chemical processes occurring in a living cell"
- Anabolism (ana- = up/apart): building up — using energy to synthesize larger molecules (protein synthesis from amino acids)
- Catabolism (cata- = down): breaking down — releasing energy by breaking down larger molecules (glucose → ATP)
- Metabolism = anabolism + catabolism (meta- = change: the constant state of change in cells)
- Clinical: cancer cells have UNCONTROLLED metabolism; metabolic disorders affect cellular energy production
LEVEL 2 — TISSUES (hist/o):
The 4 tissue types and their clinical relevance:
1. EPITHELIAL: skin surface, organ linings, mucous membranes, glandular tissue. Most common site of CANCER (carcinoma = cancer of epithelial tissue). Repairs quickly.
2. CONNECTIVE: bone, cartilage, tendons, ligaments, fat (adipose), blood. Cancer = sarcoma. Provides structural support.
3. MUSCULAR: skeletal (voluntary, striated), smooth (involuntary — GI, vascular), cardiac (involuntary, striated). Cancer = rhabdomyosarcoma (skeletal muscle).
4. NERVOUS: neurons (transmit signals) + neuroglia (support). Cancer = glioma (from neuroglia). Repairs very slowly or not at all.
- Parenchymal vs stromal: Kidney (parenchymal = the nephrons that filter) vs ureter (stromal = the tube that transports)
LEVEL 3 — ORGANS (viscer/o):
The heart as a teaching example (from slides):
- Endocardium (endo- + cardi/o + -um): epithelial tissue lining the interior of the heart chambers
- Myocardium (myo- + cardi/o + -um): cardiac muscle tissue = the heart's pumping tissue
- Pericardium (peri- + cardi/o + -um): connective tissue membrane surrounding the heart
- One organ (heart) contains all tissue types and functions in multiple systems
LEVEL 4 — BODY SYSTEMS:
All 11 systems will be covered in subsequent chapters. Preview question:
"Which system covers the most organs? Which one overlaps with the most other systems?"
Answer: The cardiovascular and nervous systems have components in virtually every body region.
HOMEOSTASIS (home/o + -stasis):
- home/o = sameness; -stasis = standing still (not moving)
- Homeostasis = maintaining stable internal conditions despite external changes
- Temperature, blood glucose, pH, blood pressure, fluid balance
- Disease often = homeostasis failure (diabetes = blood glucose homeostasis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ANATOMIC POSITION
The "blind men and the elephant" teaching story (from lecture notes):
"Have you ever heard of the blind men trying to describe an elephant? One was touching the trunk, another the body, another the tail — and they gave three completely different descriptions of the same animal. Without a shared frame of reference, the same object can mean completely different things to different people. Anatomic position is our shared reference frame."
The five requirements of anatomic position — teach as a mnemonic: SFAPT
- S: Standing erect
- F: Face forward
- A: Arms at sides
- P: Palms facing forward (supinated)
- T: Toes pointed forward
Why palms FORWARD matters:
- In the "natural" standing position, palms face inward (toward the thighs)
- In anatomic position, palms face FORWARD (anteriorly)
- This affects the names of forearm structures: the radius is lateral ONLY when the palm faces forward
- If palms face inward, the radius and ulna CROSS, and "lateral" becomes ambiguous
- Clinical implication: when describing a wound or structure on the forearm, documentation assumes anatomic position (palms forward)
Anatomic position vs clinical positions:
The anatomic position is a REFERENCE, not how patients are actually positioned for procedures:
- Lithotomy position: lying supine with legs elevated and spread (gynecological exams, deliveries)
- Trendelenburg: supine with legs higher than head (shock treatment)
- Lateral decubitus: lying on the side (chest procedures, some GI procedures)
- Prone: lying face down (posterior spinal surgery, some ICU lung protection protocols)
All of these positions are described relative to anatomic position.
Autopsy terminology (from slide 10):
- Biopsy: bi/o + -opsy = view of LIVING tissue (removed from a living patient for microscopic examination)
- Necropsy: necr/o (death) + -opsy = view of dead tissue = examination after death (same as autopsy)
- Autopsy: auto- (self) + -opsy = viewing oneself after death (from the perspective of examining one's own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DIRECTIONAL TERMS SECTION DIVIDER
Why teach directional terms as PAIRS:
- Every directional term has an OPPOSITE — learning them as pairs doubles efficiency
- Anterior/posterior, superior/inferior, medial/lateral, proximal/distal, superficial/deep, ipsilateral/contralateral, unilateral/bilateral
- A term is meaningless without knowing its opposite (what does "anterior" mean if you don't know "posterior"?)
Teaching strategy: use the body to demonstrate each pair
- Anterior/posterior: "Your sternum is anterior to your spine. Your spine is posterior to your sternum."
- Superior/inferior: "Your head is superior to your feet. Your feet are inferior to your head."
- Medial/lateral: "Your big toe is medial to your little toe. Your little toe is lateral to your big toe."
- Proximal/distal: "Your elbow is proximal to your wrist. Your wrist is distal to your elbow."
Synonyms to teach:
- anterior = ventral (both mean "front")
- posterior = dorsal (both mean "back")
- superior/cephalad (both mean "toward head" in direction)
- inferior/caudad (both mean "toward tail" in direction)
Students will see both terms used in clinical settings — they must know both.
The suffix -ad always means TOWARD (direction of movement):
- cephal/o + -ad = cephalad = TOWARD the head
- caud/o + -ad = caudad = TOWARD the tail
These are directional (moving toward), not descriptive (pertaining to).
Compare: cranial = pertaining to the cranium (-al) vs cephalad = toward the head (-ad)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ANTERIOR/POSTERIOR &amp; SUPERIOR/INFERIOR
Anterior vs posterior — clinical documentation:
- X-RAY PROJECTIONS use these terms: AP (anteroposterior) vs PA (posteroanterior)
  * AP chest X-ray: beam enters anterior chest, exits posterior → taken when patient cannot stand (supine)
  * PA chest X-ray: beam enters posterior chest, exits anterior → standard upright chest X-ray
  * PA is preferred because the heart is anterior → less magnification on PA film → more accurate heart size assessment
  * Clinical tip: if you see "AP portable" in imaging — patient was too sick to stand; PA = patient could stand
Ventral and dorsal as synonyms:
- These are used interchangeably with anterior/posterior in most contexts
- ventral = "belly side" (from Latin venter = belly)
- dorsal = "back side" (from Latin dorsum = back)
- These are especially used in embryology and animal anatomy where anterior/posterior are used for different planes
- The VENTRAL and DORSAL body cavities organize all internal spaces:
  * VENTRAL: Thoracic (TAP = T), Abdominal (TAP = A), Pelvic (TAP = P)
  * DORSAL: Cranial + Spinal (connected; both protected by bone)
  * Memory: TAP = the three ventral cavities; Dorsal cavities are protected by bone
Superior vs inferior — clinical examples across body systems:
- "The right coronary artery supplies the inferior wall of the left ventricle" → cardiology
- "The superior mesenteric artery" → GI (supplies the superior/upper intestine)
- "Inferior vena cava" → carries blood from BELOW the diaphragm to the right atrium
- "Superior vena cava" → carries blood from ABOVE the diaphragm to the right atrium
Cephalad vs caudad — why these are useful:
- In humans: "superior" is good enough for vertical direction
- In quadrupeds (4-legged animals): "superior" is ambiguous (which end is up?)
  * Cephalad = toward the head = anatomically precise in any orientation
  * Caudad = toward the tail = anatomically precise in any orientation
- In radiology/embryology: cephalad and caudal are often preferred for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MEDIAL/LATERAL &amp; SIDE TERMS
Medial and lateral — the teaching examples that always work:
"Look at your hand. Your thumb is MEDIAL to your index finger when your palm faces forward (anatomic position). Your little finger is LATERAL. The thumb is closest to the midline of the body (the imaginary line down the center)."
"For the feet: big toe (hallux) is MEDIAL; little toe is LATERAL."
More clinical medial/lateral examples:
- Medial collateral ligament (MCL): on the INNER side of the knee (toward midline)
- Lateral collateral ligament (LCL): on the OUTER side of the knee (away from midline)
- Medial epicondyle vs lateral epicondyle of the humerus
- Medial meniscus vs lateral meniscus
- Lateral femoral condyle is farther from the midline than the medial femoral condyle
Ipsilateral vs contralateral — neurological teaching point:
"This is one of the most clinically important directional concepts in medicine. The brain is contralaterally organized — the RIGHT brain controls the LEFT side of the body, and the LEFT brain controls the RIGHT side."
Why contralateral control?
- The corticospinal tract (motor pathway) crosses (decussates) at the level of the medulla oblongata
- A right hemisphere stroke damages motor fibers that control the LEFT side → left-sided weakness, left facial droop
- This is why neurological exams are so specific: "Patient has right arm weakness" → examine the LEFT brain
Unilateral vs bilateral — clinical classification:
- Many diseases are classified as unilateral (one side) or bilateral (both sides):
  * Unilateral pneumonia vs bilateral pneumonia (very different severity and prognosis)
  * Unilateral renal agenesis (one kidney missing) — usually compatible with normal life
  * Bilateral renal agenesis (both kidneys missing) — fatal without transplant
  * Unilateral hearing loss vs bilateral hearing loss
- The prefix (uni- vs bi-) is diagnostically significant
Proximal and distal (important for extremity and vessel anatomy):
- "Origin" for limbs = shoulder (for upper extremity) and hip (for lower extremity)
- PROXIMAL: closer to the shoulder/hip → the humerus is proximal to the radius/ulna
- DISTAL: farther from the shoulder/hip → the fingers are distal to the wrist
- For blood vessels: proximal = toward the heart; distal = away from the heart
- For the GI tract: proximal = closer to the mouth; distal = closer to the anus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DEPTH, POSITION &amp; ADDITIONAL TERMS
Superficial vs deep — clinical significance:
- These terms have LEGAL and MEDICAL significance in wound classification
- Superficial wound: affects epidermis only (minor)
- Partial-thickness: epidermis + part of dermis
- Full-thickness (deep): epidermis + full dermis + may involve subcutaneous tissue, muscle, or bone
- Same terminology applies to burns: superficial (1st degree), partial-thickness (2nd degree), full-thickness (3rd degree)
- DVT (deep vein thrombosis): clot in the DEEP venous system (not superficial varicose veins) → high risk of pulmonary embolism
Superficial vs deep veins (clinically important):
- SUPERFICIAL veins: run in subcutaneous fat, visible through skin. Examples: cephalic vein, basilic vein (arm), great saphenous vein (leg). Used for IV access, blood draws, bypass grafts.
- DEEP veins: run alongside arteries within muscle compartments. Examples: femoral vein, popliteal vein, brachial vein. DVT in deep veins can lead to pulmonary embolism.
Supine vs prone — surgical and ICU positions:
- SUPINE: most common surgical position. Good for anterior approach procedures. Prone to complications in long cases: pressure ulcers (especially posterior bony prominences).
- PRONE: used for posterior spine, neurosurgery, some fracture management. Requires careful positioning to protect eyes, nose, and brachial plexus. COVID-19: prone positioning improves oxygenation in ARDS by re-expanding collapsed posterior lung regions (these are gravity-dependent when supine).
Afferent vs efferent — the sensory/motor distinction:
- AFFERENT = going TO the center (brain/spinal cord):
  * Sensory (afferent) neurons: pain, temperature, touch, proprioception from periphery to CNS
  * Afferent arteriole: blood from systemic circulation TO the glomerulus
  * Lymphatic afferents: fluid FROM tissues TO the lymph node
- EFFERENT = going AWAY from the center:
  * Motor (efferent) neurons: signals from CNS to muscles and glands
  * Efferent arteriole: blood from the glomerulus to the peritubular capillaries
  * Lymphatic efferents: fluid FROM lymph node toward the thoracic duct
- Memory device: "AFFERENT = Arriving; EFFERENT = Exiting"
Dextr/o (right) and sinistr/o/levo- (left) — etymology teaching moment:
- Historical: many cultures considered the right hand "good" (dextrous = skilled) and the left "evil/bad luck" (sinister = left in Latin, but took on negative connotation)
- Medical terminology: ONLY means right or left — no value judgment
- Pharmaceutical: levo- prefix indicates the LEFT-HANDED isomer of a molecule (important in pharmacology)
  * Levothyroxine = the L-isomer of thyroxine (the biologically active form)
  * Levodopa = the L-isomer of DOPA (used for Parkinson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BODY CAVITIES
The TAP mnemonic for ventral cavities (from lecture notes):
"Note that the first initials of the three ventral cavities spell the word TAP: Thoracic, Abdominal, Pelvic"
This is in the lecture notes — teach this mnemonic explicitly.
DORSAL cavities — protection by bone:
- Critical thinking question from slides: "Why are most body cavities protected by bones?"
- Because the vital organs they contain (brain, spinal cord, heart, lungs) need rigid protection
- Cranial = protected by skull (8 bones)
- Spinal = protected by 33 vertebrae
- The two dorsal cavities are CONNECTED through the foramen magnum (opening at the base of the skull)
THORACIC CAVITY subdivisions (high yield):
1. MEDIASTINUM (mediastin/o + -um = structure in the middle):
   - Location: central portion of thoracic cavity between the two pleural sacs
   - Contents: heart (in pericardial sac), trachea, esophagus, thymus, thoracic aorta, superior/inferior vena cava, thoracic duct
   - Clinical: mediastinal widening on CXR → aortic dissection, lymphoma, masses
   - Mediastinoscopy = visual examination of the mediastinum (diagnostic procedure)
2. PLEURAL CAVITIES (pleur/o):
   - TWO separate cavities: right (contains right lung) and left (contains left lung)
   - Lined by pleura: parietal pleura (lines chest wall) and visceral pleura (covers lung)
   - The thin pleural space contains pleural fluid for lubrication
   - Pneumothorax = air in pleural space (lung collapses)
   - Hemothorax = blood in pleural space (trauma)
   - Pleural effusion = excess fluid in pleural space (CHF, infection, cancer)
3. PERICARDIAL CAVITY (peri- + cardi/o):
   - Located within the pericardial sac (around the heart)
   - Pericardial fluid lubricates heart movement
   - Pericardial effusion = fluid around heart
   - Cardiac tamponade = too much pericardial fluid compressing the heart → emergency
ABDOMINAL CAVITY:
- Diaphragm (diaphragm/o, phren/o) separates thoracic from abdominal
- Phrenic nerve (C3, C4, C5) controls the diaphragm → "C3, 4, 5 keeps the diaphragm alive"
- Peritoneum (peritone/o): largest serous membrane; PARIETAL peritoneum lines the cavity wall; VISCERAL peritoneum covers the organs
- Peritonitis = inflammation of the peritoneum (very serious — from appendix rupture, bowel perforation, etc.)
- Retroperitoneal organs: BEHIND the peritoneum — kidneys, adrenal glands, aorta, inferior vena cava, pancreas (mostly), duodenum (mostly)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ABDOMINOPELVIC REGIONS &amp; QUADRANTS
9 REGIONS vs 4 QUADRANTS — when to use each:
- 9 REGIONS: more precise, used in detailed anatomical descriptions, physical exam documentation, surgical planning
- 4 QUADRANTS: simpler, used in emergency settings, triage, quick clinical communication ("patient has RUQ pain")
- Both systems are used in clinical practice — know both
The 9 regions in detail (from lecture notes):
"Ask students to draw these in their notes. Show them how to label their drawings with the correct application of left and right — use the shaking hands analogy: when you face the patient, their LEFT is your RIGHT. Student drawings often have left and right reversed."
Key region terms to decode:
- EPIGASTRIC: epi- (above) + gastr/o (stomach) + -ic = above the stomach region
  * Note: the REGION, not the organ. The epigastric region is ABOVE the stomach on the surface, but the stomach organ is actually here.
  * Clinical: epigastric pain = GERD, peptic ulcer disease (PUD), pancreatitis
- HYPOCHONDRIAC: hypo- (below) + chondr/o (cartilage) + -iac = below the rib cartilage
  * Common everyday meaning: "hypochondriac" = someone who thinks they are always sick
  * Ancient Greeks believed the hypochondriac regions (under the costal cartilage) were responsible for this mental condition
  * In medical terminology: it is simply the upper lateral regions of the abdomen
- HYPOGASTRIC: hypo- (below) + gastr/o (stomach) + -ic = below the stomach region
  * Contains: urinary bladder, sigmoid colon, uterus (in females)
  * Also called the pubic region
  * Clinical: bladder pain, uterine pain, lower urinary tract symptoms (LUTS)
- UMBILICAL: umbilic/o + -al = pertaining to the navel
  * The center region — the umbilicus (belly button) is the central landmark
  * Contains small intestine and transverse colon
  * Clinical: periumbilical pain → appendicitis (early); pain around the navel from ischemia
McBurney's point vs Munro's point:
- McBURNEY'S POINT: location of maximal tenderness in appendicitis
  * Located 1/3 of the way from the right anterior superior iliac spine (ASIS) to the umbilicus
  * In the RLQ / right iliac region
  * Named for surgeon Charles McBurney (1845-1913)
- MUNRO'S POINT: trocar insertion point for laparoscopic procedures in the LLQ
  * Located in the LLQ
  * Named for physician John Munro
4 QUADRANT organ content — high yield for clinical reasoning:
- RUQ pathology: liver, gallbladder disease (cholecystitis, hepatitis, biliary colic)
- LUQ pathology: spleen injury (trauma), gastric ulcer, pancreatitis
- RLQ pathology: appendicitis (McBurney's point tenderness = classic)
- LLQ pathology: diverticulitis (sigmoid colon — most common site for diverticula)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BODY PLANES
The body planes are clinically essential for imaging interpretation:
"Every time you look at an X-ray, CT, MRI, or ultrasound, you are looking at the body in a specific PLANE. The plane determines what you see and what is cut out of view. Radiologists and surgeons must specify the plane to communicate precisely."
THE THREE STANDARD PLANES — memory device:
- SAGITTAL: cuts into LEFT and RIGHT (Sagittal = Splits into Sides)
- FRONTAL/CORONAL: cuts into FRONT and BACK (Frontal = Front vs Back)
- TRANSVERSE: cuts into TOP and BOTTOM (Transverse = Top vs bottom = horizontal)
Midsagittal vs sagittal:
- ALL midsagittal planes are sagittal planes, but NOT all sagittal planes are midsagittal
- Only ONE midsagittal plane exists (through the exact midline)
- Multiple sagittal planes exist at all positions from left to right
- Example: a CT scout film of the lumbar spine can be taken in a parasagittal (off-center sagittal) plane
Clinical imaging planes in practice:
RADIOGRAPH (X-ray):
- AP (anteroposterior): X-ray beam from ANTERIOR to POSTERIOR → structures in different planes superimpose
- PA (posteroanterior): beam from POSTERIOR to ANTERIOR → standard upright chest X-ray (PA is preferred for heart size accuracy)
- LATERAL: beam from side → creates sagittal-like image
CT SCAN:
- Default: TRANSVERSE (axial) slices — looking DOWN at cross-sections from above
- Can reconstruct any plane: sagittal reconstructions (L/R division), coronal reconstructions (front/back division)
- "3D reconstruction" = computer combines multiple planes
MRI:
- Can acquire directly in any plane without reconstruction
- CORONAL (frontal) MRI: good for brain, shoulders, hips — shows left/right and up/down
- SAGITTAL MRI: good for spine, brain midline structures — shows front/back and up/down
- TRANSVERSE (axial) MRI: good for joints, abdomen — shows left/right and front/back
The oblique plane in clinical use:
- ERCP: endoscopic retrograde cholangiopancreatography uses oblique fluoroscopic views
- Echocardiography (cardiac ultrasound): parasternal long axis = an oblique plane cutting through the heart
- Dental X-rays: often taken at oblique angles to separate overlapping teeth
Teaching tip: Have students identify which plane is being viewed when you show them examples of CT, MRI, and X-ray images. This skill is used every day in clinical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PREFIXES AND SUFFIXES
Only 7 prefixes and 2 suffixes in Chapter 2 — but these prefixes are extremely productive in clinical terminology.
PREFIX PAIRS to emphasize:
- uni- (one) vs bi- (two): THE most recognizable numeric prefix pair
  * unilateral = one side; bilateral = both sides
  * unicycle = 1 wheel; bicycle = 2 wheels; tricycle = 3 (tri-)
  * These appear in EVERY chapter going forward
- contra- vs ipsi-: opposite vs same side
  * These are neurological goldmines: "ipsilateral Horner syndrome" "contralateral hemiplegia"
  * Contra- also appears outside directional use: contraindication = a reason AGAINST using a treatment
CRITICAL CONFUSION: bi- vs bi/o:
- bi- = prefix = TWO (bilateral, bifurcation, bifocal, biceps)
- bi/o = combining form = LIFE (biopsy, biology, biohazard, antibiotic)
- They look identical in compound terms but come from completely different roots
- In study materials: bi- has a hyphen (prefix); bi/o has a slash (combining form)
- In actual clinical terms: "biopsy" has nothing to do with "bilateral" — the bi/o in biopsy = life, not two
meta- (change/beyond) — expanding meanings:
- In chemistry: meta- = a specific isomer position (meta-analysis in research)
- In medicine: most common use = BEYOND original site: metastasis (cancer cells that have traveled beyond the primary tumor to distant sites)
- In metabolism: meta- = the constant state of chemical CHANGE in cells
- Metaphysis: the region BEYOND (meta-) the growth plate (physis) in a developing bone
- Metaplasia (meta- + -plasia = beyond normal growth): abnormal change in cell type → precancerous
THE 2 SUFFIXES:
-ad (toward): a rare but important suffix in directional terminology
- ONLY appears in directional terms: cephalad, caudad, dextrad, sinistrad
- Always indicates MOVEMENT toward a location, not just location
- Compare: cranial (-al) = pertaining to the cranium (descriptive); cephalad (-ad) = toward the head (directional)
- In embryology and animal anatomy, -ad terms are especially common
-um (structure/thing): the Latin noun ending for anatomical structures
- Mediastinum (middle structure of the chest)
- Pericardium (structure around the heart)
- Peritoneum (structure around the abdominal organs)
- Cranium (the skull structure)
- Latin plurals: -um → -a: cranium → crania; peritoneum → peritonea; mediastinum → mediastina
- These Latin plurals appear in clinical speech (e.g., "the peritonea of both surfaces")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ALL 18 COMBINING FORMS
High-priority combining forms for Chapter 2 — the directional set:
These six combine with -al to create the core positional/directional adjectives:
1. anter/o → anterior (front)
2. poster/o → posterior (back)
3. super/o → superior (above)
4. infer/o → inferior (below)
5. medi/o → medial (toward midline)
6. later/o → lateral (away from midline)
All six follow the same word-building pattern: combining form + -al = directional adjective
- All follow Rule 2: -al starts with a VOWEL... wait, -al starts with a consonant? No — -al starts with a vowel "a"
- Actually: Rule 1: if suffix starts with a VOWEL → drop combining vowel
  * anter/o + -ior = anterior (drops the 'o')
  * poster/o + -ior = posterior (drops the 'o')
  * super/o + -ior = superior (drops the 'o')
  * infer/o + -ior = inferior (drops the 'o')
  * medi/o + -al = medial (drops the 'o' — -al starts with a vowel)
  * later/o + -al = lateral (drops the 'o')
CRITICAL EXCEPTION: pelv/i
- pelv/i uses 'i' as the combining vowel instead of the usual 'o'
- This is one of the rare exceptions to the "combining vowel = o" rule
- Clinical: pelvic, abdominopelvic — both use pelv/i
- Students frequently write "pelv/o" — emphasize the 'i'
abdomin/o — the REGION vs ORGAN distinction:
- The ABDOMEN (abdomin/o) is a REGION of the body (the area between diaphragm and pelvis)
- The STOMACH (gastr/o) is an ORGAN within that region
- These are completely different — abdominal pain ≠ gastric pain (though the stomach is in the abdomen)
- "Abdominal surgery" = surgery in the abdominal region
- "Gastric surgery" = surgery specifically on the stomach
- Students often confuse "stomach" and "abdomen" in lay language — medical language distinguishes them
The directional combining form pairs (opposites):
- anter/o (front) ↔ poster/o (back)
- super/o (above) ↔ infer/o (below)
- medi/o (middle/midline) ↔ later/o (side)
- proxim/o (near) ↔ dist/o (far)
- ventr/o (front/belly) ↔ dors/o (back)
These directional pairs will appear in every chapter going forward as modifiers.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WORD BUILDING
Socratic decoding — cover the definition, have students decode from parts first.
Bilateral (bi- + later/o + -al):
- bi- = two; later/o = side; -al = pertaining to
- CARD: pertaining to / two / sides → pertaining to both sides
- Rule 1 applies: -al starts with vowel 'a' → drop combining vowel 'o' from later/o → lat-eral (NOT later-o-al)
- Compare: uni-later-al (one side) vs bi-later-al (two sides) vs contra-later-al (opposite side) vs ipsi-later-al (same side)
- All four terms share the same root (later/o) and suffix (-al) — only the prefix changes
Contralateral (contra- + later/o + -al):
- contra- = against/opposite; later/o = side; -al = pertaining to
- CARD: pertaining to / opposite / side → pertaining to the opposite side
- Clinical: "The patient has contralateral weakness" = weakness on the opposite side from the brain lesion
Epigastric (epi- + gastr/o + -ic):
- epi- = above; gastr/o = stomach; -ic = pertaining to
- CARD: pertaining to / above / stomach → pertaining to above the stomach
- This is the NAME of the upper middle abdominopelvic region
- Clinical: epigastric pain is common in GERD, PUD, and pancreatitis
- Rule 1: -ic starts with vowel 'i' → drop combining vowel 'o' from gastr/o → gastr-ic (NOT gastro-ic)
Unilateral (uni- + later/o + -al):
- uni- = one; later/o = side; -al = pertaining to
- CARD: pertaining to / one / side → pertaining to one side only
- Clinical: "Unilateral facial droop" = drooping on ONE side of the face (vs bilateral = both sides)
Cephalad (cephal/o + -ad):
- cephal/o = head; -ad = toward
- CARD: toward / the head
- Note: -ad (toward) gives DIRECTION; compare cephal/o + -al = cephalic (pertaining to the head)
- "Toward the head" means in the SUPERIOR direction
- Clinical: "The tumor extends cephalad" = it extends toward the head (upward)
Mediastinum (mediastin/o + -um):
- mediastin/o = mediastinum (central chest structure); -um = structure/thing
- The mediastinum is the central partition of the thoracic cavity
- Contains: heart, trachea, esophagus, great vessels, thymus
- Rule 3: mediastin ends in 'n' and -um starts with 'u' → no vowel duplication issue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CHAPTER 2 SUMMARY
Final assessment questions:
1. Anatomic position: "A patient is lying supine. Describe the anatomic position as the reference frame for this patient." → Standing erect, face forward, arms at sides, palms forward, toes forward. The patient is supine but directional terms still reference anatomic position.
2. Directional terms in context: "The patient has a wound on the lateral aspect of the right thigh, approximately 10 cm distal to the hip joint." → Decode: lateral = away from midline (outer side of thigh); distal = farther from origin (10 cm below the hip joint)
3. Body cavities: "Which body cavity contains the heart, and what membrane surrounds the heart within that cavity?" → Thoracic cavity (ventral dorsal cavity T of TAP). The pericardial cavity, surrounded by the pericardium (peri- + cardi/o + -um).
4. Abdominopelvic regions: "A patient presents with pain in the right lower abdomen at McBurney's point with rebound tenderness. Which abdominopelvic region is affected, and what organ is typically responsible?" → Right iliac/inguinal region. The appendix (appendicitis — most common acute surgical emergency).
5. Body planes: "A CT scan shows 'axial slices' through the abdomen. Which body plane is this?" → Transverse (axial/cross-sectional) plane — horizontal cuts dividing superior from inferior portions.
6. Decode a term: "A patient is described as having 'contralateral hemiplegia.' Decode this term and explain what it means clinically." → contra- (opposite) + later/o (side) + -al = contralateral = pertaining to the opposite side. Hemiplegia = hemi- (half) + -plegia (paralysis). = paralysis of the opposite side of the body from the brain lesion.
7. 9 regions decode: "Identify the word parts in 'epigastric' and 'hypogastric' and explain the difference." → epigastric: epi- (above) + gastr/o (stomach) + -ic = above the stomach region. hypogastric: hypo- (below) + gastr/o + -ic = below the stomach region. Both describe abdominopelvic regions: epigastric is the UPPER middle region; hypogastric is the LOWER middle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D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7B3FA0"/>
          </a:solidFill>
          <a:ln w="12700">
            <a:solidFill>
              <a:srgbClr val="7B3FA0"/>
            </a:solidFill>
            <a:prstDash val="solid"/>
          </a:ln>
        </p:spPr>
      </p:sp>
      <p:sp>
        <p:nvSpPr>
          <p:cNvPr id="3" name="Text 1"/>
          <p:cNvSpPr/>
          <p:nvPr/>
        </p:nvSpPr>
        <p:spPr>
          <a:xfrm>
            <a:off x="457200" y="868680"/>
            <a:ext cx="8229600" cy="365760"/>
          </a:xfrm>
          <a:prstGeom prst="rect">
            <a:avLst/>
          </a:prstGeom>
          <a:noFill/>
          <a:ln/>
        </p:spPr>
        <p:txBody>
          <a:bodyPr wrap="square" rtlCol="0" anchor="ctr"/>
          <a:lstStyle/>
          <a:p>
            <a:pPr indent="0" marL="0">
              <a:buNone/>
            </a:pPr>
            <a:r>
              <a:rPr lang="en-US" sz="1300" b="1" spc="500" kern="0" dirty="0">
                <a:solidFill>
                  <a:srgbClr val="B085D4"/>
                </a:solidFill>
              </a:rPr>
              <a:t>CHAPTER 2</a:t>
            </a:r>
            <a:endParaRPr lang="en-US" sz="1300" dirty="0"/>
          </a:p>
        </p:txBody>
      </p:sp>
      <p:sp>
        <p:nvSpPr>
          <p:cNvPr id="4" name="Text 2"/>
          <p:cNvSpPr/>
          <p:nvPr/>
        </p:nvSpPr>
        <p:spPr>
          <a:xfrm>
            <a:off x="457200" y="1170432"/>
            <a:ext cx="7772400" cy="21031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Body Structure &amp;</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Directional</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Terminology</a:t>
            </a:r>
            <a:endParaRPr lang="en-US" sz="4000" dirty="0"/>
          </a:p>
        </p:txBody>
      </p:sp>
      <p:sp>
        <p:nvSpPr>
          <p:cNvPr id="5" name="Text 3"/>
          <p:cNvSpPr/>
          <p:nvPr/>
        </p:nvSpPr>
        <p:spPr>
          <a:xfrm>
            <a:off x="457200" y="3310128"/>
            <a:ext cx="8229600" cy="457200"/>
          </a:xfrm>
          <a:prstGeom prst="rect">
            <a:avLst/>
          </a:prstGeom>
          <a:noFill/>
          <a:ln/>
        </p:spPr>
        <p:txBody>
          <a:bodyPr wrap="square" rtlCol="0" anchor="ctr"/>
          <a:lstStyle/>
          <a:p>
            <a:pPr indent="0" marL="0">
              <a:buNone/>
            </a:pPr>
            <a:r>
              <a:rPr lang="en-US" sz="2000" i="1" dirty="0">
                <a:solidFill>
                  <a:srgbClr val="EDE0FA"/>
                </a:solidFill>
              </a:rPr>
              <a:t>Medical Terminology</a:t>
            </a:r>
            <a:endParaRPr lang="en-US" sz="2000" dirty="0"/>
          </a:p>
        </p:txBody>
      </p:sp>
      <p:sp>
        <p:nvSpPr>
          <p:cNvPr id="6" name="Text 4"/>
          <p:cNvSpPr/>
          <p:nvPr/>
        </p:nvSpPr>
        <p:spPr>
          <a:xfrm>
            <a:off x="457200" y="3749040"/>
            <a:ext cx="8229600" cy="411480"/>
          </a:xfrm>
          <a:prstGeom prst="rect">
            <a:avLst/>
          </a:prstGeom>
          <a:noFill/>
          <a:ln/>
        </p:spPr>
        <p:txBody>
          <a:bodyPr wrap="square" rtlCol="0" anchor="ctr"/>
          <a:lstStyle/>
          <a:p>
            <a:pPr indent="0" marL="0">
              <a:buNone/>
            </a:pPr>
            <a:r>
              <a:rPr lang="en-US" sz="1300" b="1" dirty="0">
                <a:solidFill>
                  <a:srgbClr val="C9860A"/>
                </a:solidFill>
              </a:rPr>
              <a:t>7 Prefixes  </a:t>
            </a:r>
            <a:pPr indent="0" marL="0">
              <a:buNone/>
            </a:pPr>
            <a:r>
              <a:rPr lang="en-US" sz="1300" dirty="0">
                <a:solidFill>
                  <a:srgbClr val="94A3B8"/>
                </a:solidFill>
              </a:rPr>
              <a:t>·  </a:t>
            </a:r>
            <a:pPr indent="0" marL="0">
              <a:buNone/>
            </a:pPr>
            <a:r>
              <a:rPr lang="en-US" sz="1300" b="1" dirty="0">
                <a:solidFill>
                  <a:srgbClr val="C9860A"/>
                </a:solidFill>
              </a:rPr>
              <a:t>2 Suffixes  </a:t>
            </a:r>
            <a:pPr indent="0" marL="0">
              <a:buNone/>
            </a:pPr>
            <a:r>
              <a:rPr lang="en-US" sz="1300" dirty="0">
                <a:solidFill>
                  <a:srgbClr val="94A3B8"/>
                </a:solidFill>
              </a:rPr>
              <a:t>·  </a:t>
            </a:r>
            <a:pPr indent="0" marL="0">
              <a:buNone/>
            </a:pPr>
            <a:r>
              <a:rPr lang="en-US" sz="1300" b="1" dirty="0">
                <a:solidFill>
                  <a:srgbClr val="C9860A"/>
                </a:solidFill>
              </a:rPr>
              <a:t>18 Combining Forms  </a:t>
            </a:r>
            <a:pPr indent="0" marL="0">
              <a:buNone/>
            </a:pPr>
            <a:r>
              <a:rPr lang="en-US" sz="1300" dirty="0">
                <a:solidFill>
                  <a:srgbClr val="94A3B8"/>
                </a:solidFill>
              </a:rPr>
              <a:t>·  </a:t>
            </a:r>
            <a:pPr indent="0" marL="0">
              <a:buNone/>
            </a:pPr>
            <a:r>
              <a:rPr lang="en-US" sz="1300" b="1" dirty="0">
                <a:solidFill>
                  <a:srgbClr val="C9860A"/>
                </a:solidFill>
              </a:rPr>
              <a:t>33 Key Terms</a:t>
            </a:r>
            <a:endParaRPr lang="en-US" sz="1300" dirty="0"/>
          </a:p>
        </p:txBody>
      </p:sp>
      <p:sp>
        <p:nvSpPr>
          <p:cNvPr id="7" name="Shape 5"/>
          <p:cNvSpPr/>
          <p:nvPr/>
        </p:nvSpPr>
        <p:spPr>
          <a:xfrm>
            <a:off x="0" y="4736592"/>
            <a:ext cx="9144000" cy="406908"/>
          </a:xfrm>
          <a:prstGeom prst="rect">
            <a:avLst/>
          </a:prstGeom>
          <a:solidFill>
            <a:srgbClr val="7B3FA0"/>
          </a:solidFill>
          <a:ln w="12700">
            <a:solidFill>
              <a:srgbClr val="7B3FA0"/>
            </a:solidFill>
            <a:prstDash val="solid"/>
          </a:ln>
        </p:spPr>
      </p:sp>
      <p:sp>
        <p:nvSpPr>
          <p:cNvPr id="8" name="Text 6"/>
          <p:cNvSpPr/>
          <p:nvPr/>
        </p:nvSpPr>
        <p:spPr>
          <a:xfrm>
            <a:off x="274320" y="4754880"/>
            <a:ext cx="8595360" cy="365760"/>
          </a:xfrm>
          <a:prstGeom prst="rect">
            <a:avLst/>
          </a:prstGeom>
          <a:noFill/>
          <a:ln/>
        </p:spPr>
        <p:txBody>
          <a:bodyPr wrap="square" rtlCol="0" anchor="ctr"/>
          <a:lstStyle/>
          <a:p>
            <a:pPr indent="0" marL="0">
              <a:buNone/>
            </a:pPr>
            <a:r>
              <a:rPr lang="en-US" sz="1000" i="1" dirty="0">
                <a:solidFill>
                  <a:srgbClr val="EDE0FA"/>
                </a:solidFill>
              </a:rPr>
              <a:t>Body Organization · Anatomic Position · Directional Terms · Body Cavities · Abdominopelvic Regions · Body Planes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2</a:t>
            </a:r>
            <a:endParaRPr lang="en-US" sz="900" dirty="0"/>
          </a:p>
        </p:txBody>
      </p:sp>
      <p:sp>
        <p:nvSpPr>
          <p:cNvPr id="3" name="Text 1"/>
          <p:cNvSpPr/>
          <p:nvPr/>
        </p:nvSpPr>
        <p:spPr>
          <a:xfrm>
            <a:off x="457200" y="201168"/>
            <a:ext cx="8229600" cy="548640"/>
          </a:xfrm>
          <a:prstGeom prst="rect">
            <a:avLst/>
          </a:prstGeom>
          <a:noFill/>
          <a:ln/>
        </p:spPr>
        <p:txBody>
          <a:bodyPr wrap="square" rtlCol="0" anchor="ctr"/>
          <a:lstStyle/>
          <a:p>
            <a:pPr indent="0" marL="0">
              <a:buNone/>
            </a:pPr>
            <a:r>
              <a:rPr lang="en-US" sz="3000" b="1" dirty="0">
                <a:solidFill>
                  <a:srgbClr val="1A0D2E"/>
                </a:solidFill>
                <a:latin typeface="Calibri" pitchFamily="34" charset="0"/>
                <a:ea typeface="Calibri" pitchFamily="34" charset="-122"/>
                <a:cs typeface="Calibri" pitchFamily="34" charset="-120"/>
              </a:rPr>
              <a:t>Chapter 2 Overview</a:t>
            </a:r>
            <a:endParaRPr lang="en-US" sz="3000" dirty="0"/>
          </a:p>
        </p:txBody>
      </p:sp>
      <p:sp>
        <p:nvSpPr>
          <p:cNvPr id="4" name="Shape 2"/>
          <p:cNvSpPr/>
          <p:nvPr/>
        </p:nvSpPr>
        <p:spPr>
          <a:xfrm>
            <a:off x="347472" y="868680"/>
            <a:ext cx="1554480" cy="3200400"/>
          </a:xfrm>
          <a:prstGeom prst="rect">
            <a:avLst/>
          </a:prstGeom>
          <a:solidFill>
            <a:srgbClr val="FDE8B0"/>
          </a:solidFill>
          <a:ln w="12700">
            <a:solidFill>
              <a:srgbClr val="C9860A"/>
            </a:solidFill>
            <a:prstDash val="solid"/>
          </a:ln>
        </p:spPr>
      </p:sp>
      <p:sp>
        <p:nvSpPr>
          <p:cNvPr id="5" name="Shape 3"/>
          <p:cNvSpPr/>
          <p:nvPr/>
        </p:nvSpPr>
        <p:spPr>
          <a:xfrm>
            <a:off x="347472" y="868680"/>
            <a:ext cx="1554480" cy="502920"/>
          </a:xfrm>
          <a:prstGeom prst="rect">
            <a:avLst/>
          </a:prstGeom>
          <a:solidFill>
            <a:srgbClr val="C9860A"/>
          </a:solidFill>
          <a:ln w="12700">
            <a:solidFill>
              <a:srgbClr val="C9860A"/>
            </a:solidFill>
            <a:prstDash val="solid"/>
          </a:ln>
        </p:spPr>
      </p:sp>
      <p:sp>
        <p:nvSpPr>
          <p:cNvPr id="6" name="Text 4"/>
          <p:cNvSpPr/>
          <p:nvPr/>
        </p:nvSpPr>
        <p:spPr>
          <a:xfrm>
            <a:off x="347472" y="877824"/>
            <a:ext cx="1554480" cy="475488"/>
          </a:xfrm>
          <a:prstGeom prst="rect">
            <a:avLst/>
          </a:prstGeom>
          <a:noFill/>
          <a:ln/>
        </p:spPr>
        <p:txBody>
          <a:bodyPr wrap="square" rtlCol="0" anchor="ctr"/>
          <a:lstStyle/>
          <a:p>
            <a:pPr algn="ctr" indent="0" marL="0">
              <a:buNone/>
            </a:pPr>
            <a:r>
              <a:rPr lang="en-US" sz="1100" b="1" dirty="0">
                <a:solidFill>
                  <a:srgbClr val="FFFFFF"/>
                </a:solidFill>
              </a:rPr>
              <a:t>Prefixes</a:t>
            </a:r>
            <a:endParaRPr lang="en-US" sz="1100" dirty="0"/>
          </a:p>
        </p:txBody>
      </p:sp>
      <p:sp>
        <p:nvSpPr>
          <p:cNvPr id="7" name="Text 5"/>
          <p:cNvSpPr/>
          <p:nvPr/>
        </p:nvSpPr>
        <p:spPr>
          <a:xfrm>
            <a:off x="347472" y="1463040"/>
            <a:ext cx="1554480" cy="1005840"/>
          </a:xfrm>
          <a:prstGeom prst="rect">
            <a:avLst/>
          </a:prstGeom>
          <a:noFill/>
          <a:ln/>
        </p:spPr>
        <p:txBody>
          <a:bodyPr wrap="square" rtlCol="0" anchor="ctr"/>
          <a:lstStyle/>
          <a:p>
            <a:pPr algn="ctr" indent="0" marL="0">
              <a:buNone/>
            </a:pPr>
            <a:r>
              <a:rPr lang="en-US" sz="5200" b="1" dirty="0">
                <a:solidFill>
                  <a:srgbClr val="C9860A"/>
                </a:solidFill>
              </a:rPr>
              <a:t>7</a:t>
            </a:r>
            <a:endParaRPr lang="en-US" sz="5200" dirty="0"/>
          </a:p>
        </p:txBody>
      </p:sp>
      <p:sp>
        <p:nvSpPr>
          <p:cNvPr id="8" name="Text 6"/>
          <p:cNvSpPr/>
          <p:nvPr/>
        </p:nvSpPr>
        <p:spPr>
          <a:xfrm>
            <a:off x="438912" y="2542032"/>
            <a:ext cx="1371600" cy="1417320"/>
          </a:xfrm>
          <a:prstGeom prst="rect">
            <a:avLst/>
          </a:prstGeom>
          <a:noFill/>
          <a:ln/>
        </p:spPr>
        <p:txBody>
          <a:bodyPr wrap="square" rtlCol="0" anchor="ctr"/>
          <a:lstStyle/>
          <a:p>
            <a:pPr indent="0" marL="0">
              <a:buNone/>
            </a:pPr>
            <a:r>
              <a:rPr lang="en-US" sz="1000" dirty="0">
                <a:solidFill>
                  <a:srgbClr val="4A5568"/>
                </a:solidFill>
              </a:rPr>
              <a:t>bi-, contra-, epi-, ipsi-, meta-, mid-, uni-</a:t>
            </a:r>
            <a:endParaRPr lang="en-US" sz="1000" dirty="0"/>
          </a:p>
        </p:txBody>
      </p:sp>
      <p:sp>
        <p:nvSpPr>
          <p:cNvPr id="9" name="Shape 7"/>
          <p:cNvSpPr/>
          <p:nvPr/>
        </p:nvSpPr>
        <p:spPr>
          <a:xfrm>
            <a:off x="2048256" y="868680"/>
            <a:ext cx="1554480" cy="3200400"/>
          </a:xfrm>
          <a:prstGeom prst="rect">
            <a:avLst/>
          </a:prstGeom>
          <a:solidFill>
            <a:srgbClr val="D4EDDA"/>
          </a:solidFill>
          <a:ln w="12700">
            <a:solidFill>
              <a:srgbClr val="0F6E56"/>
            </a:solidFill>
            <a:prstDash val="solid"/>
          </a:ln>
        </p:spPr>
      </p:sp>
      <p:sp>
        <p:nvSpPr>
          <p:cNvPr id="10" name="Shape 8"/>
          <p:cNvSpPr/>
          <p:nvPr/>
        </p:nvSpPr>
        <p:spPr>
          <a:xfrm>
            <a:off x="2048256" y="868680"/>
            <a:ext cx="1554480" cy="502920"/>
          </a:xfrm>
          <a:prstGeom prst="rect">
            <a:avLst/>
          </a:prstGeom>
          <a:solidFill>
            <a:srgbClr val="0F6E56"/>
          </a:solidFill>
          <a:ln w="12700">
            <a:solidFill>
              <a:srgbClr val="0F6E56"/>
            </a:solidFill>
            <a:prstDash val="solid"/>
          </a:ln>
        </p:spPr>
      </p:sp>
      <p:sp>
        <p:nvSpPr>
          <p:cNvPr id="11" name="Text 9"/>
          <p:cNvSpPr/>
          <p:nvPr/>
        </p:nvSpPr>
        <p:spPr>
          <a:xfrm>
            <a:off x="2048256" y="877824"/>
            <a:ext cx="1554480" cy="475488"/>
          </a:xfrm>
          <a:prstGeom prst="rect">
            <a:avLst/>
          </a:prstGeom>
          <a:noFill/>
          <a:ln/>
        </p:spPr>
        <p:txBody>
          <a:bodyPr wrap="square" rtlCol="0" anchor="ctr"/>
          <a:lstStyle/>
          <a:p>
            <a:pPr algn="ctr" indent="0" marL="0">
              <a:buNone/>
            </a:pPr>
            <a:r>
              <a:rPr lang="en-US" sz="1100" b="1" dirty="0">
                <a:solidFill>
                  <a:srgbClr val="FFFFFF"/>
                </a:solidFill>
              </a:rPr>
              <a:t>Suffixes</a:t>
            </a:r>
            <a:endParaRPr lang="en-US" sz="1100" dirty="0"/>
          </a:p>
        </p:txBody>
      </p:sp>
      <p:sp>
        <p:nvSpPr>
          <p:cNvPr id="12" name="Text 10"/>
          <p:cNvSpPr/>
          <p:nvPr/>
        </p:nvSpPr>
        <p:spPr>
          <a:xfrm>
            <a:off x="2048256" y="1463040"/>
            <a:ext cx="1554480" cy="1005840"/>
          </a:xfrm>
          <a:prstGeom prst="rect">
            <a:avLst/>
          </a:prstGeom>
          <a:noFill/>
          <a:ln/>
        </p:spPr>
        <p:txBody>
          <a:bodyPr wrap="square" rtlCol="0" anchor="ctr"/>
          <a:lstStyle/>
          <a:p>
            <a:pPr algn="ctr" indent="0" marL="0">
              <a:buNone/>
            </a:pPr>
            <a:r>
              <a:rPr lang="en-US" sz="5200" b="1" dirty="0">
                <a:solidFill>
                  <a:srgbClr val="0F6E56"/>
                </a:solidFill>
              </a:rPr>
              <a:t>2</a:t>
            </a:r>
            <a:endParaRPr lang="en-US" sz="5200" dirty="0"/>
          </a:p>
        </p:txBody>
      </p:sp>
      <p:sp>
        <p:nvSpPr>
          <p:cNvPr id="13" name="Text 11"/>
          <p:cNvSpPr/>
          <p:nvPr/>
        </p:nvSpPr>
        <p:spPr>
          <a:xfrm>
            <a:off x="2139696" y="2542032"/>
            <a:ext cx="1371600" cy="1417320"/>
          </a:xfrm>
          <a:prstGeom prst="rect">
            <a:avLst/>
          </a:prstGeom>
          <a:noFill/>
          <a:ln/>
        </p:spPr>
        <p:txBody>
          <a:bodyPr wrap="square" rtlCol="0" anchor="ctr"/>
          <a:lstStyle/>
          <a:p>
            <a:pPr indent="0" marL="0">
              <a:buNone/>
            </a:pPr>
            <a:r>
              <a:rPr lang="en-US" sz="1000" dirty="0">
                <a:solidFill>
                  <a:srgbClr val="4A5568"/>
                </a:solidFill>
              </a:rPr>
              <a:t>-ad (toward), -um (structure)</a:t>
            </a:r>
            <a:endParaRPr lang="en-US" sz="1000" dirty="0"/>
          </a:p>
        </p:txBody>
      </p:sp>
      <p:sp>
        <p:nvSpPr>
          <p:cNvPr id="14" name="Shape 12"/>
          <p:cNvSpPr/>
          <p:nvPr/>
        </p:nvSpPr>
        <p:spPr>
          <a:xfrm>
            <a:off x="3749040" y="868680"/>
            <a:ext cx="1554480" cy="3200400"/>
          </a:xfrm>
          <a:prstGeom prst="rect">
            <a:avLst/>
          </a:prstGeom>
          <a:solidFill>
            <a:srgbClr val="EDE0FA"/>
          </a:solidFill>
          <a:ln w="12700">
            <a:solidFill>
              <a:srgbClr val="7B3FA0"/>
            </a:solidFill>
            <a:prstDash val="solid"/>
          </a:ln>
        </p:spPr>
      </p:sp>
      <p:sp>
        <p:nvSpPr>
          <p:cNvPr id="15" name="Shape 13"/>
          <p:cNvSpPr/>
          <p:nvPr/>
        </p:nvSpPr>
        <p:spPr>
          <a:xfrm>
            <a:off x="3749040" y="868680"/>
            <a:ext cx="1554480" cy="502920"/>
          </a:xfrm>
          <a:prstGeom prst="rect">
            <a:avLst/>
          </a:prstGeom>
          <a:solidFill>
            <a:srgbClr val="7B3FA0"/>
          </a:solidFill>
          <a:ln w="12700">
            <a:solidFill>
              <a:srgbClr val="7B3FA0"/>
            </a:solidFill>
            <a:prstDash val="solid"/>
          </a:ln>
        </p:spPr>
      </p:sp>
      <p:sp>
        <p:nvSpPr>
          <p:cNvPr id="16" name="Text 14"/>
          <p:cNvSpPr/>
          <p:nvPr/>
        </p:nvSpPr>
        <p:spPr>
          <a:xfrm>
            <a:off x="3749040" y="877824"/>
            <a:ext cx="1554480" cy="475488"/>
          </a:xfrm>
          <a:prstGeom prst="rect">
            <a:avLst/>
          </a:prstGeom>
          <a:noFill/>
          <a:ln/>
        </p:spPr>
        <p:txBody>
          <a:bodyPr wrap="square" rtlCol="0" anchor="ctr"/>
          <a:lstStyle/>
          <a:p>
            <a:pPr algn="ctr" indent="0" marL="0">
              <a:buNone/>
            </a:pPr>
            <a:r>
              <a:rPr lang="en-US" sz="1100" b="1" dirty="0">
                <a:solidFill>
                  <a:srgbClr val="FFFFFF"/>
                </a:solidFill>
              </a:rPr>
              <a:t>Combining</a:t>
            </a:r>
            <a:endParaRPr lang="en-US" sz="1100" dirty="0"/>
          </a:p>
        </p:txBody>
      </p:sp>
      <p:sp>
        <p:nvSpPr>
          <p:cNvPr id="17" name="Text 15"/>
          <p:cNvSpPr/>
          <p:nvPr/>
        </p:nvSpPr>
        <p:spPr>
          <a:xfrm>
            <a:off x="3749040" y="1463040"/>
            <a:ext cx="1554480" cy="1005840"/>
          </a:xfrm>
          <a:prstGeom prst="rect">
            <a:avLst/>
          </a:prstGeom>
          <a:noFill/>
          <a:ln/>
        </p:spPr>
        <p:txBody>
          <a:bodyPr wrap="square" rtlCol="0" anchor="ctr"/>
          <a:lstStyle/>
          <a:p>
            <a:pPr algn="ctr" indent="0" marL="0">
              <a:buNone/>
            </a:pPr>
            <a:r>
              <a:rPr lang="en-US" sz="5200" b="1" dirty="0">
                <a:solidFill>
                  <a:srgbClr val="7B3FA0"/>
                </a:solidFill>
              </a:rPr>
              <a:t>18</a:t>
            </a:r>
            <a:endParaRPr lang="en-US" sz="5200" dirty="0"/>
          </a:p>
        </p:txBody>
      </p:sp>
      <p:sp>
        <p:nvSpPr>
          <p:cNvPr id="18" name="Text 16"/>
          <p:cNvSpPr/>
          <p:nvPr/>
        </p:nvSpPr>
        <p:spPr>
          <a:xfrm>
            <a:off x="3840480" y="2542032"/>
            <a:ext cx="1371600" cy="1417320"/>
          </a:xfrm>
          <a:prstGeom prst="rect">
            <a:avLst/>
          </a:prstGeom>
          <a:noFill/>
          <a:ln/>
        </p:spPr>
        <p:txBody>
          <a:bodyPr wrap="square" rtlCol="0" anchor="ctr"/>
          <a:lstStyle/>
          <a:p>
            <a:pPr indent="0" marL="0">
              <a:buNone/>
            </a:pPr>
            <a:r>
              <a:rPr lang="en-US" sz="1000" dirty="0">
                <a:solidFill>
                  <a:srgbClr val="4A5568"/>
                </a:solidFill>
              </a:rPr>
              <a:t>anter/o, poster/o, super/o, infer/o, medi/o, later/o…</a:t>
            </a:r>
            <a:endParaRPr lang="en-US" sz="1000" dirty="0"/>
          </a:p>
        </p:txBody>
      </p:sp>
      <p:sp>
        <p:nvSpPr>
          <p:cNvPr id="19" name="Shape 17"/>
          <p:cNvSpPr/>
          <p:nvPr/>
        </p:nvSpPr>
        <p:spPr>
          <a:xfrm>
            <a:off x="5449824" y="868680"/>
            <a:ext cx="1554480" cy="3200400"/>
          </a:xfrm>
          <a:prstGeom prst="rect">
            <a:avLst/>
          </a:prstGeom>
          <a:solidFill>
            <a:srgbClr val="FDECEA"/>
          </a:solidFill>
          <a:ln w="12700">
            <a:solidFill>
              <a:srgbClr val="A32D2D"/>
            </a:solidFill>
            <a:prstDash val="solid"/>
          </a:ln>
        </p:spPr>
      </p:sp>
      <p:sp>
        <p:nvSpPr>
          <p:cNvPr id="20" name="Shape 18"/>
          <p:cNvSpPr/>
          <p:nvPr/>
        </p:nvSpPr>
        <p:spPr>
          <a:xfrm>
            <a:off x="5449824" y="868680"/>
            <a:ext cx="1554480" cy="502920"/>
          </a:xfrm>
          <a:prstGeom prst="rect">
            <a:avLst/>
          </a:prstGeom>
          <a:solidFill>
            <a:srgbClr val="A32D2D"/>
          </a:solidFill>
          <a:ln w="12700">
            <a:solidFill>
              <a:srgbClr val="A32D2D"/>
            </a:solidFill>
            <a:prstDash val="solid"/>
          </a:ln>
        </p:spPr>
      </p:sp>
      <p:sp>
        <p:nvSpPr>
          <p:cNvPr id="21" name="Text 19"/>
          <p:cNvSpPr/>
          <p:nvPr/>
        </p:nvSpPr>
        <p:spPr>
          <a:xfrm>
            <a:off x="5449824" y="877824"/>
            <a:ext cx="1554480" cy="475488"/>
          </a:xfrm>
          <a:prstGeom prst="rect">
            <a:avLst/>
          </a:prstGeom>
          <a:noFill/>
          <a:ln/>
        </p:spPr>
        <p:txBody>
          <a:bodyPr wrap="square" rtlCol="0" anchor="ctr"/>
          <a:lstStyle/>
          <a:p>
            <a:pPr algn="ctr" indent="0" marL="0">
              <a:buNone/>
            </a:pPr>
            <a:r>
              <a:rPr lang="en-US" sz="1100" b="1" dirty="0">
                <a:solidFill>
                  <a:srgbClr val="FFFFFF"/>
                </a:solidFill>
              </a:rPr>
              <a:t>Key Terms</a:t>
            </a:r>
            <a:endParaRPr lang="en-US" sz="1100" dirty="0"/>
          </a:p>
        </p:txBody>
      </p:sp>
      <p:sp>
        <p:nvSpPr>
          <p:cNvPr id="22" name="Text 20"/>
          <p:cNvSpPr/>
          <p:nvPr/>
        </p:nvSpPr>
        <p:spPr>
          <a:xfrm>
            <a:off x="5449824" y="1463040"/>
            <a:ext cx="1554480" cy="1005840"/>
          </a:xfrm>
          <a:prstGeom prst="rect">
            <a:avLst/>
          </a:prstGeom>
          <a:noFill/>
          <a:ln/>
        </p:spPr>
        <p:txBody>
          <a:bodyPr wrap="square" rtlCol="0" anchor="ctr"/>
          <a:lstStyle/>
          <a:p>
            <a:pPr algn="ctr" indent="0" marL="0">
              <a:buNone/>
            </a:pPr>
            <a:r>
              <a:rPr lang="en-US" sz="5200" b="1" dirty="0">
                <a:solidFill>
                  <a:srgbClr val="A32D2D"/>
                </a:solidFill>
              </a:rPr>
              <a:t>33</a:t>
            </a:r>
            <a:endParaRPr lang="en-US" sz="5200" dirty="0"/>
          </a:p>
        </p:txBody>
      </p:sp>
      <p:sp>
        <p:nvSpPr>
          <p:cNvPr id="23" name="Text 21"/>
          <p:cNvSpPr/>
          <p:nvPr/>
        </p:nvSpPr>
        <p:spPr>
          <a:xfrm>
            <a:off x="5541264" y="2542032"/>
            <a:ext cx="1371600" cy="1417320"/>
          </a:xfrm>
          <a:prstGeom prst="rect">
            <a:avLst/>
          </a:prstGeom>
          <a:noFill/>
          <a:ln/>
        </p:spPr>
        <p:txBody>
          <a:bodyPr wrap="square" rtlCol="0" anchor="ctr"/>
          <a:lstStyle/>
          <a:p>
            <a:pPr indent="0" marL="0">
              <a:buNone/>
            </a:pPr>
            <a:r>
              <a:rPr lang="en-US" sz="1000" dirty="0">
                <a:solidFill>
                  <a:srgbClr val="4A5568"/>
                </a:solidFill>
              </a:rPr>
              <a:t>anterior, posterior, medial, lateral, proximal, distal…</a:t>
            </a:r>
            <a:endParaRPr lang="en-US" sz="1000" dirty="0"/>
          </a:p>
        </p:txBody>
      </p:sp>
      <p:sp>
        <p:nvSpPr>
          <p:cNvPr id="24" name="Shape 22"/>
          <p:cNvSpPr/>
          <p:nvPr/>
        </p:nvSpPr>
        <p:spPr>
          <a:xfrm>
            <a:off x="7150608" y="868680"/>
            <a:ext cx="1554480" cy="3200400"/>
          </a:xfrm>
          <a:prstGeom prst="rect">
            <a:avLst/>
          </a:prstGeom>
          <a:solidFill>
            <a:srgbClr val="D6EEFA"/>
          </a:solidFill>
          <a:ln w="12700">
            <a:solidFill>
              <a:srgbClr val="185FA5"/>
            </a:solidFill>
            <a:prstDash val="solid"/>
          </a:ln>
        </p:spPr>
      </p:sp>
      <p:sp>
        <p:nvSpPr>
          <p:cNvPr id="25" name="Shape 23"/>
          <p:cNvSpPr/>
          <p:nvPr/>
        </p:nvSpPr>
        <p:spPr>
          <a:xfrm>
            <a:off x="7150608" y="868680"/>
            <a:ext cx="1554480" cy="502920"/>
          </a:xfrm>
          <a:prstGeom prst="rect">
            <a:avLst/>
          </a:prstGeom>
          <a:solidFill>
            <a:srgbClr val="185FA5"/>
          </a:solidFill>
          <a:ln w="12700">
            <a:solidFill>
              <a:srgbClr val="185FA5"/>
            </a:solidFill>
            <a:prstDash val="solid"/>
          </a:ln>
        </p:spPr>
      </p:sp>
      <p:sp>
        <p:nvSpPr>
          <p:cNvPr id="26" name="Text 24"/>
          <p:cNvSpPr/>
          <p:nvPr/>
        </p:nvSpPr>
        <p:spPr>
          <a:xfrm>
            <a:off x="7150608" y="877824"/>
            <a:ext cx="1554480" cy="475488"/>
          </a:xfrm>
          <a:prstGeom prst="rect">
            <a:avLst/>
          </a:prstGeom>
          <a:noFill/>
          <a:ln/>
        </p:spPr>
        <p:txBody>
          <a:bodyPr wrap="square" rtlCol="0" anchor="ctr"/>
          <a:lstStyle/>
          <a:p>
            <a:pPr algn="ctr" indent="0" marL="0">
              <a:buNone/>
            </a:pPr>
            <a:r>
              <a:rPr lang="en-US" sz="1100" b="1" dirty="0">
                <a:solidFill>
                  <a:srgbClr val="FFFFFF"/>
                </a:solidFill>
              </a:rPr>
              <a:t>Structures</a:t>
            </a:r>
            <a:endParaRPr lang="en-US" sz="1100" dirty="0"/>
          </a:p>
        </p:txBody>
      </p:sp>
      <p:sp>
        <p:nvSpPr>
          <p:cNvPr id="27" name="Text 25"/>
          <p:cNvSpPr/>
          <p:nvPr/>
        </p:nvSpPr>
        <p:spPr>
          <a:xfrm>
            <a:off x="7150608" y="1463040"/>
            <a:ext cx="1554480" cy="1005840"/>
          </a:xfrm>
          <a:prstGeom prst="rect">
            <a:avLst/>
          </a:prstGeom>
          <a:noFill/>
          <a:ln/>
        </p:spPr>
        <p:txBody>
          <a:bodyPr wrap="square" rtlCol="0" anchor="ctr"/>
          <a:lstStyle/>
          <a:p>
            <a:pPr algn="ctr" indent="0" marL="0">
              <a:buNone/>
            </a:pPr>
            <a:r>
              <a:rPr lang="en-US" sz="5200" b="1" dirty="0">
                <a:solidFill>
                  <a:srgbClr val="185FA5"/>
                </a:solidFill>
              </a:rPr>
              <a:t>9+4+5</a:t>
            </a:r>
            <a:endParaRPr lang="en-US" sz="5200" dirty="0"/>
          </a:p>
        </p:txBody>
      </p:sp>
      <p:sp>
        <p:nvSpPr>
          <p:cNvPr id="28" name="Text 26"/>
          <p:cNvSpPr/>
          <p:nvPr/>
        </p:nvSpPr>
        <p:spPr>
          <a:xfrm>
            <a:off x="7242048" y="2542032"/>
            <a:ext cx="1371600" cy="1417320"/>
          </a:xfrm>
          <a:prstGeom prst="rect">
            <a:avLst/>
          </a:prstGeom>
          <a:noFill/>
          <a:ln/>
        </p:spPr>
        <p:txBody>
          <a:bodyPr wrap="square" rtlCol="0" anchor="ctr"/>
          <a:lstStyle/>
          <a:p>
            <a:pPr indent="0" marL="0">
              <a:buNone/>
            </a:pPr>
            <a:r>
              <a:rPr lang="en-US" sz="1000" dirty="0">
                <a:solidFill>
                  <a:srgbClr val="4A5568"/>
                </a:solidFill>
              </a:rPr>
              <a:t>9 abdominopelvic regions · 4 quadrants · 5 body planes</a:t>
            </a:r>
            <a:endParaRPr lang="en-US" sz="1000" dirty="0"/>
          </a:p>
        </p:txBody>
      </p:sp>
      <p:sp>
        <p:nvSpPr>
          <p:cNvPr id="29" name="Shape 27"/>
          <p:cNvSpPr/>
          <p:nvPr/>
        </p:nvSpPr>
        <p:spPr>
          <a:xfrm>
            <a:off x="0" y="4736592"/>
            <a:ext cx="9144000" cy="406908"/>
          </a:xfrm>
          <a:prstGeom prst="rect">
            <a:avLst/>
          </a:prstGeom>
          <a:solidFill>
            <a:srgbClr val="12203A"/>
          </a:solidFill>
          <a:ln w="12700">
            <a:solidFill>
              <a:srgbClr val="12203A"/>
            </a:solidFill>
            <a:prstDash val="solid"/>
          </a:ln>
        </p:spPr>
      </p:sp>
      <p:sp>
        <p:nvSpPr>
          <p:cNvPr id="30" name="Text 28"/>
          <p:cNvSpPr/>
          <p:nvPr/>
        </p:nvSpPr>
        <p:spPr>
          <a:xfrm>
            <a:off x="274320" y="4754880"/>
            <a:ext cx="8595360" cy="365760"/>
          </a:xfrm>
          <a:prstGeom prst="rect">
            <a:avLst/>
          </a:prstGeom>
          <a:noFill/>
          <a:ln/>
        </p:spPr>
        <p:txBody>
          <a:bodyPr wrap="square" rtlCol="0" anchor="ctr"/>
          <a:lstStyle/>
          <a:p>
            <a:pPr indent="0" marL="0">
              <a:buNone/>
            </a:pPr>
            <a:r>
              <a:rPr lang="en-US" sz="1000" i="1" dirty="0">
                <a:solidFill>
                  <a:srgbClr val="EDE0FA"/>
                </a:solidFill>
              </a:rPr>
              <a:t>Key insight: all directional terms require ANATOMIC POSITION as the universal reference frame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3</a:t>
            </a:r>
            <a:endParaRPr lang="en-US" sz="900" dirty="0"/>
          </a:p>
        </p:txBody>
      </p:sp>
      <p:sp>
        <p:nvSpPr>
          <p:cNvPr id="3" name="Text 1"/>
          <p:cNvSpPr/>
          <p:nvPr/>
        </p:nvSpPr>
        <p:spPr>
          <a:xfrm>
            <a:off x="365760" y="164592"/>
            <a:ext cx="8412480" cy="502920"/>
          </a:xfrm>
          <a:prstGeom prst="rect">
            <a:avLst/>
          </a:prstGeom>
          <a:noFill/>
          <a:ln/>
        </p:spPr>
        <p:txBody>
          <a:bodyPr wrap="square" rtlCol="0" anchor="ctr"/>
          <a:lstStyle/>
          <a:p>
            <a:pPr indent="0" marL="0">
              <a:buNone/>
            </a:pPr>
            <a:r>
              <a:rPr lang="en-US" sz="2600" b="1" dirty="0">
                <a:solidFill>
                  <a:srgbClr val="1A0D2E"/>
                </a:solidFill>
              </a:rPr>
              <a:t>Organization of the Human Body</a:t>
            </a:r>
            <a:endParaRPr lang="en-US" sz="2600" dirty="0"/>
          </a:p>
        </p:txBody>
      </p:sp>
      <p:sp>
        <p:nvSpPr>
          <p:cNvPr id="4" name="Shape 2"/>
          <p:cNvSpPr/>
          <p:nvPr/>
        </p:nvSpPr>
        <p:spPr>
          <a:xfrm>
            <a:off x="347472" y="795528"/>
            <a:ext cx="8449056" cy="1005840"/>
          </a:xfrm>
          <a:prstGeom prst="rect">
            <a:avLst/>
          </a:prstGeom>
          <a:solidFill>
            <a:srgbClr val="FDECEA"/>
          </a:solidFill>
          <a:ln w="12700">
            <a:solidFill>
              <a:srgbClr val="A32D2D"/>
            </a:solidFill>
            <a:prstDash val="solid"/>
          </a:ln>
        </p:spPr>
      </p:sp>
      <p:sp>
        <p:nvSpPr>
          <p:cNvPr id="5" name="Shape 3"/>
          <p:cNvSpPr/>
          <p:nvPr/>
        </p:nvSpPr>
        <p:spPr>
          <a:xfrm>
            <a:off x="347472" y="795528"/>
            <a:ext cx="73152" cy="1005840"/>
          </a:xfrm>
          <a:prstGeom prst="rect">
            <a:avLst/>
          </a:prstGeom>
          <a:solidFill>
            <a:srgbClr val="A32D2D"/>
          </a:solidFill>
          <a:ln w="12700">
            <a:solidFill>
              <a:srgbClr val="A32D2D"/>
            </a:solidFill>
            <a:prstDash val="solid"/>
          </a:ln>
        </p:spPr>
      </p:sp>
      <p:sp>
        <p:nvSpPr>
          <p:cNvPr id="6" name="Shape 4"/>
          <p:cNvSpPr/>
          <p:nvPr/>
        </p:nvSpPr>
        <p:spPr>
          <a:xfrm>
            <a:off x="475488" y="877824"/>
            <a:ext cx="347472" cy="347472"/>
          </a:xfrm>
          <a:prstGeom prst="rect">
            <a:avLst/>
          </a:prstGeom>
          <a:solidFill>
            <a:srgbClr val="A32D2D"/>
          </a:solidFill>
          <a:ln w="12700">
            <a:solidFill>
              <a:srgbClr val="A32D2D"/>
            </a:solidFill>
            <a:prstDash val="solid"/>
          </a:ln>
        </p:spPr>
      </p:sp>
      <p:sp>
        <p:nvSpPr>
          <p:cNvPr id="7" name="Text 5"/>
          <p:cNvSpPr/>
          <p:nvPr/>
        </p:nvSpPr>
        <p:spPr>
          <a:xfrm>
            <a:off x="475488" y="877824"/>
            <a:ext cx="347472" cy="347472"/>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8" name="Text 6"/>
          <p:cNvSpPr/>
          <p:nvPr/>
        </p:nvSpPr>
        <p:spPr>
          <a:xfrm>
            <a:off x="932688" y="877824"/>
            <a:ext cx="1280160" cy="256032"/>
          </a:xfrm>
          <a:prstGeom prst="rect">
            <a:avLst/>
          </a:prstGeom>
          <a:noFill/>
          <a:ln/>
        </p:spPr>
        <p:txBody>
          <a:bodyPr wrap="square" rtlCol="0" anchor="ctr"/>
          <a:lstStyle/>
          <a:p>
            <a:pPr indent="0" marL="0">
              <a:buNone/>
            </a:pPr>
            <a:r>
              <a:rPr lang="en-US" sz="1400" b="1" dirty="0">
                <a:solidFill>
                  <a:srgbClr val="A32D2D"/>
                </a:solidFill>
              </a:rPr>
              <a:t>Cells</a:t>
            </a:r>
            <a:endParaRPr lang="en-US" sz="1400" dirty="0"/>
          </a:p>
        </p:txBody>
      </p:sp>
      <p:sp>
        <p:nvSpPr>
          <p:cNvPr id="9" name="Text 7"/>
          <p:cNvSpPr/>
          <p:nvPr/>
        </p:nvSpPr>
        <p:spPr>
          <a:xfrm>
            <a:off x="932688" y="1179576"/>
            <a:ext cx="1280160" cy="201168"/>
          </a:xfrm>
          <a:prstGeom prst="rect">
            <a:avLst/>
          </a:prstGeom>
          <a:noFill/>
          <a:ln/>
        </p:spPr>
        <p:txBody>
          <a:bodyPr wrap="square" rtlCol="0" anchor="ctr"/>
          <a:lstStyle/>
          <a:p>
            <a:pPr indent="0" marL="0">
              <a:buNone/>
            </a:pPr>
            <a:r>
              <a:rPr lang="en-US" sz="950" i="1" dirty="0">
                <a:solidFill>
                  <a:srgbClr val="4A5568"/>
                </a:solidFill>
              </a:rPr>
              <a:t>cyt/o, cellul/o</a:t>
            </a:r>
            <a:endParaRPr lang="en-US" sz="950" dirty="0"/>
          </a:p>
        </p:txBody>
      </p:sp>
      <p:sp>
        <p:nvSpPr>
          <p:cNvPr id="10" name="Text 8"/>
          <p:cNvSpPr/>
          <p:nvPr/>
        </p:nvSpPr>
        <p:spPr>
          <a:xfrm>
            <a:off x="2331720" y="886968"/>
            <a:ext cx="6382512" cy="822960"/>
          </a:xfrm>
          <a:prstGeom prst="rect">
            <a:avLst/>
          </a:prstGeom>
          <a:noFill/>
          <a:ln/>
        </p:spPr>
        <p:txBody>
          <a:bodyPr wrap="square" rtlCol="0" anchor="ctr"/>
          <a:lstStyle/>
          <a:p>
            <a:pPr indent="0" marL="0">
              <a:buNone/>
            </a:pPr>
            <a:r>
              <a:rPr lang="en-US" sz="1050" dirty="0">
                <a:solidFill>
                  <a:srgbClr val="12203A"/>
                </a:solidFill>
              </a:rPr>
              <a:t>Smallest functional unit of life. Components: cell membrane (boundary), cytoplasm (fluid interior), lysosome (waste processing), ribosome (protein synthesis), mitochondrion (energy production — ATP), nucleus (DNA control center). Metabolism occurs at the cellular level.</a:t>
            </a:r>
            <a:endParaRPr lang="en-US" sz="1050" dirty="0"/>
          </a:p>
        </p:txBody>
      </p:sp>
      <p:sp>
        <p:nvSpPr>
          <p:cNvPr id="11" name="Shape 9"/>
          <p:cNvSpPr/>
          <p:nvPr/>
        </p:nvSpPr>
        <p:spPr>
          <a:xfrm>
            <a:off x="347472" y="1874520"/>
            <a:ext cx="8449056" cy="1005840"/>
          </a:xfrm>
          <a:prstGeom prst="rect">
            <a:avLst/>
          </a:prstGeom>
          <a:solidFill>
            <a:srgbClr val="FFF8E1"/>
          </a:solidFill>
          <a:ln w="12700">
            <a:solidFill>
              <a:srgbClr val="854F0B"/>
            </a:solidFill>
            <a:prstDash val="solid"/>
          </a:ln>
        </p:spPr>
      </p:sp>
      <p:sp>
        <p:nvSpPr>
          <p:cNvPr id="12" name="Shape 10"/>
          <p:cNvSpPr/>
          <p:nvPr/>
        </p:nvSpPr>
        <p:spPr>
          <a:xfrm>
            <a:off x="347472" y="1874520"/>
            <a:ext cx="73152" cy="1005840"/>
          </a:xfrm>
          <a:prstGeom prst="rect">
            <a:avLst/>
          </a:prstGeom>
          <a:solidFill>
            <a:srgbClr val="854F0B"/>
          </a:solidFill>
          <a:ln w="12700">
            <a:solidFill>
              <a:srgbClr val="854F0B"/>
            </a:solidFill>
            <a:prstDash val="solid"/>
          </a:ln>
        </p:spPr>
      </p:sp>
      <p:sp>
        <p:nvSpPr>
          <p:cNvPr id="13" name="Shape 11"/>
          <p:cNvSpPr/>
          <p:nvPr/>
        </p:nvSpPr>
        <p:spPr>
          <a:xfrm>
            <a:off x="475488" y="1956816"/>
            <a:ext cx="347472" cy="347472"/>
          </a:xfrm>
          <a:prstGeom prst="rect">
            <a:avLst/>
          </a:prstGeom>
          <a:solidFill>
            <a:srgbClr val="854F0B"/>
          </a:solidFill>
          <a:ln w="12700">
            <a:solidFill>
              <a:srgbClr val="854F0B"/>
            </a:solidFill>
            <a:prstDash val="solid"/>
          </a:ln>
        </p:spPr>
      </p:sp>
      <p:sp>
        <p:nvSpPr>
          <p:cNvPr id="14" name="Text 12"/>
          <p:cNvSpPr/>
          <p:nvPr/>
        </p:nvSpPr>
        <p:spPr>
          <a:xfrm>
            <a:off x="475488" y="1956816"/>
            <a:ext cx="347472" cy="347472"/>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5" name="Text 13"/>
          <p:cNvSpPr/>
          <p:nvPr/>
        </p:nvSpPr>
        <p:spPr>
          <a:xfrm>
            <a:off x="932688" y="1956816"/>
            <a:ext cx="1280160" cy="256032"/>
          </a:xfrm>
          <a:prstGeom prst="rect">
            <a:avLst/>
          </a:prstGeom>
          <a:noFill/>
          <a:ln/>
        </p:spPr>
        <p:txBody>
          <a:bodyPr wrap="square" rtlCol="0" anchor="ctr"/>
          <a:lstStyle/>
          <a:p>
            <a:pPr indent="0" marL="0">
              <a:buNone/>
            </a:pPr>
            <a:r>
              <a:rPr lang="en-US" sz="1400" b="1" dirty="0">
                <a:solidFill>
                  <a:srgbClr val="854F0B"/>
                </a:solidFill>
              </a:rPr>
              <a:t>Tissues</a:t>
            </a:r>
            <a:endParaRPr lang="en-US" sz="1400" dirty="0"/>
          </a:p>
        </p:txBody>
      </p:sp>
      <p:sp>
        <p:nvSpPr>
          <p:cNvPr id="16" name="Text 14"/>
          <p:cNvSpPr/>
          <p:nvPr/>
        </p:nvSpPr>
        <p:spPr>
          <a:xfrm>
            <a:off x="932688" y="2258568"/>
            <a:ext cx="1280160" cy="201168"/>
          </a:xfrm>
          <a:prstGeom prst="rect">
            <a:avLst/>
          </a:prstGeom>
          <a:noFill/>
          <a:ln/>
        </p:spPr>
        <p:txBody>
          <a:bodyPr wrap="square" rtlCol="0" anchor="ctr"/>
          <a:lstStyle/>
          <a:p>
            <a:pPr indent="0" marL="0">
              <a:buNone/>
            </a:pPr>
            <a:r>
              <a:rPr lang="en-US" sz="950" i="1" dirty="0">
                <a:solidFill>
                  <a:srgbClr val="4A5568"/>
                </a:solidFill>
              </a:rPr>
              <a:t>hist/o</a:t>
            </a:r>
            <a:endParaRPr lang="en-US" sz="950" dirty="0"/>
          </a:p>
        </p:txBody>
      </p:sp>
      <p:sp>
        <p:nvSpPr>
          <p:cNvPr id="17" name="Text 15"/>
          <p:cNvSpPr/>
          <p:nvPr/>
        </p:nvSpPr>
        <p:spPr>
          <a:xfrm>
            <a:off x="2331720" y="1965960"/>
            <a:ext cx="6382512" cy="822960"/>
          </a:xfrm>
          <a:prstGeom prst="rect">
            <a:avLst/>
          </a:prstGeom>
          <a:noFill/>
          <a:ln/>
        </p:spPr>
        <p:txBody>
          <a:bodyPr wrap="square" rtlCol="0" anchor="ctr"/>
          <a:lstStyle/>
          <a:p>
            <a:pPr indent="0" marL="0">
              <a:buNone/>
            </a:pPr>
            <a:r>
              <a:rPr lang="en-US" sz="1050" dirty="0">
                <a:solidFill>
                  <a:srgbClr val="12203A"/>
                </a:solidFill>
              </a:rPr>
              <a:t>Groups of similar cells performing a specific function. 4 types: EPITHELIAL (lining/covering surfaces), CONNECTIVE (support, binding, fat), MUSCULAR (movement — cardiac, smooth, skeletal), NERVOUS (electrical signaling). Parenchymal = does the organ's functional work. Stromal = provides supportive framework.</a:t>
            </a:r>
            <a:endParaRPr lang="en-US" sz="1050" dirty="0"/>
          </a:p>
        </p:txBody>
      </p:sp>
      <p:sp>
        <p:nvSpPr>
          <p:cNvPr id="18" name="Shape 16"/>
          <p:cNvSpPr/>
          <p:nvPr/>
        </p:nvSpPr>
        <p:spPr>
          <a:xfrm>
            <a:off x="347472" y="2953512"/>
            <a:ext cx="8449056" cy="1005840"/>
          </a:xfrm>
          <a:prstGeom prst="rect">
            <a:avLst/>
          </a:prstGeom>
          <a:solidFill>
            <a:srgbClr val="D4EDDA"/>
          </a:solidFill>
          <a:ln w="12700">
            <a:solidFill>
              <a:srgbClr val="0F6E56"/>
            </a:solidFill>
            <a:prstDash val="solid"/>
          </a:ln>
        </p:spPr>
      </p:sp>
      <p:sp>
        <p:nvSpPr>
          <p:cNvPr id="19" name="Shape 17"/>
          <p:cNvSpPr/>
          <p:nvPr/>
        </p:nvSpPr>
        <p:spPr>
          <a:xfrm>
            <a:off x="347472" y="2953512"/>
            <a:ext cx="73152" cy="1005840"/>
          </a:xfrm>
          <a:prstGeom prst="rect">
            <a:avLst/>
          </a:prstGeom>
          <a:solidFill>
            <a:srgbClr val="0F6E56"/>
          </a:solidFill>
          <a:ln w="12700">
            <a:solidFill>
              <a:srgbClr val="0F6E56"/>
            </a:solidFill>
            <a:prstDash val="solid"/>
          </a:ln>
        </p:spPr>
      </p:sp>
      <p:sp>
        <p:nvSpPr>
          <p:cNvPr id="20" name="Shape 18"/>
          <p:cNvSpPr/>
          <p:nvPr/>
        </p:nvSpPr>
        <p:spPr>
          <a:xfrm>
            <a:off x="475488" y="3035808"/>
            <a:ext cx="347472" cy="347472"/>
          </a:xfrm>
          <a:prstGeom prst="rect">
            <a:avLst/>
          </a:prstGeom>
          <a:solidFill>
            <a:srgbClr val="0F6E56"/>
          </a:solidFill>
          <a:ln w="12700">
            <a:solidFill>
              <a:srgbClr val="0F6E56"/>
            </a:solidFill>
            <a:prstDash val="solid"/>
          </a:ln>
        </p:spPr>
      </p:sp>
      <p:sp>
        <p:nvSpPr>
          <p:cNvPr id="21" name="Text 19"/>
          <p:cNvSpPr/>
          <p:nvPr/>
        </p:nvSpPr>
        <p:spPr>
          <a:xfrm>
            <a:off x="475488" y="3035808"/>
            <a:ext cx="347472" cy="347472"/>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22" name="Text 20"/>
          <p:cNvSpPr/>
          <p:nvPr/>
        </p:nvSpPr>
        <p:spPr>
          <a:xfrm>
            <a:off x="932688" y="3035808"/>
            <a:ext cx="1280160" cy="256032"/>
          </a:xfrm>
          <a:prstGeom prst="rect">
            <a:avLst/>
          </a:prstGeom>
          <a:noFill/>
          <a:ln/>
        </p:spPr>
        <p:txBody>
          <a:bodyPr wrap="square" rtlCol="0" anchor="ctr"/>
          <a:lstStyle/>
          <a:p>
            <a:pPr indent="0" marL="0">
              <a:buNone/>
            </a:pPr>
            <a:r>
              <a:rPr lang="en-US" sz="1400" b="1" dirty="0">
                <a:solidFill>
                  <a:srgbClr val="0F6E56"/>
                </a:solidFill>
              </a:rPr>
              <a:t>Organs</a:t>
            </a:r>
            <a:endParaRPr lang="en-US" sz="1400" dirty="0"/>
          </a:p>
        </p:txBody>
      </p:sp>
      <p:sp>
        <p:nvSpPr>
          <p:cNvPr id="23" name="Text 21"/>
          <p:cNvSpPr/>
          <p:nvPr/>
        </p:nvSpPr>
        <p:spPr>
          <a:xfrm>
            <a:off x="932688" y="3337560"/>
            <a:ext cx="1280160" cy="201168"/>
          </a:xfrm>
          <a:prstGeom prst="rect">
            <a:avLst/>
          </a:prstGeom>
          <a:noFill/>
          <a:ln/>
        </p:spPr>
        <p:txBody>
          <a:bodyPr wrap="square" rtlCol="0" anchor="ctr"/>
          <a:lstStyle/>
          <a:p>
            <a:pPr indent="0" marL="0">
              <a:buNone/>
            </a:pPr>
            <a:r>
              <a:rPr lang="en-US" sz="950" i="1" dirty="0">
                <a:solidFill>
                  <a:srgbClr val="4A5568"/>
                </a:solidFill>
              </a:rPr>
              <a:t>viscer/o, organ/o</a:t>
            </a:r>
            <a:endParaRPr lang="en-US" sz="950" dirty="0"/>
          </a:p>
        </p:txBody>
      </p:sp>
      <p:sp>
        <p:nvSpPr>
          <p:cNvPr id="24" name="Text 22"/>
          <p:cNvSpPr/>
          <p:nvPr/>
        </p:nvSpPr>
        <p:spPr>
          <a:xfrm>
            <a:off x="2331720" y="3044952"/>
            <a:ext cx="6382512" cy="822960"/>
          </a:xfrm>
          <a:prstGeom prst="rect">
            <a:avLst/>
          </a:prstGeom>
          <a:noFill/>
          <a:ln/>
        </p:spPr>
        <p:txBody>
          <a:bodyPr wrap="square" rtlCol="0" anchor="ctr"/>
          <a:lstStyle/>
          <a:p>
            <a:pPr indent="0" marL="0">
              <a:buNone/>
            </a:pPr>
            <a:r>
              <a:rPr lang="en-US" sz="1050" dirty="0">
                <a:solidFill>
                  <a:srgbClr val="12203A"/>
                </a:solidFill>
              </a:rPr>
              <a:t>Arrangements of multiple tissue types working together for a specific function. Also called viscera (singular: viscus). Parts: apex (apic/o = pointed tip), body (corpor/o = largest part), fundus (fund/o = base/deepest), fornix (fornic/o = arched portion). One organ may function in multiple systems (pancreas: GI + endocrine).</a:t>
            </a:r>
            <a:endParaRPr lang="en-US" sz="1050" dirty="0"/>
          </a:p>
        </p:txBody>
      </p:sp>
      <p:sp>
        <p:nvSpPr>
          <p:cNvPr id="25" name="Shape 23"/>
          <p:cNvSpPr/>
          <p:nvPr/>
        </p:nvSpPr>
        <p:spPr>
          <a:xfrm>
            <a:off x="347472" y="4032504"/>
            <a:ext cx="8449056" cy="1005840"/>
          </a:xfrm>
          <a:prstGeom prst="rect">
            <a:avLst/>
          </a:prstGeom>
          <a:solidFill>
            <a:srgbClr val="EDE0FA"/>
          </a:solidFill>
          <a:ln w="12700">
            <a:solidFill>
              <a:srgbClr val="7B3FA0"/>
            </a:solidFill>
            <a:prstDash val="solid"/>
          </a:ln>
        </p:spPr>
      </p:sp>
      <p:sp>
        <p:nvSpPr>
          <p:cNvPr id="26" name="Shape 24"/>
          <p:cNvSpPr/>
          <p:nvPr/>
        </p:nvSpPr>
        <p:spPr>
          <a:xfrm>
            <a:off x="347472" y="4032504"/>
            <a:ext cx="73152" cy="1005840"/>
          </a:xfrm>
          <a:prstGeom prst="rect">
            <a:avLst/>
          </a:prstGeom>
          <a:solidFill>
            <a:srgbClr val="7B3FA0"/>
          </a:solidFill>
          <a:ln w="12700">
            <a:solidFill>
              <a:srgbClr val="7B3FA0"/>
            </a:solidFill>
            <a:prstDash val="solid"/>
          </a:ln>
        </p:spPr>
      </p:sp>
      <p:sp>
        <p:nvSpPr>
          <p:cNvPr id="27" name="Shape 25"/>
          <p:cNvSpPr/>
          <p:nvPr/>
        </p:nvSpPr>
        <p:spPr>
          <a:xfrm>
            <a:off x="475488" y="4114800"/>
            <a:ext cx="347472" cy="347472"/>
          </a:xfrm>
          <a:prstGeom prst="rect">
            <a:avLst/>
          </a:prstGeom>
          <a:solidFill>
            <a:srgbClr val="7B3FA0"/>
          </a:solidFill>
          <a:ln w="12700">
            <a:solidFill>
              <a:srgbClr val="7B3FA0"/>
            </a:solidFill>
            <a:prstDash val="solid"/>
          </a:ln>
        </p:spPr>
      </p:sp>
      <p:sp>
        <p:nvSpPr>
          <p:cNvPr id="28" name="Text 26"/>
          <p:cNvSpPr/>
          <p:nvPr/>
        </p:nvSpPr>
        <p:spPr>
          <a:xfrm>
            <a:off x="475488" y="4114800"/>
            <a:ext cx="347472" cy="347472"/>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29" name="Text 27"/>
          <p:cNvSpPr/>
          <p:nvPr/>
        </p:nvSpPr>
        <p:spPr>
          <a:xfrm>
            <a:off x="932688" y="4114800"/>
            <a:ext cx="1280160" cy="256032"/>
          </a:xfrm>
          <a:prstGeom prst="rect">
            <a:avLst/>
          </a:prstGeom>
          <a:noFill/>
          <a:ln/>
        </p:spPr>
        <p:txBody>
          <a:bodyPr wrap="square" rtlCol="0" anchor="ctr"/>
          <a:lstStyle/>
          <a:p>
            <a:pPr indent="0" marL="0">
              <a:buNone/>
            </a:pPr>
            <a:r>
              <a:rPr lang="en-US" sz="1400" b="1" dirty="0">
                <a:solidFill>
                  <a:srgbClr val="7B3FA0"/>
                </a:solidFill>
              </a:rPr>
              <a:t>Body systems (11)</a:t>
            </a:r>
            <a:endParaRPr lang="en-US" sz="1400" dirty="0"/>
          </a:p>
        </p:txBody>
      </p:sp>
      <p:sp>
        <p:nvSpPr>
          <p:cNvPr id="30" name="Text 28"/>
          <p:cNvSpPr/>
          <p:nvPr/>
        </p:nvSpPr>
        <p:spPr>
          <a:xfrm>
            <a:off x="932688" y="4416552"/>
            <a:ext cx="1280160" cy="201168"/>
          </a:xfrm>
          <a:prstGeom prst="rect">
            <a:avLst/>
          </a:prstGeom>
          <a:noFill/>
          <a:ln/>
        </p:spPr>
        <p:txBody>
          <a:bodyPr wrap="square" rtlCol="0" anchor="ctr"/>
          <a:lstStyle/>
          <a:p>
            <a:pPr indent="0" marL="0">
              <a:buNone/>
            </a:pPr>
            <a:r>
              <a:rPr lang="en-US" sz="950" i="1" dirty="0">
                <a:solidFill>
                  <a:srgbClr val="4A5568"/>
                </a:solidFill>
              </a:rPr>
              <a:t>system/o</a:t>
            </a:r>
            <a:endParaRPr lang="en-US" sz="950" dirty="0"/>
          </a:p>
        </p:txBody>
      </p:sp>
      <p:sp>
        <p:nvSpPr>
          <p:cNvPr id="31" name="Text 29"/>
          <p:cNvSpPr/>
          <p:nvPr/>
        </p:nvSpPr>
        <p:spPr>
          <a:xfrm>
            <a:off x="2331720" y="4123944"/>
            <a:ext cx="6382512" cy="822960"/>
          </a:xfrm>
          <a:prstGeom prst="rect">
            <a:avLst/>
          </a:prstGeom>
          <a:noFill/>
          <a:ln/>
        </p:spPr>
        <p:txBody>
          <a:bodyPr wrap="square" rtlCol="0" anchor="ctr"/>
          <a:lstStyle/>
          <a:p>
            <a:pPr indent="0" marL="0">
              <a:buNone/>
            </a:pPr>
            <a:r>
              <a:rPr lang="en-US" sz="1050" dirty="0">
                <a:solidFill>
                  <a:srgbClr val="12203A"/>
                </a:solidFill>
              </a:rPr>
              <a:t>Musculoskeletal · Integumentary · Gastrointestinal · Urinary · Reproductive · Blood/Lymphatic/Immune · Cardiovascular · Respiratory · Nervous/Behavioral · Special Senses · Endocrine. All maintained in balance by homeostasis (home/o + -stasis = state of sameness).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4</a:t>
            </a:r>
            <a:endParaRPr lang="en-US" sz="900" dirty="0"/>
          </a:p>
        </p:txBody>
      </p:sp>
      <p:sp>
        <p:nvSpPr>
          <p:cNvPr id="3" name="Text 1"/>
          <p:cNvSpPr/>
          <p:nvPr/>
        </p:nvSpPr>
        <p:spPr>
          <a:xfrm>
            <a:off x="365760" y="164592"/>
            <a:ext cx="8412480" cy="502920"/>
          </a:xfrm>
          <a:prstGeom prst="rect">
            <a:avLst/>
          </a:prstGeom>
          <a:noFill/>
          <a:ln/>
        </p:spPr>
        <p:txBody>
          <a:bodyPr wrap="square" rtlCol="0" anchor="ctr"/>
          <a:lstStyle/>
          <a:p>
            <a:pPr indent="0" marL="0">
              <a:buNone/>
            </a:pPr>
            <a:r>
              <a:rPr lang="en-US" sz="2600" b="1" dirty="0">
                <a:solidFill>
                  <a:srgbClr val="1A0D2E"/>
                </a:solidFill>
              </a:rPr>
              <a:t>Anatomic Position — The Universal Reference</a:t>
            </a:r>
            <a:endParaRPr lang="en-US" sz="2600" dirty="0"/>
          </a:p>
        </p:txBody>
      </p:sp>
      <p:sp>
        <p:nvSpPr>
          <p:cNvPr id="4" name="Shape 2"/>
          <p:cNvSpPr/>
          <p:nvPr/>
        </p:nvSpPr>
        <p:spPr>
          <a:xfrm>
            <a:off x="347472" y="795528"/>
            <a:ext cx="8449056" cy="1325880"/>
          </a:xfrm>
          <a:prstGeom prst="rect">
            <a:avLst/>
          </a:prstGeom>
          <a:solidFill>
            <a:srgbClr val="EDE0FA"/>
          </a:solidFill>
          <a:ln w="12700">
            <a:solidFill>
              <a:srgbClr val="7B3FA0"/>
            </a:solidFill>
            <a:prstDash val="solid"/>
          </a:ln>
        </p:spPr>
      </p:sp>
      <p:sp>
        <p:nvSpPr>
          <p:cNvPr id="5" name="Shape 3"/>
          <p:cNvSpPr/>
          <p:nvPr/>
        </p:nvSpPr>
        <p:spPr>
          <a:xfrm>
            <a:off x="347472" y="795528"/>
            <a:ext cx="73152" cy="1325880"/>
          </a:xfrm>
          <a:prstGeom prst="rect">
            <a:avLst/>
          </a:prstGeom>
          <a:solidFill>
            <a:srgbClr val="7B3FA0"/>
          </a:solidFill>
          <a:ln w="12700">
            <a:solidFill>
              <a:srgbClr val="7B3FA0"/>
            </a:solidFill>
            <a:prstDash val="solid"/>
          </a:ln>
        </p:spPr>
      </p:sp>
      <p:sp>
        <p:nvSpPr>
          <p:cNvPr id="6" name="Text 4"/>
          <p:cNvSpPr/>
          <p:nvPr/>
        </p:nvSpPr>
        <p:spPr>
          <a:xfrm>
            <a:off x="512064" y="859536"/>
            <a:ext cx="8229600" cy="292608"/>
          </a:xfrm>
          <a:prstGeom prst="rect">
            <a:avLst/>
          </a:prstGeom>
          <a:noFill/>
          <a:ln/>
        </p:spPr>
        <p:txBody>
          <a:bodyPr wrap="square" rtlCol="0" anchor="ctr"/>
          <a:lstStyle/>
          <a:p>
            <a:pPr indent="0" marL="0">
              <a:buNone/>
            </a:pPr>
            <a:r>
              <a:rPr lang="en-US" sz="1600" b="1" dirty="0">
                <a:solidFill>
                  <a:srgbClr val="7B3FA0"/>
                </a:solidFill>
              </a:rPr>
              <a:t>Standard Anatomic Position</a:t>
            </a:r>
            <a:endParaRPr lang="en-US" sz="1600" dirty="0"/>
          </a:p>
        </p:txBody>
      </p:sp>
      <p:sp>
        <p:nvSpPr>
          <p:cNvPr id="7" name="Text 5"/>
          <p:cNvSpPr/>
          <p:nvPr/>
        </p:nvSpPr>
        <p:spPr>
          <a:xfrm>
            <a:off x="512064" y="1188720"/>
            <a:ext cx="8138160" cy="320040"/>
          </a:xfrm>
          <a:prstGeom prst="rect">
            <a:avLst/>
          </a:prstGeom>
          <a:noFill/>
          <a:ln/>
        </p:spPr>
        <p:txBody>
          <a:bodyPr wrap="square" rtlCol="0" anchor="ctr"/>
          <a:lstStyle/>
          <a:p>
            <a:pPr indent="0" marL="0">
              <a:buNone/>
            </a:pPr>
            <a:r>
              <a:rPr lang="en-US" sz="1300" b="1" dirty="0">
                <a:solidFill>
                  <a:srgbClr val="12203A"/>
                </a:solidFill>
              </a:rPr>
              <a:t>Patient standing ERECT (upright) · Face pointing FORWARD · Arms at SIDES · Palms facing FORWARD (supinated) · Toes pointed FORWARD</a:t>
            </a:r>
            <a:endParaRPr lang="en-US" sz="1300" dirty="0"/>
          </a:p>
        </p:txBody>
      </p:sp>
      <p:sp>
        <p:nvSpPr>
          <p:cNvPr id="8" name="Text 6"/>
          <p:cNvSpPr/>
          <p:nvPr/>
        </p:nvSpPr>
        <p:spPr>
          <a:xfrm>
            <a:off x="512064" y="1572768"/>
            <a:ext cx="8138160" cy="438912"/>
          </a:xfrm>
          <a:prstGeom prst="rect">
            <a:avLst/>
          </a:prstGeom>
          <a:noFill/>
          <a:ln/>
        </p:spPr>
        <p:txBody>
          <a:bodyPr wrap="square" rtlCol="0" anchor="ctr"/>
          <a:lstStyle/>
          <a:p>
            <a:pPr indent="0" marL="0">
              <a:buNone/>
            </a:pPr>
            <a:r>
              <a:rPr lang="en-US" sz="1150" i="1" dirty="0">
                <a:solidFill>
                  <a:srgbClr val="4A5568"/>
                </a:solidFill>
              </a:rPr>
              <a:t>This is the frame of reference for ALL positional and directional terms in medicine. Without it, 'anterior' and 'posterior' are meaningless — a lying patient still has anatomic anterior and posterior based on this position.</a:t>
            </a:r>
            <a:endParaRPr lang="en-US" sz="1150" dirty="0"/>
          </a:p>
        </p:txBody>
      </p:sp>
      <p:sp>
        <p:nvSpPr>
          <p:cNvPr id="9" name="Shape 7"/>
          <p:cNvSpPr/>
          <p:nvPr/>
        </p:nvSpPr>
        <p:spPr>
          <a:xfrm>
            <a:off x="347472" y="2286000"/>
            <a:ext cx="8449056" cy="841248"/>
          </a:xfrm>
          <a:prstGeom prst="rect">
            <a:avLst/>
          </a:prstGeom>
          <a:solidFill>
            <a:srgbClr val="FAF7FD"/>
          </a:solidFill>
          <a:ln w="12700">
            <a:solidFill>
              <a:srgbClr val="CCBBDD"/>
            </a:solidFill>
            <a:prstDash val="solid"/>
          </a:ln>
        </p:spPr>
      </p:sp>
      <p:sp>
        <p:nvSpPr>
          <p:cNvPr id="10" name="Shape 8"/>
          <p:cNvSpPr/>
          <p:nvPr/>
        </p:nvSpPr>
        <p:spPr>
          <a:xfrm>
            <a:off x="347472" y="2286000"/>
            <a:ext cx="73152" cy="841248"/>
          </a:xfrm>
          <a:prstGeom prst="rect">
            <a:avLst/>
          </a:prstGeom>
          <a:solidFill>
            <a:srgbClr val="7B3FA0"/>
          </a:solidFill>
          <a:ln w="12700">
            <a:solidFill>
              <a:srgbClr val="7B3FA0"/>
            </a:solidFill>
            <a:prstDash val="solid"/>
          </a:ln>
        </p:spPr>
      </p:sp>
      <p:sp>
        <p:nvSpPr>
          <p:cNvPr id="11" name="Text 9"/>
          <p:cNvSpPr/>
          <p:nvPr/>
        </p:nvSpPr>
        <p:spPr>
          <a:xfrm>
            <a:off x="512064" y="2340864"/>
            <a:ext cx="1828800" cy="237744"/>
          </a:xfrm>
          <a:prstGeom prst="rect">
            <a:avLst/>
          </a:prstGeom>
          <a:noFill/>
          <a:ln/>
        </p:spPr>
        <p:txBody>
          <a:bodyPr wrap="square" rtlCol="0" anchor="ctr"/>
          <a:lstStyle/>
          <a:p>
            <a:pPr indent="0" marL="0">
              <a:buNone/>
            </a:pPr>
            <a:r>
              <a:rPr lang="en-US" sz="1200" b="1" dirty="0">
                <a:solidFill>
                  <a:srgbClr val="7B3FA0"/>
                </a:solidFill>
              </a:rPr>
              <a:t>Why it matters</a:t>
            </a:r>
            <a:endParaRPr lang="en-US" sz="1200" dirty="0"/>
          </a:p>
        </p:txBody>
      </p:sp>
      <p:sp>
        <p:nvSpPr>
          <p:cNvPr id="12" name="Text 10"/>
          <p:cNvSpPr/>
          <p:nvPr/>
        </p:nvSpPr>
        <p:spPr>
          <a:xfrm>
            <a:off x="512064" y="2615184"/>
            <a:ext cx="8229600" cy="457200"/>
          </a:xfrm>
          <a:prstGeom prst="rect">
            <a:avLst/>
          </a:prstGeom>
          <a:noFill/>
          <a:ln/>
        </p:spPr>
        <p:txBody>
          <a:bodyPr wrap="square" rtlCol="0" anchor="ctr"/>
          <a:lstStyle/>
          <a:p>
            <a:pPr indent="0" marL="0">
              <a:buNone/>
            </a:pPr>
            <a:r>
              <a:rPr lang="en-US" sz="1050" dirty="0">
                <a:solidFill>
                  <a:srgbClr val="4A5568"/>
                </a:solidFill>
              </a:rPr>
              <a:t>Without a shared reference frame, clinical communication fails. A wound on the 'front of the arm' could mean different things to different people. Anatomic position defines 'front' precisely. Surgical teams, imaging reports, and textbooks all use this same reference.</a:t>
            </a:r>
            <a:endParaRPr lang="en-US" sz="1050" dirty="0"/>
          </a:p>
        </p:txBody>
      </p:sp>
      <p:sp>
        <p:nvSpPr>
          <p:cNvPr id="13" name="Shape 11"/>
          <p:cNvSpPr/>
          <p:nvPr/>
        </p:nvSpPr>
        <p:spPr>
          <a:xfrm>
            <a:off x="347472" y="3200400"/>
            <a:ext cx="8449056" cy="841248"/>
          </a:xfrm>
          <a:prstGeom prst="rect">
            <a:avLst/>
          </a:prstGeom>
          <a:solidFill>
            <a:srgbClr val="F2EDFA"/>
          </a:solidFill>
          <a:ln w="12700">
            <a:solidFill>
              <a:srgbClr val="CCBBDD"/>
            </a:solidFill>
            <a:prstDash val="solid"/>
          </a:ln>
        </p:spPr>
      </p:sp>
      <p:sp>
        <p:nvSpPr>
          <p:cNvPr id="14" name="Shape 12"/>
          <p:cNvSpPr/>
          <p:nvPr/>
        </p:nvSpPr>
        <p:spPr>
          <a:xfrm>
            <a:off x="347472" y="3200400"/>
            <a:ext cx="73152" cy="841248"/>
          </a:xfrm>
          <a:prstGeom prst="rect">
            <a:avLst/>
          </a:prstGeom>
          <a:solidFill>
            <a:srgbClr val="7B3FA0"/>
          </a:solidFill>
          <a:ln w="12700">
            <a:solidFill>
              <a:srgbClr val="7B3FA0"/>
            </a:solidFill>
            <a:prstDash val="solid"/>
          </a:ln>
        </p:spPr>
      </p:sp>
      <p:sp>
        <p:nvSpPr>
          <p:cNvPr id="15" name="Text 13"/>
          <p:cNvSpPr/>
          <p:nvPr/>
        </p:nvSpPr>
        <p:spPr>
          <a:xfrm>
            <a:off x="512064" y="3255264"/>
            <a:ext cx="1828800" cy="237744"/>
          </a:xfrm>
          <a:prstGeom prst="rect">
            <a:avLst/>
          </a:prstGeom>
          <a:noFill/>
          <a:ln/>
        </p:spPr>
        <p:txBody>
          <a:bodyPr wrap="square" rtlCol="0" anchor="ctr"/>
          <a:lstStyle/>
          <a:p>
            <a:pPr indent="0" marL="0">
              <a:buNone/>
            </a:pPr>
            <a:r>
              <a:rPr lang="en-US" sz="1200" b="1" dirty="0">
                <a:solidFill>
                  <a:srgbClr val="7B3FA0"/>
                </a:solidFill>
              </a:rPr>
              <a:t>Supine vs anatomic position</a:t>
            </a:r>
            <a:endParaRPr lang="en-US" sz="1200" dirty="0"/>
          </a:p>
        </p:txBody>
      </p:sp>
      <p:sp>
        <p:nvSpPr>
          <p:cNvPr id="16" name="Text 14"/>
          <p:cNvSpPr/>
          <p:nvPr/>
        </p:nvSpPr>
        <p:spPr>
          <a:xfrm>
            <a:off x="512064" y="3529584"/>
            <a:ext cx="8229600" cy="457200"/>
          </a:xfrm>
          <a:prstGeom prst="rect">
            <a:avLst/>
          </a:prstGeom>
          <a:noFill/>
          <a:ln/>
        </p:spPr>
        <p:txBody>
          <a:bodyPr wrap="square" rtlCol="0" anchor="ctr"/>
          <a:lstStyle/>
          <a:p>
            <a:pPr indent="0" marL="0">
              <a:buNone/>
            </a:pPr>
            <a:r>
              <a:rPr lang="en-US" sz="1050" dirty="0">
                <a:solidFill>
                  <a:srgbClr val="4A5568"/>
                </a:solidFill>
              </a:rPr>
              <a:t>Supine = lying on the back (face up). Prone = lying on face (face down). These describe BODY POSITION (how the patient is positioned). Anatomic position describes the REFERENCE FRAME for directional terms — a supine patient still has an anterior and posterior defined by anatomic position.</a:t>
            </a:r>
            <a:endParaRPr lang="en-US" sz="1050" dirty="0"/>
          </a:p>
        </p:txBody>
      </p:sp>
      <p:sp>
        <p:nvSpPr>
          <p:cNvPr id="17" name="Shape 15"/>
          <p:cNvSpPr/>
          <p:nvPr/>
        </p:nvSpPr>
        <p:spPr>
          <a:xfrm>
            <a:off x="347472" y="4114800"/>
            <a:ext cx="8449056" cy="841248"/>
          </a:xfrm>
          <a:prstGeom prst="rect">
            <a:avLst/>
          </a:prstGeom>
          <a:solidFill>
            <a:srgbClr val="FAF7FD"/>
          </a:solidFill>
          <a:ln w="12700">
            <a:solidFill>
              <a:srgbClr val="CCBBDD"/>
            </a:solidFill>
            <a:prstDash val="solid"/>
          </a:ln>
        </p:spPr>
      </p:sp>
      <p:sp>
        <p:nvSpPr>
          <p:cNvPr id="18" name="Shape 16"/>
          <p:cNvSpPr/>
          <p:nvPr/>
        </p:nvSpPr>
        <p:spPr>
          <a:xfrm>
            <a:off x="347472" y="4114800"/>
            <a:ext cx="73152" cy="841248"/>
          </a:xfrm>
          <a:prstGeom prst="rect">
            <a:avLst/>
          </a:prstGeom>
          <a:solidFill>
            <a:srgbClr val="7B3FA0"/>
          </a:solidFill>
          <a:ln w="12700">
            <a:solidFill>
              <a:srgbClr val="7B3FA0"/>
            </a:solidFill>
            <a:prstDash val="solid"/>
          </a:ln>
        </p:spPr>
      </p:sp>
      <p:sp>
        <p:nvSpPr>
          <p:cNvPr id="19" name="Text 17"/>
          <p:cNvSpPr/>
          <p:nvPr/>
        </p:nvSpPr>
        <p:spPr>
          <a:xfrm>
            <a:off x="512064" y="4169664"/>
            <a:ext cx="1828800" cy="237744"/>
          </a:xfrm>
          <a:prstGeom prst="rect">
            <a:avLst/>
          </a:prstGeom>
          <a:noFill/>
          <a:ln/>
        </p:spPr>
        <p:txBody>
          <a:bodyPr wrap="square" rtlCol="0" anchor="ctr"/>
          <a:lstStyle/>
          <a:p>
            <a:pPr indent="0" marL="0">
              <a:buNone/>
            </a:pPr>
            <a:r>
              <a:rPr lang="en-US" sz="1200" b="1" dirty="0">
                <a:solidFill>
                  <a:srgbClr val="7B3FA0"/>
                </a:solidFill>
              </a:rPr>
              <a:t>Specialists and the body</a:t>
            </a:r>
            <a:endParaRPr lang="en-US" sz="1200" dirty="0"/>
          </a:p>
        </p:txBody>
      </p:sp>
      <p:sp>
        <p:nvSpPr>
          <p:cNvPr id="20" name="Text 18"/>
          <p:cNvSpPr/>
          <p:nvPr/>
        </p:nvSpPr>
        <p:spPr>
          <a:xfrm>
            <a:off x="512064" y="4443984"/>
            <a:ext cx="8229600" cy="457200"/>
          </a:xfrm>
          <a:prstGeom prst="rect">
            <a:avLst/>
          </a:prstGeom>
          <a:noFill/>
          <a:ln/>
        </p:spPr>
        <p:txBody>
          <a:bodyPr wrap="square" rtlCol="0" anchor="ctr"/>
          <a:lstStyle/>
          <a:p>
            <a:pPr indent="0" marL="0">
              <a:buNone/>
            </a:pPr>
            <a:r>
              <a:rPr lang="en-US" sz="1050" dirty="0">
                <a:solidFill>
                  <a:srgbClr val="4A5568"/>
                </a:solidFill>
              </a:rPr>
              <a:t>Cytologist: studies cells. Histologist: studies tissues. Anatomist: studies body structure (anatomy = to cut apart). Physiologist: studies body function. Pathologist: studies disease — performs biopsies (biopsy = bio/o + -opsy = view of living tissue) and autopsies (necropsy/autopsy = examination after death).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D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7B3FA0"/>
          </a:solidFill>
          <a:ln w="12700">
            <a:solidFill>
              <a:srgbClr val="7B3FA0"/>
            </a:solidFill>
            <a:prstDash val="solid"/>
          </a:ln>
        </p:spPr>
      </p:sp>
      <p:sp>
        <p:nvSpPr>
          <p:cNvPr id="3" name="Text 1"/>
          <p:cNvSpPr/>
          <p:nvPr/>
        </p:nvSpPr>
        <p:spPr>
          <a:xfrm>
            <a:off x="457200" y="1143000"/>
            <a:ext cx="8229600" cy="365760"/>
          </a:xfrm>
          <a:prstGeom prst="rect">
            <a:avLst/>
          </a:prstGeom>
          <a:noFill/>
          <a:ln/>
        </p:spPr>
        <p:txBody>
          <a:bodyPr wrap="square" rtlCol="0" anchor="ctr"/>
          <a:lstStyle/>
          <a:p>
            <a:pPr indent="0" marL="0">
              <a:buNone/>
            </a:pPr>
            <a:r>
              <a:rPr lang="en-US" sz="1300" b="1" spc="500" kern="0" dirty="0">
                <a:solidFill>
                  <a:srgbClr val="7B3FA0"/>
                </a:solidFill>
              </a:rPr>
              <a:t>DIRECTIONAL TERMS</a:t>
            </a:r>
            <a:endParaRPr lang="en-US" sz="1300" dirty="0"/>
          </a:p>
        </p:txBody>
      </p:sp>
      <p:sp>
        <p:nvSpPr>
          <p:cNvPr id="4" name="Text 2"/>
          <p:cNvSpPr/>
          <p:nvPr/>
        </p:nvSpPr>
        <p:spPr>
          <a:xfrm>
            <a:off x="457200" y="1554480"/>
            <a:ext cx="8229600" cy="1097280"/>
          </a:xfrm>
          <a:prstGeom prst="rect">
            <a:avLst/>
          </a:prstGeom>
          <a:noFill/>
          <a:ln/>
        </p:spPr>
        <p:txBody>
          <a:bodyPr wrap="square"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Positional &amp; Directional Terminology</a:t>
            </a:r>
            <a:endParaRPr lang="en-US" sz="5000" dirty="0"/>
          </a:p>
        </p:txBody>
      </p:sp>
      <p:sp>
        <p:nvSpPr>
          <p:cNvPr id="5" name="Text 3"/>
          <p:cNvSpPr/>
          <p:nvPr/>
        </p:nvSpPr>
        <p:spPr>
          <a:xfrm>
            <a:off x="457200" y="2697480"/>
            <a:ext cx="8229600" cy="457200"/>
          </a:xfrm>
          <a:prstGeom prst="rect">
            <a:avLst/>
          </a:prstGeom>
          <a:noFill/>
          <a:ln/>
        </p:spPr>
        <p:txBody>
          <a:bodyPr wrap="square" rtlCol="0" anchor="ctr"/>
          <a:lstStyle/>
          <a:p>
            <a:pPr indent="0" marL="0">
              <a:buNone/>
            </a:pPr>
            <a:r>
              <a:rPr lang="en-US" sz="1700" i="1" dirty="0">
                <a:solidFill>
                  <a:srgbClr val="EDE0FA"/>
                </a:solidFill>
              </a:rPr>
              <a:t>Learn as opposite pairs — the most effective study strategy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6</a:t>
            </a:r>
            <a:endParaRPr lang="en-US" sz="900" dirty="0"/>
          </a:p>
        </p:txBody>
      </p:sp>
      <p:sp>
        <p:nvSpPr>
          <p:cNvPr id="3" name="Shape 1"/>
          <p:cNvSpPr/>
          <p:nvPr/>
        </p:nvSpPr>
        <p:spPr>
          <a:xfrm>
            <a:off x="0" y="0"/>
            <a:ext cx="9144000" cy="685800"/>
          </a:xfrm>
          <a:prstGeom prst="rect">
            <a:avLst/>
          </a:prstGeom>
          <a:solidFill>
            <a:srgbClr val="7B3FA0"/>
          </a:solidFill>
          <a:ln w="12700">
            <a:solidFill>
              <a:srgbClr val="7B3FA0"/>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indent="0" marL="0">
              <a:buNone/>
            </a:pPr>
            <a:r>
              <a:rPr lang="en-US" sz="2400" b="1" dirty="0">
                <a:solidFill>
                  <a:srgbClr val="FFFFFF"/>
                </a:solidFill>
              </a:rPr>
              <a:t>Directional Terms: Front/Back &amp; Above/Below</a:t>
            </a:r>
            <a:endParaRPr lang="en-US" sz="2400" dirty="0"/>
          </a:p>
        </p:txBody>
      </p:sp>
      <p:sp>
        <p:nvSpPr>
          <p:cNvPr id="5" name="Shape 3"/>
          <p:cNvSpPr/>
          <p:nvPr/>
        </p:nvSpPr>
        <p:spPr>
          <a:xfrm>
            <a:off x="347472" y="804672"/>
            <a:ext cx="4160520" cy="1335024"/>
          </a:xfrm>
          <a:prstGeom prst="rect">
            <a:avLst/>
          </a:prstGeom>
          <a:solidFill>
            <a:srgbClr val="EDE0FA"/>
          </a:solidFill>
          <a:ln w="12700">
            <a:solidFill>
              <a:srgbClr val="7B3FA0"/>
            </a:solidFill>
            <a:prstDash val="solid"/>
          </a:ln>
        </p:spPr>
      </p:sp>
      <p:sp>
        <p:nvSpPr>
          <p:cNvPr id="6" name="Shape 4"/>
          <p:cNvSpPr/>
          <p:nvPr/>
        </p:nvSpPr>
        <p:spPr>
          <a:xfrm>
            <a:off x="347472" y="804672"/>
            <a:ext cx="73152" cy="1335024"/>
          </a:xfrm>
          <a:prstGeom prst="rect">
            <a:avLst/>
          </a:prstGeom>
          <a:solidFill>
            <a:srgbClr val="7B3FA0"/>
          </a:solidFill>
          <a:ln w="12700">
            <a:solidFill>
              <a:srgbClr val="7B3FA0"/>
            </a:solidFill>
            <a:prstDash val="solid"/>
          </a:ln>
        </p:spPr>
      </p:sp>
      <p:sp>
        <p:nvSpPr>
          <p:cNvPr id="7" name="Text 5"/>
          <p:cNvSpPr/>
          <p:nvPr/>
        </p:nvSpPr>
        <p:spPr>
          <a:xfrm>
            <a:off x="493776" y="877824"/>
            <a:ext cx="3840480" cy="274320"/>
          </a:xfrm>
          <a:prstGeom prst="rect">
            <a:avLst/>
          </a:prstGeom>
          <a:noFill/>
          <a:ln/>
        </p:spPr>
        <p:txBody>
          <a:bodyPr wrap="square" rtlCol="0" anchor="ctr"/>
          <a:lstStyle/>
          <a:p>
            <a:pPr indent="0" marL="0">
              <a:buNone/>
            </a:pPr>
            <a:r>
              <a:rPr lang="en-US" sz="1300" b="1" dirty="0">
                <a:solidFill>
                  <a:srgbClr val="7B3FA0"/>
                </a:solidFill>
              </a:rPr>
              <a:t>Anterior (anter/o)</a:t>
            </a:r>
            <a:endParaRPr lang="en-US" sz="1300" dirty="0"/>
          </a:p>
        </p:txBody>
      </p:sp>
      <p:sp>
        <p:nvSpPr>
          <p:cNvPr id="8" name="Text 6"/>
          <p:cNvSpPr/>
          <p:nvPr/>
        </p:nvSpPr>
        <p:spPr>
          <a:xfrm>
            <a:off x="493776" y="1207008"/>
            <a:ext cx="3840480" cy="877824"/>
          </a:xfrm>
          <a:prstGeom prst="rect">
            <a:avLst/>
          </a:prstGeom>
          <a:noFill/>
          <a:ln/>
        </p:spPr>
        <p:txBody>
          <a:bodyPr wrap="square" rtlCol="0" anchor="ctr"/>
          <a:lstStyle/>
          <a:p>
            <a:pPr indent="0" marL="0">
              <a:buNone/>
            </a:pPr>
            <a:r>
              <a:rPr lang="en-US" sz="1050" dirty="0">
                <a:solidFill>
                  <a:srgbClr val="4A5568"/>
                </a:solidFill>
              </a:rPr>
              <a:t>Front side. Abbreviated ant. Synonym: VENTRAL (ventr/o). Example: the sternum is anterior to the vertebral column. In X-ray: AP = anteroposterior (beam enters front, exits back).</a:t>
            </a:r>
            <a:endParaRPr lang="en-US" sz="1050" dirty="0"/>
          </a:p>
        </p:txBody>
      </p:sp>
      <p:sp>
        <p:nvSpPr>
          <p:cNvPr id="9" name="Shape 7"/>
          <p:cNvSpPr/>
          <p:nvPr/>
        </p:nvSpPr>
        <p:spPr>
          <a:xfrm>
            <a:off x="4663440" y="804672"/>
            <a:ext cx="4160520" cy="1335024"/>
          </a:xfrm>
          <a:prstGeom prst="rect">
            <a:avLst/>
          </a:prstGeom>
          <a:solidFill>
            <a:srgbClr val="EDE0FA"/>
          </a:solidFill>
          <a:ln w="12700">
            <a:solidFill>
              <a:srgbClr val="7B3FA0"/>
            </a:solidFill>
            <a:prstDash val="solid"/>
          </a:ln>
        </p:spPr>
      </p:sp>
      <p:sp>
        <p:nvSpPr>
          <p:cNvPr id="10" name="Shape 8"/>
          <p:cNvSpPr/>
          <p:nvPr/>
        </p:nvSpPr>
        <p:spPr>
          <a:xfrm>
            <a:off x="4663440" y="804672"/>
            <a:ext cx="73152" cy="1335024"/>
          </a:xfrm>
          <a:prstGeom prst="rect">
            <a:avLst/>
          </a:prstGeom>
          <a:solidFill>
            <a:srgbClr val="7B3FA0"/>
          </a:solidFill>
          <a:ln w="12700">
            <a:solidFill>
              <a:srgbClr val="7B3FA0"/>
            </a:solidFill>
            <a:prstDash val="solid"/>
          </a:ln>
        </p:spPr>
      </p:sp>
      <p:sp>
        <p:nvSpPr>
          <p:cNvPr id="11" name="Text 9"/>
          <p:cNvSpPr/>
          <p:nvPr/>
        </p:nvSpPr>
        <p:spPr>
          <a:xfrm>
            <a:off x="4809744" y="877824"/>
            <a:ext cx="3840480" cy="274320"/>
          </a:xfrm>
          <a:prstGeom prst="rect">
            <a:avLst/>
          </a:prstGeom>
          <a:noFill/>
          <a:ln/>
        </p:spPr>
        <p:txBody>
          <a:bodyPr wrap="square" rtlCol="0" anchor="ctr"/>
          <a:lstStyle/>
          <a:p>
            <a:pPr indent="0" marL="0">
              <a:buNone/>
            </a:pPr>
            <a:r>
              <a:rPr lang="en-US" sz="1300" b="1" dirty="0">
                <a:solidFill>
                  <a:srgbClr val="7B3FA0"/>
                </a:solidFill>
              </a:rPr>
              <a:t>Posterior (poster/o)</a:t>
            </a:r>
            <a:endParaRPr lang="en-US" sz="1300" dirty="0"/>
          </a:p>
        </p:txBody>
      </p:sp>
      <p:sp>
        <p:nvSpPr>
          <p:cNvPr id="12" name="Text 10"/>
          <p:cNvSpPr/>
          <p:nvPr/>
        </p:nvSpPr>
        <p:spPr>
          <a:xfrm>
            <a:off x="4809744" y="1207008"/>
            <a:ext cx="3840480" cy="877824"/>
          </a:xfrm>
          <a:prstGeom prst="rect">
            <a:avLst/>
          </a:prstGeom>
          <a:noFill/>
          <a:ln/>
        </p:spPr>
        <p:txBody>
          <a:bodyPr wrap="square" rtlCol="0" anchor="ctr"/>
          <a:lstStyle/>
          <a:p>
            <a:pPr indent="0" marL="0">
              <a:buNone/>
            </a:pPr>
            <a:r>
              <a:rPr lang="en-US" sz="1050" dirty="0">
                <a:solidFill>
                  <a:srgbClr val="4A5568"/>
                </a:solidFill>
              </a:rPr>
              <a:t>Back side. Abbreviated pos. Synonym: DORSAL (dors/o). Example: the vertebral column is posterior to the sternum. In X-ray: PA = posteroanterior (beam enters back, exits front).</a:t>
            </a:r>
            <a:endParaRPr lang="en-US" sz="1050" dirty="0"/>
          </a:p>
        </p:txBody>
      </p:sp>
      <p:sp>
        <p:nvSpPr>
          <p:cNvPr id="13" name="Shape 11"/>
          <p:cNvSpPr/>
          <p:nvPr/>
        </p:nvSpPr>
        <p:spPr>
          <a:xfrm>
            <a:off x="347472" y="2240280"/>
            <a:ext cx="4160520" cy="1335024"/>
          </a:xfrm>
          <a:prstGeom prst="rect">
            <a:avLst/>
          </a:prstGeom>
          <a:solidFill>
            <a:srgbClr val="EDE0FA"/>
          </a:solidFill>
          <a:ln w="12700">
            <a:solidFill>
              <a:srgbClr val="185FA5"/>
            </a:solidFill>
            <a:prstDash val="solid"/>
          </a:ln>
        </p:spPr>
      </p:sp>
      <p:sp>
        <p:nvSpPr>
          <p:cNvPr id="14" name="Shape 12"/>
          <p:cNvSpPr/>
          <p:nvPr/>
        </p:nvSpPr>
        <p:spPr>
          <a:xfrm>
            <a:off x="347472" y="2240280"/>
            <a:ext cx="73152" cy="1335024"/>
          </a:xfrm>
          <a:prstGeom prst="rect">
            <a:avLst/>
          </a:prstGeom>
          <a:solidFill>
            <a:srgbClr val="185FA5"/>
          </a:solidFill>
          <a:ln w="12700">
            <a:solidFill>
              <a:srgbClr val="185FA5"/>
            </a:solidFill>
            <a:prstDash val="solid"/>
          </a:ln>
        </p:spPr>
      </p:sp>
      <p:sp>
        <p:nvSpPr>
          <p:cNvPr id="15" name="Text 13"/>
          <p:cNvSpPr/>
          <p:nvPr/>
        </p:nvSpPr>
        <p:spPr>
          <a:xfrm>
            <a:off x="493776" y="2313432"/>
            <a:ext cx="3840480" cy="274320"/>
          </a:xfrm>
          <a:prstGeom prst="rect">
            <a:avLst/>
          </a:prstGeom>
          <a:noFill/>
          <a:ln/>
        </p:spPr>
        <p:txBody>
          <a:bodyPr wrap="square" rtlCol="0" anchor="ctr"/>
          <a:lstStyle/>
          <a:p>
            <a:pPr indent="0" marL="0">
              <a:buNone/>
            </a:pPr>
            <a:r>
              <a:rPr lang="en-US" sz="1300" b="1" dirty="0">
                <a:solidFill>
                  <a:srgbClr val="185FA5"/>
                </a:solidFill>
              </a:rPr>
              <a:t>Superior (super/o)</a:t>
            </a:r>
            <a:endParaRPr lang="en-US" sz="1300" dirty="0"/>
          </a:p>
        </p:txBody>
      </p:sp>
      <p:sp>
        <p:nvSpPr>
          <p:cNvPr id="16" name="Text 14"/>
          <p:cNvSpPr/>
          <p:nvPr/>
        </p:nvSpPr>
        <p:spPr>
          <a:xfrm>
            <a:off x="493776" y="2642616"/>
            <a:ext cx="3840480" cy="877824"/>
          </a:xfrm>
          <a:prstGeom prst="rect">
            <a:avLst/>
          </a:prstGeom>
          <a:noFill/>
          <a:ln/>
        </p:spPr>
        <p:txBody>
          <a:bodyPr wrap="square" rtlCol="0" anchor="ctr"/>
          <a:lstStyle/>
          <a:p>
            <a:pPr indent="0" marL="0">
              <a:buNone/>
            </a:pPr>
            <a:r>
              <a:rPr lang="en-US" sz="1050" dirty="0">
                <a:solidFill>
                  <a:srgbClr val="4A5568"/>
                </a:solidFill>
              </a:rPr>
              <a:t>Above, toward the head end. Abbreviated sup. Directional synonym: CEPHALAD (cephal/o + -ad = toward the head). Example: the heart is superior to the stomach.</a:t>
            </a:r>
            <a:endParaRPr lang="en-US" sz="1050" dirty="0"/>
          </a:p>
        </p:txBody>
      </p:sp>
      <p:sp>
        <p:nvSpPr>
          <p:cNvPr id="17" name="Shape 15"/>
          <p:cNvSpPr/>
          <p:nvPr/>
        </p:nvSpPr>
        <p:spPr>
          <a:xfrm>
            <a:off x="4663440" y="2240280"/>
            <a:ext cx="4160520" cy="1335024"/>
          </a:xfrm>
          <a:prstGeom prst="rect">
            <a:avLst/>
          </a:prstGeom>
          <a:solidFill>
            <a:srgbClr val="EDE0FA"/>
          </a:solidFill>
          <a:ln w="12700">
            <a:solidFill>
              <a:srgbClr val="185FA5"/>
            </a:solidFill>
            <a:prstDash val="solid"/>
          </a:ln>
        </p:spPr>
      </p:sp>
      <p:sp>
        <p:nvSpPr>
          <p:cNvPr id="18" name="Shape 16"/>
          <p:cNvSpPr/>
          <p:nvPr/>
        </p:nvSpPr>
        <p:spPr>
          <a:xfrm>
            <a:off x="4663440" y="2240280"/>
            <a:ext cx="73152" cy="1335024"/>
          </a:xfrm>
          <a:prstGeom prst="rect">
            <a:avLst/>
          </a:prstGeom>
          <a:solidFill>
            <a:srgbClr val="185FA5"/>
          </a:solidFill>
          <a:ln w="12700">
            <a:solidFill>
              <a:srgbClr val="185FA5"/>
            </a:solidFill>
            <a:prstDash val="solid"/>
          </a:ln>
        </p:spPr>
      </p:sp>
      <p:sp>
        <p:nvSpPr>
          <p:cNvPr id="19" name="Text 17"/>
          <p:cNvSpPr/>
          <p:nvPr/>
        </p:nvSpPr>
        <p:spPr>
          <a:xfrm>
            <a:off x="4809744" y="2313432"/>
            <a:ext cx="3840480" cy="274320"/>
          </a:xfrm>
          <a:prstGeom prst="rect">
            <a:avLst/>
          </a:prstGeom>
          <a:noFill/>
          <a:ln/>
        </p:spPr>
        <p:txBody>
          <a:bodyPr wrap="square" rtlCol="0" anchor="ctr"/>
          <a:lstStyle/>
          <a:p>
            <a:pPr indent="0" marL="0">
              <a:buNone/>
            </a:pPr>
            <a:r>
              <a:rPr lang="en-US" sz="1300" b="1" dirty="0">
                <a:solidFill>
                  <a:srgbClr val="185FA5"/>
                </a:solidFill>
              </a:rPr>
              <a:t>Inferior (infer/o)</a:t>
            </a:r>
            <a:endParaRPr lang="en-US" sz="1300" dirty="0"/>
          </a:p>
        </p:txBody>
      </p:sp>
      <p:sp>
        <p:nvSpPr>
          <p:cNvPr id="20" name="Text 18"/>
          <p:cNvSpPr/>
          <p:nvPr/>
        </p:nvSpPr>
        <p:spPr>
          <a:xfrm>
            <a:off x="4809744" y="2642616"/>
            <a:ext cx="3840480" cy="877824"/>
          </a:xfrm>
          <a:prstGeom prst="rect">
            <a:avLst/>
          </a:prstGeom>
          <a:noFill/>
          <a:ln/>
        </p:spPr>
        <p:txBody>
          <a:bodyPr wrap="square" rtlCol="0" anchor="ctr"/>
          <a:lstStyle/>
          <a:p>
            <a:pPr indent="0" marL="0">
              <a:buNone/>
            </a:pPr>
            <a:r>
              <a:rPr lang="en-US" sz="1050" dirty="0">
                <a:solidFill>
                  <a:srgbClr val="4A5568"/>
                </a:solidFill>
              </a:rPr>
              <a:t>Below, toward the tail end. Abbreviated inf. Directional synonym: CAUDAD (caud/o + -ad = toward the tail). Example: the stomach is inferior to the diaphragm.</a:t>
            </a:r>
            <a:endParaRPr lang="en-US" sz="1050" dirty="0"/>
          </a:p>
        </p:txBody>
      </p:sp>
      <p:sp>
        <p:nvSpPr>
          <p:cNvPr id="21" name="Shape 19"/>
          <p:cNvSpPr/>
          <p:nvPr/>
        </p:nvSpPr>
        <p:spPr>
          <a:xfrm>
            <a:off x="347472" y="3675888"/>
            <a:ext cx="4160520" cy="1335024"/>
          </a:xfrm>
          <a:prstGeom prst="rect">
            <a:avLst/>
          </a:prstGeom>
          <a:solidFill>
            <a:srgbClr val="EDE0FA"/>
          </a:solidFill>
          <a:ln w="12700">
            <a:solidFill>
              <a:srgbClr val="0F6E56"/>
            </a:solidFill>
            <a:prstDash val="solid"/>
          </a:ln>
        </p:spPr>
      </p:sp>
      <p:sp>
        <p:nvSpPr>
          <p:cNvPr id="22" name="Shape 20"/>
          <p:cNvSpPr/>
          <p:nvPr/>
        </p:nvSpPr>
        <p:spPr>
          <a:xfrm>
            <a:off x="347472" y="3675888"/>
            <a:ext cx="73152" cy="1335024"/>
          </a:xfrm>
          <a:prstGeom prst="rect">
            <a:avLst/>
          </a:prstGeom>
          <a:solidFill>
            <a:srgbClr val="0F6E56"/>
          </a:solidFill>
          <a:ln w="12700">
            <a:solidFill>
              <a:srgbClr val="0F6E56"/>
            </a:solidFill>
            <a:prstDash val="solid"/>
          </a:ln>
        </p:spPr>
      </p:sp>
      <p:sp>
        <p:nvSpPr>
          <p:cNvPr id="23" name="Text 21"/>
          <p:cNvSpPr/>
          <p:nvPr/>
        </p:nvSpPr>
        <p:spPr>
          <a:xfrm>
            <a:off x="493776" y="3749040"/>
            <a:ext cx="3840480" cy="274320"/>
          </a:xfrm>
          <a:prstGeom prst="rect">
            <a:avLst/>
          </a:prstGeom>
          <a:noFill/>
          <a:ln/>
        </p:spPr>
        <p:txBody>
          <a:bodyPr wrap="square" rtlCol="0" anchor="ctr"/>
          <a:lstStyle/>
          <a:p>
            <a:pPr indent="0" marL="0">
              <a:buNone/>
            </a:pPr>
            <a:r>
              <a:rPr lang="en-US" sz="1300" b="1" dirty="0">
                <a:solidFill>
                  <a:srgbClr val="0F6E56"/>
                </a:solidFill>
              </a:rPr>
              <a:t>Ventral (ventr/o)</a:t>
            </a:r>
            <a:endParaRPr lang="en-US" sz="1300" dirty="0"/>
          </a:p>
        </p:txBody>
      </p:sp>
      <p:sp>
        <p:nvSpPr>
          <p:cNvPr id="24" name="Text 22"/>
          <p:cNvSpPr/>
          <p:nvPr/>
        </p:nvSpPr>
        <p:spPr>
          <a:xfrm>
            <a:off x="493776" y="4078224"/>
            <a:ext cx="3840480" cy="877824"/>
          </a:xfrm>
          <a:prstGeom prst="rect">
            <a:avLst/>
          </a:prstGeom>
          <a:noFill/>
          <a:ln/>
        </p:spPr>
        <p:txBody>
          <a:bodyPr wrap="square" rtlCol="0" anchor="ctr"/>
          <a:lstStyle/>
          <a:p>
            <a:pPr indent="0" marL="0">
              <a:buNone/>
            </a:pPr>
            <a:r>
              <a:rPr lang="en-US" sz="1050" dirty="0">
                <a:solidFill>
                  <a:srgbClr val="4A5568"/>
                </a:solidFill>
              </a:rPr>
              <a:t>Belly/front surface. Synonym for anterior. VENTRAL CAVITIES = Thoracic + Abdominal + Pelvic. TAP mnemonic for the three ventral cavities.</a:t>
            </a:r>
            <a:endParaRPr lang="en-US" sz="1050" dirty="0"/>
          </a:p>
        </p:txBody>
      </p:sp>
      <p:sp>
        <p:nvSpPr>
          <p:cNvPr id="25" name="Shape 23"/>
          <p:cNvSpPr/>
          <p:nvPr/>
        </p:nvSpPr>
        <p:spPr>
          <a:xfrm>
            <a:off x="4663440" y="3675888"/>
            <a:ext cx="4160520" cy="1335024"/>
          </a:xfrm>
          <a:prstGeom prst="rect">
            <a:avLst/>
          </a:prstGeom>
          <a:solidFill>
            <a:srgbClr val="EDE0FA"/>
          </a:solidFill>
          <a:ln w="12700">
            <a:solidFill>
              <a:srgbClr val="0F6E56"/>
            </a:solidFill>
            <a:prstDash val="solid"/>
          </a:ln>
        </p:spPr>
      </p:sp>
      <p:sp>
        <p:nvSpPr>
          <p:cNvPr id="26" name="Shape 24"/>
          <p:cNvSpPr/>
          <p:nvPr/>
        </p:nvSpPr>
        <p:spPr>
          <a:xfrm>
            <a:off x="4663440" y="3675888"/>
            <a:ext cx="73152" cy="1335024"/>
          </a:xfrm>
          <a:prstGeom prst="rect">
            <a:avLst/>
          </a:prstGeom>
          <a:solidFill>
            <a:srgbClr val="0F6E56"/>
          </a:solidFill>
          <a:ln w="12700">
            <a:solidFill>
              <a:srgbClr val="0F6E56"/>
            </a:solidFill>
            <a:prstDash val="solid"/>
          </a:ln>
        </p:spPr>
      </p:sp>
      <p:sp>
        <p:nvSpPr>
          <p:cNvPr id="27" name="Text 25"/>
          <p:cNvSpPr/>
          <p:nvPr/>
        </p:nvSpPr>
        <p:spPr>
          <a:xfrm>
            <a:off x="4809744" y="3749040"/>
            <a:ext cx="3840480" cy="274320"/>
          </a:xfrm>
          <a:prstGeom prst="rect">
            <a:avLst/>
          </a:prstGeom>
          <a:noFill/>
          <a:ln/>
        </p:spPr>
        <p:txBody>
          <a:bodyPr wrap="square" rtlCol="0" anchor="ctr"/>
          <a:lstStyle/>
          <a:p>
            <a:pPr indent="0" marL="0">
              <a:buNone/>
            </a:pPr>
            <a:r>
              <a:rPr lang="en-US" sz="1300" b="1" dirty="0">
                <a:solidFill>
                  <a:srgbClr val="0F6E56"/>
                </a:solidFill>
              </a:rPr>
              <a:t>Dorsal (dors/o)</a:t>
            </a:r>
            <a:endParaRPr lang="en-US" sz="1300" dirty="0"/>
          </a:p>
        </p:txBody>
      </p:sp>
      <p:sp>
        <p:nvSpPr>
          <p:cNvPr id="28" name="Text 26"/>
          <p:cNvSpPr/>
          <p:nvPr/>
        </p:nvSpPr>
        <p:spPr>
          <a:xfrm>
            <a:off x="4809744" y="4078224"/>
            <a:ext cx="3840480" cy="877824"/>
          </a:xfrm>
          <a:prstGeom prst="rect">
            <a:avLst/>
          </a:prstGeom>
          <a:noFill/>
          <a:ln/>
        </p:spPr>
        <p:txBody>
          <a:bodyPr wrap="square" rtlCol="0" anchor="ctr"/>
          <a:lstStyle/>
          <a:p>
            <a:pPr indent="0" marL="0">
              <a:buNone/>
            </a:pPr>
            <a:r>
              <a:rPr lang="en-US" sz="1050" dirty="0">
                <a:solidFill>
                  <a:srgbClr val="4A5568"/>
                </a:solidFill>
              </a:rPr>
              <a:t>Back surface. Synonym for posterior. DORSAL CAVITIES = Cranial + Spinal. Both protected by bone (skull + vertebrae). Continuous with each other.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7</a:t>
            </a:r>
            <a:endParaRPr lang="en-US" sz="900" dirty="0"/>
          </a:p>
        </p:txBody>
      </p:sp>
      <p:sp>
        <p:nvSpPr>
          <p:cNvPr id="3" name="Shape 1"/>
          <p:cNvSpPr/>
          <p:nvPr/>
        </p:nvSpPr>
        <p:spPr>
          <a:xfrm>
            <a:off x="0" y="0"/>
            <a:ext cx="9144000" cy="685800"/>
          </a:xfrm>
          <a:prstGeom prst="rect">
            <a:avLst/>
          </a:prstGeom>
          <a:solidFill>
            <a:srgbClr val="185FA5"/>
          </a:solidFill>
          <a:ln w="12700">
            <a:solidFill>
              <a:srgbClr val="185FA5"/>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indent="0" marL="0">
              <a:buNone/>
            </a:pPr>
            <a:r>
              <a:rPr lang="en-US" sz="2400" b="1" dirty="0">
                <a:solidFill>
                  <a:srgbClr val="FFFFFF"/>
                </a:solidFill>
              </a:rPr>
              <a:t>Directional Terms: Midline, Sides &amp; Limb Terms</a:t>
            </a:r>
            <a:endParaRPr lang="en-US" sz="2400" dirty="0"/>
          </a:p>
        </p:txBody>
      </p:sp>
      <p:sp>
        <p:nvSpPr>
          <p:cNvPr id="5" name="Shape 3"/>
          <p:cNvSpPr/>
          <p:nvPr/>
        </p:nvSpPr>
        <p:spPr>
          <a:xfrm>
            <a:off x="347472" y="804672"/>
            <a:ext cx="2724912" cy="1993392"/>
          </a:xfrm>
          <a:prstGeom prst="rect">
            <a:avLst/>
          </a:prstGeom>
          <a:solidFill>
            <a:srgbClr val="EDE0FA"/>
          </a:solidFill>
          <a:ln w="12700">
            <a:solidFill>
              <a:srgbClr val="7B3FA0"/>
            </a:solidFill>
            <a:prstDash val="solid"/>
          </a:ln>
        </p:spPr>
      </p:sp>
      <p:sp>
        <p:nvSpPr>
          <p:cNvPr id="6" name="Shape 4"/>
          <p:cNvSpPr/>
          <p:nvPr/>
        </p:nvSpPr>
        <p:spPr>
          <a:xfrm>
            <a:off x="347472" y="804672"/>
            <a:ext cx="73152" cy="1993392"/>
          </a:xfrm>
          <a:prstGeom prst="rect">
            <a:avLst/>
          </a:prstGeom>
          <a:solidFill>
            <a:srgbClr val="7B3FA0"/>
          </a:solidFill>
          <a:ln w="12700">
            <a:solidFill>
              <a:srgbClr val="7B3FA0"/>
            </a:solidFill>
            <a:prstDash val="solid"/>
          </a:ln>
        </p:spPr>
      </p:sp>
      <p:sp>
        <p:nvSpPr>
          <p:cNvPr id="7" name="Text 5"/>
          <p:cNvSpPr/>
          <p:nvPr/>
        </p:nvSpPr>
        <p:spPr>
          <a:xfrm>
            <a:off x="493776" y="877824"/>
            <a:ext cx="2468880" cy="274320"/>
          </a:xfrm>
          <a:prstGeom prst="rect">
            <a:avLst/>
          </a:prstGeom>
          <a:noFill/>
          <a:ln/>
        </p:spPr>
        <p:txBody>
          <a:bodyPr wrap="square" rtlCol="0" anchor="ctr"/>
          <a:lstStyle/>
          <a:p>
            <a:pPr indent="0" marL="0">
              <a:buNone/>
            </a:pPr>
            <a:r>
              <a:rPr lang="en-US" sz="1300" b="1" dirty="0">
                <a:solidFill>
                  <a:srgbClr val="7B3FA0"/>
                </a:solidFill>
              </a:rPr>
              <a:t>Medial (medi/o)</a:t>
            </a:r>
            <a:endParaRPr lang="en-US" sz="1300" dirty="0"/>
          </a:p>
        </p:txBody>
      </p:sp>
      <p:sp>
        <p:nvSpPr>
          <p:cNvPr id="8" name="Text 6"/>
          <p:cNvSpPr/>
          <p:nvPr/>
        </p:nvSpPr>
        <p:spPr>
          <a:xfrm>
            <a:off x="493776" y="1216152"/>
            <a:ext cx="2468880" cy="1508760"/>
          </a:xfrm>
          <a:prstGeom prst="rect">
            <a:avLst/>
          </a:prstGeom>
          <a:noFill/>
          <a:ln/>
        </p:spPr>
        <p:txBody>
          <a:bodyPr wrap="square" rtlCol="0" anchor="ctr"/>
          <a:lstStyle/>
          <a:p>
            <a:pPr indent="0" marL="0">
              <a:buNone/>
            </a:pPr>
            <a:r>
              <a:rPr lang="en-US" sz="1050" dirty="0">
                <a:solidFill>
                  <a:srgbClr val="12203A"/>
                </a:solidFill>
              </a:rPr>
              <a:t>Toward the midline of the body. medi/o + -al. Example: the big toe is MEDIAL to the little toe; the nose is MEDIAL to the eyes; the sternum is MEDIAL to the ribs.</a:t>
            </a:r>
            <a:endParaRPr lang="en-US" sz="1050" dirty="0"/>
          </a:p>
        </p:txBody>
      </p:sp>
      <p:sp>
        <p:nvSpPr>
          <p:cNvPr id="9" name="Shape 7"/>
          <p:cNvSpPr/>
          <p:nvPr/>
        </p:nvSpPr>
        <p:spPr>
          <a:xfrm>
            <a:off x="347472" y="2907792"/>
            <a:ext cx="2724912" cy="1993392"/>
          </a:xfrm>
          <a:prstGeom prst="rect">
            <a:avLst/>
          </a:prstGeom>
          <a:solidFill>
            <a:srgbClr val="EDE0FA"/>
          </a:solidFill>
          <a:ln w="12700">
            <a:solidFill>
              <a:srgbClr val="7B3FA0"/>
            </a:solidFill>
            <a:prstDash val="solid"/>
          </a:ln>
        </p:spPr>
      </p:sp>
      <p:sp>
        <p:nvSpPr>
          <p:cNvPr id="10" name="Shape 8"/>
          <p:cNvSpPr/>
          <p:nvPr/>
        </p:nvSpPr>
        <p:spPr>
          <a:xfrm>
            <a:off x="347472" y="2907792"/>
            <a:ext cx="73152" cy="1993392"/>
          </a:xfrm>
          <a:prstGeom prst="rect">
            <a:avLst/>
          </a:prstGeom>
          <a:solidFill>
            <a:srgbClr val="7B3FA0"/>
          </a:solidFill>
          <a:ln w="12700">
            <a:solidFill>
              <a:srgbClr val="7B3FA0"/>
            </a:solidFill>
            <a:prstDash val="solid"/>
          </a:ln>
        </p:spPr>
      </p:sp>
      <p:sp>
        <p:nvSpPr>
          <p:cNvPr id="11" name="Text 9"/>
          <p:cNvSpPr/>
          <p:nvPr/>
        </p:nvSpPr>
        <p:spPr>
          <a:xfrm>
            <a:off x="493776" y="2980944"/>
            <a:ext cx="2468880" cy="274320"/>
          </a:xfrm>
          <a:prstGeom prst="rect">
            <a:avLst/>
          </a:prstGeom>
          <a:noFill/>
          <a:ln/>
        </p:spPr>
        <p:txBody>
          <a:bodyPr wrap="square" rtlCol="0" anchor="ctr"/>
          <a:lstStyle/>
          <a:p>
            <a:pPr indent="0" marL="0">
              <a:buNone/>
            </a:pPr>
            <a:r>
              <a:rPr lang="en-US" sz="1300" b="1" dirty="0">
                <a:solidFill>
                  <a:srgbClr val="7B3FA0"/>
                </a:solidFill>
              </a:rPr>
              <a:t>Lateral (later/o)</a:t>
            </a:r>
            <a:endParaRPr lang="en-US" sz="1300" dirty="0"/>
          </a:p>
        </p:txBody>
      </p:sp>
      <p:sp>
        <p:nvSpPr>
          <p:cNvPr id="12" name="Text 10"/>
          <p:cNvSpPr/>
          <p:nvPr/>
        </p:nvSpPr>
        <p:spPr>
          <a:xfrm>
            <a:off x="493776" y="3319272"/>
            <a:ext cx="2468880" cy="1508760"/>
          </a:xfrm>
          <a:prstGeom prst="rect">
            <a:avLst/>
          </a:prstGeom>
          <a:noFill/>
          <a:ln/>
        </p:spPr>
        <p:txBody>
          <a:bodyPr wrap="square" rtlCol="0" anchor="ctr"/>
          <a:lstStyle/>
          <a:p>
            <a:pPr indent="0" marL="0">
              <a:buNone/>
            </a:pPr>
            <a:r>
              <a:rPr lang="en-US" sz="1050" dirty="0">
                <a:solidFill>
                  <a:srgbClr val="12203A"/>
                </a:solidFill>
              </a:rPr>
              <a:t>Away from the midline, toward the side. later/o + -al. Example: the little toe is LATERAL to the big toe; the ears are LATERAL to the nose. Lateral is always AWAY from center.</a:t>
            </a:r>
            <a:endParaRPr lang="en-US" sz="1050" dirty="0"/>
          </a:p>
        </p:txBody>
      </p:sp>
      <p:sp>
        <p:nvSpPr>
          <p:cNvPr id="13" name="Shape 11"/>
          <p:cNvSpPr/>
          <p:nvPr/>
        </p:nvSpPr>
        <p:spPr>
          <a:xfrm>
            <a:off x="3200400" y="804672"/>
            <a:ext cx="2724912" cy="1993392"/>
          </a:xfrm>
          <a:prstGeom prst="rect">
            <a:avLst/>
          </a:prstGeom>
          <a:solidFill>
            <a:srgbClr val="FDECEA"/>
          </a:solidFill>
          <a:ln w="12700">
            <a:solidFill>
              <a:srgbClr val="A32D2D"/>
            </a:solidFill>
            <a:prstDash val="solid"/>
          </a:ln>
        </p:spPr>
      </p:sp>
      <p:sp>
        <p:nvSpPr>
          <p:cNvPr id="14" name="Shape 12"/>
          <p:cNvSpPr/>
          <p:nvPr/>
        </p:nvSpPr>
        <p:spPr>
          <a:xfrm>
            <a:off x="3200400" y="804672"/>
            <a:ext cx="73152" cy="1993392"/>
          </a:xfrm>
          <a:prstGeom prst="rect">
            <a:avLst/>
          </a:prstGeom>
          <a:solidFill>
            <a:srgbClr val="A32D2D"/>
          </a:solidFill>
          <a:ln w="12700">
            <a:solidFill>
              <a:srgbClr val="A32D2D"/>
            </a:solidFill>
            <a:prstDash val="solid"/>
          </a:ln>
        </p:spPr>
      </p:sp>
      <p:sp>
        <p:nvSpPr>
          <p:cNvPr id="15" name="Text 13"/>
          <p:cNvSpPr/>
          <p:nvPr/>
        </p:nvSpPr>
        <p:spPr>
          <a:xfrm>
            <a:off x="3346704" y="877824"/>
            <a:ext cx="2468880" cy="274320"/>
          </a:xfrm>
          <a:prstGeom prst="rect">
            <a:avLst/>
          </a:prstGeom>
          <a:noFill/>
          <a:ln/>
        </p:spPr>
        <p:txBody>
          <a:bodyPr wrap="square" rtlCol="0" anchor="ctr"/>
          <a:lstStyle/>
          <a:p>
            <a:pPr indent="0" marL="0">
              <a:buNone/>
            </a:pPr>
            <a:r>
              <a:rPr lang="en-US" sz="1300" b="1" dirty="0">
                <a:solidFill>
                  <a:srgbClr val="A32D2D"/>
                </a:solidFill>
              </a:rPr>
              <a:t>Ipsilateral (ipsi-)</a:t>
            </a:r>
            <a:endParaRPr lang="en-US" sz="1300" dirty="0"/>
          </a:p>
        </p:txBody>
      </p:sp>
      <p:sp>
        <p:nvSpPr>
          <p:cNvPr id="16" name="Text 14"/>
          <p:cNvSpPr/>
          <p:nvPr/>
        </p:nvSpPr>
        <p:spPr>
          <a:xfrm>
            <a:off x="3346704" y="1216152"/>
            <a:ext cx="2468880" cy="1508760"/>
          </a:xfrm>
          <a:prstGeom prst="rect">
            <a:avLst/>
          </a:prstGeom>
          <a:noFill/>
          <a:ln/>
        </p:spPr>
        <p:txBody>
          <a:bodyPr wrap="square" rtlCol="0" anchor="ctr"/>
          <a:lstStyle/>
          <a:p>
            <a:pPr indent="0" marL="0">
              <a:buNone/>
            </a:pPr>
            <a:r>
              <a:rPr lang="en-US" sz="1050" dirty="0">
                <a:solidFill>
                  <a:srgbClr val="12203A"/>
                </a:solidFill>
              </a:rPr>
              <a:t>On the SAME side. ipsi- = same (Latin). Example: the right arm and right leg are ipsilateral to each other. Most cranial nerve functions are ipsilateral (CN III controls ipsilateral eye movements).</a:t>
            </a:r>
            <a:endParaRPr lang="en-US" sz="1050" dirty="0"/>
          </a:p>
        </p:txBody>
      </p:sp>
      <p:sp>
        <p:nvSpPr>
          <p:cNvPr id="17" name="Shape 15"/>
          <p:cNvSpPr/>
          <p:nvPr/>
        </p:nvSpPr>
        <p:spPr>
          <a:xfrm>
            <a:off x="3200400" y="2907792"/>
            <a:ext cx="2724912" cy="1993392"/>
          </a:xfrm>
          <a:prstGeom prst="rect">
            <a:avLst/>
          </a:prstGeom>
          <a:solidFill>
            <a:srgbClr val="FDECEA"/>
          </a:solidFill>
          <a:ln w="12700">
            <a:solidFill>
              <a:srgbClr val="A32D2D"/>
            </a:solidFill>
            <a:prstDash val="solid"/>
          </a:ln>
        </p:spPr>
      </p:sp>
      <p:sp>
        <p:nvSpPr>
          <p:cNvPr id="18" name="Shape 16"/>
          <p:cNvSpPr/>
          <p:nvPr/>
        </p:nvSpPr>
        <p:spPr>
          <a:xfrm>
            <a:off x="3200400" y="2907792"/>
            <a:ext cx="73152" cy="1993392"/>
          </a:xfrm>
          <a:prstGeom prst="rect">
            <a:avLst/>
          </a:prstGeom>
          <a:solidFill>
            <a:srgbClr val="A32D2D"/>
          </a:solidFill>
          <a:ln w="12700">
            <a:solidFill>
              <a:srgbClr val="A32D2D"/>
            </a:solidFill>
            <a:prstDash val="solid"/>
          </a:ln>
        </p:spPr>
      </p:sp>
      <p:sp>
        <p:nvSpPr>
          <p:cNvPr id="19" name="Text 17"/>
          <p:cNvSpPr/>
          <p:nvPr/>
        </p:nvSpPr>
        <p:spPr>
          <a:xfrm>
            <a:off x="3346704" y="2980944"/>
            <a:ext cx="2468880" cy="274320"/>
          </a:xfrm>
          <a:prstGeom prst="rect">
            <a:avLst/>
          </a:prstGeom>
          <a:noFill/>
          <a:ln/>
        </p:spPr>
        <p:txBody>
          <a:bodyPr wrap="square" rtlCol="0" anchor="ctr"/>
          <a:lstStyle/>
          <a:p>
            <a:pPr indent="0" marL="0">
              <a:buNone/>
            </a:pPr>
            <a:r>
              <a:rPr lang="en-US" sz="1300" b="1" dirty="0">
                <a:solidFill>
                  <a:srgbClr val="A32D2D"/>
                </a:solidFill>
              </a:rPr>
              <a:t>Contralateral (contra-)</a:t>
            </a:r>
            <a:endParaRPr lang="en-US" sz="1300" dirty="0"/>
          </a:p>
        </p:txBody>
      </p:sp>
      <p:sp>
        <p:nvSpPr>
          <p:cNvPr id="20" name="Text 18"/>
          <p:cNvSpPr/>
          <p:nvPr/>
        </p:nvSpPr>
        <p:spPr>
          <a:xfrm>
            <a:off x="3346704" y="3319272"/>
            <a:ext cx="2468880" cy="1508760"/>
          </a:xfrm>
          <a:prstGeom prst="rect">
            <a:avLst/>
          </a:prstGeom>
          <a:noFill/>
          <a:ln/>
        </p:spPr>
        <p:txBody>
          <a:bodyPr wrap="square" rtlCol="0" anchor="ctr"/>
          <a:lstStyle/>
          <a:p>
            <a:pPr indent="0" marL="0">
              <a:buNone/>
            </a:pPr>
            <a:r>
              <a:rPr lang="en-US" sz="1050" dirty="0">
                <a:solidFill>
                  <a:srgbClr val="12203A"/>
                </a:solidFill>
              </a:rPr>
              <a:t>On the OPPOSITE side. contra- = against/opposite. Example: most brain strokes cause contralateral motor deficits — right hemisphere stroke → left-sided weakness. The brain controls the OPPOSITE side of the body.</a:t>
            </a:r>
            <a:endParaRPr lang="en-US" sz="1050" dirty="0"/>
          </a:p>
        </p:txBody>
      </p:sp>
      <p:sp>
        <p:nvSpPr>
          <p:cNvPr id="21" name="Shape 19"/>
          <p:cNvSpPr/>
          <p:nvPr/>
        </p:nvSpPr>
        <p:spPr>
          <a:xfrm>
            <a:off x="6053328" y="804672"/>
            <a:ext cx="2724912" cy="1993392"/>
          </a:xfrm>
          <a:prstGeom prst="rect">
            <a:avLst/>
          </a:prstGeom>
          <a:solidFill>
            <a:srgbClr val="D4EDDA"/>
          </a:solidFill>
          <a:ln w="12700">
            <a:solidFill>
              <a:srgbClr val="0F6E56"/>
            </a:solidFill>
            <a:prstDash val="solid"/>
          </a:ln>
        </p:spPr>
      </p:sp>
      <p:sp>
        <p:nvSpPr>
          <p:cNvPr id="22" name="Shape 20"/>
          <p:cNvSpPr/>
          <p:nvPr/>
        </p:nvSpPr>
        <p:spPr>
          <a:xfrm>
            <a:off x="6053328" y="804672"/>
            <a:ext cx="73152" cy="1993392"/>
          </a:xfrm>
          <a:prstGeom prst="rect">
            <a:avLst/>
          </a:prstGeom>
          <a:solidFill>
            <a:srgbClr val="0F6E56"/>
          </a:solidFill>
          <a:ln w="12700">
            <a:solidFill>
              <a:srgbClr val="0F6E56"/>
            </a:solidFill>
            <a:prstDash val="solid"/>
          </a:ln>
        </p:spPr>
      </p:sp>
      <p:sp>
        <p:nvSpPr>
          <p:cNvPr id="23" name="Text 21"/>
          <p:cNvSpPr/>
          <p:nvPr/>
        </p:nvSpPr>
        <p:spPr>
          <a:xfrm>
            <a:off x="6199632" y="877824"/>
            <a:ext cx="2468880" cy="274320"/>
          </a:xfrm>
          <a:prstGeom prst="rect">
            <a:avLst/>
          </a:prstGeom>
          <a:noFill/>
          <a:ln/>
        </p:spPr>
        <p:txBody>
          <a:bodyPr wrap="square" rtlCol="0" anchor="ctr"/>
          <a:lstStyle/>
          <a:p>
            <a:pPr indent="0" marL="0">
              <a:buNone/>
            </a:pPr>
            <a:r>
              <a:rPr lang="en-US" sz="1300" b="1" dirty="0">
                <a:solidFill>
                  <a:srgbClr val="0F6E56"/>
                </a:solidFill>
              </a:rPr>
              <a:t>Unilateral (uni-)</a:t>
            </a:r>
            <a:endParaRPr lang="en-US" sz="1300" dirty="0"/>
          </a:p>
        </p:txBody>
      </p:sp>
      <p:sp>
        <p:nvSpPr>
          <p:cNvPr id="24" name="Text 22"/>
          <p:cNvSpPr/>
          <p:nvPr/>
        </p:nvSpPr>
        <p:spPr>
          <a:xfrm>
            <a:off x="6199632" y="1216152"/>
            <a:ext cx="2468880" cy="1508760"/>
          </a:xfrm>
          <a:prstGeom prst="rect">
            <a:avLst/>
          </a:prstGeom>
          <a:noFill/>
          <a:ln/>
        </p:spPr>
        <p:txBody>
          <a:bodyPr wrap="square" rtlCol="0" anchor="ctr"/>
          <a:lstStyle/>
          <a:p>
            <a:pPr indent="0" marL="0">
              <a:buNone/>
            </a:pPr>
            <a:r>
              <a:rPr lang="en-US" sz="1050" dirty="0">
                <a:solidFill>
                  <a:srgbClr val="12203A"/>
                </a:solidFill>
              </a:rPr>
              <a:t>Affecting ONE side only. uni- = one (like unicycle = 1 wheel). Example: unilateral hearing loss (one ear affected). Unilateral leg weakness suggests ipsilateral spinal cord pathology.</a:t>
            </a:r>
            <a:endParaRPr lang="en-US" sz="1050" dirty="0"/>
          </a:p>
        </p:txBody>
      </p:sp>
      <p:sp>
        <p:nvSpPr>
          <p:cNvPr id="25" name="Shape 23"/>
          <p:cNvSpPr/>
          <p:nvPr/>
        </p:nvSpPr>
        <p:spPr>
          <a:xfrm>
            <a:off x="6053328" y="2907792"/>
            <a:ext cx="2724912" cy="1993392"/>
          </a:xfrm>
          <a:prstGeom prst="rect">
            <a:avLst/>
          </a:prstGeom>
          <a:solidFill>
            <a:srgbClr val="D4EDDA"/>
          </a:solidFill>
          <a:ln w="12700">
            <a:solidFill>
              <a:srgbClr val="0F6E56"/>
            </a:solidFill>
            <a:prstDash val="solid"/>
          </a:ln>
        </p:spPr>
      </p:sp>
      <p:sp>
        <p:nvSpPr>
          <p:cNvPr id="26" name="Shape 24"/>
          <p:cNvSpPr/>
          <p:nvPr/>
        </p:nvSpPr>
        <p:spPr>
          <a:xfrm>
            <a:off x="6053328" y="2907792"/>
            <a:ext cx="73152" cy="1993392"/>
          </a:xfrm>
          <a:prstGeom prst="rect">
            <a:avLst/>
          </a:prstGeom>
          <a:solidFill>
            <a:srgbClr val="0F6E56"/>
          </a:solidFill>
          <a:ln w="12700">
            <a:solidFill>
              <a:srgbClr val="0F6E56"/>
            </a:solidFill>
            <a:prstDash val="solid"/>
          </a:ln>
        </p:spPr>
      </p:sp>
      <p:sp>
        <p:nvSpPr>
          <p:cNvPr id="27" name="Text 25"/>
          <p:cNvSpPr/>
          <p:nvPr/>
        </p:nvSpPr>
        <p:spPr>
          <a:xfrm>
            <a:off x="6199632" y="2980944"/>
            <a:ext cx="2468880" cy="274320"/>
          </a:xfrm>
          <a:prstGeom prst="rect">
            <a:avLst/>
          </a:prstGeom>
          <a:noFill/>
          <a:ln/>
        </p:spPr>
        <p:txBody>
          <a:bodyPr wrap="square" rtlCol="0" anchor="ctr"/>
          <a:lstStyle/>
          <a:p>
            <a:pPr indent="0" marL="0">
              <a:buNone/>
            </a:pPr>
            <a:r>
              <a:rPr lang="en-US" sz="1300" b="1" dirty="0">
                <a:solidFill>
                  <a:srgbClr val="0F6E56"/>
                </a:solidFill>
              </a:rPr>
              <a:t>Bilateral (bi-)</a:t>
            </a:r>
            <a:endParaRPr lang="en-US" sz="1300" dirty="0"/>
          </a:p>
        </p:txBody>
      </p:sp>
      <p:sp>
        <p:nvSpPr>
          <p:cNvPr id="28" name="Text 26"/>
          <p:cNvSpPr/>
          <p:nvPr/>
        </p:nvSpPr>
        <p:spPr>
          <a:xfrm>
            <a:off x="6199632" y="3319272"/>
            <a:ext cx="2468880" cy="1508760"/>
          </a:xfrm>
          <a:prstGeom prst="rect">
            <a:avLst/>
          </a:prstGeom>
          <a:noFill/>
          <a:ln/>
        </p:spPr>
        <p:txBody>
          <a:bodyPr wrap="square" rtlCol="0" anchor="ctr"/>
          <a:lstStyle/>
          <a:p>
            <a:pPr indent="0" marL="0">
              <a:buNone/>
            </a:pPr>
            <a:r>
              <a:rPr lang="en-US" sz="1050" dirty="0">
                <a:solidFill>
                  <a:srgbClr val="12203A"/>
                </a:solidFill>
              </a:rPr>
              <a:t>Affecting BOTH sides. bi- = two (like bicycle = 2 wheels). Example: bilateral knee pain (both knees). ⚠ bi- (two) ≠ bi/o (life/living). Also: proximal and distal describe limb positions relative to the point of origin.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8</a:t>
            </a:r>
            <a:endParaRPr lang="en-US" sz="900" dirty="0"/>
          </a:p>
        </p:txBody>
      </p:sp>
      <p:sp>
        <p:nvSpPr>
          <p:cNvPr id="3" name="Shape 1"/>
          <p:cNvSpPr/>
          <p:nvPr/>
        </p:nvSpPr>
        <p:spPr>
          <a:xfrm>
            <a:off x="0" y="0"/>
            <a:ext cx="9144000" cy="685800"/>
          </a:xfrm>
          <a:prstGeom prst="rect">
            <a:avLst/>
          </a:prstGeom>
          <a:solidFill>
            <a:srgbClr val="0F6E56"/>
          </a:solidFill>
          <a:ln w="12700">
            <a:solidFill>
              <a:srgbClr val="0F6E56"/>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indent="0" marL="0">
              <a:buNone/>
            </a:pPr>
            <a:r>
              <a:rPr lang="en-US" sz="2400" b="1" dirty="0">
                <a:solidFill>
                  <a:srgbClr val="FFFFFF"/>
                </a:solidFill>
              </a:rPr>
              <a:t>Directional Terms: Depth, Position &amp; Additional</a:t>
            </a:r>
            <a:endParaRPr lang="en-US" sz="2400" dirty="0"/>
          </a:p>
        </p:txBody>
      </p:sp>
      <p:sp>
        <p:nvSpPr>
          <p:cNvPr id="5" name="Shape 3"/>
          <p:cNvSpPr/>
          <p:nvPr/>
        </p:nvSpPr>
        <p:spPr>
          <a:xfrm>
            <a:off x="365760" y="795528"/>
            <a:ext cx="8412480" cy="502920"/>
          </a:xfrm>
          <a:prstGeom prst="rect">
            <a:avLst/>
          </a:prstGeom>
          <a:solidFill>
            <a:srgbClr val="D4EDDA"/>
          </a:solidFill>
          <a:ln w="12700">
            <a:solidFill>
              <a:srgbClr val="DDDDDD"/>
            </a:solidFill>
            <a:prstDash val="solid"/>
          </a:ln>
        </p:spPr>
      </p:sp>
      <p:sp>
        <p:nvSpPr>
          <p:cNvPr id="6" name="Shape 4"/>
          <p:cNvSpPr/>
          <p:nvPr/>
        </p:nvSpPr>
        <p:spPr>
          <a:xfrm>
            <a:off x="365760" y="795528"/>
            <a:ext cx="73152" cy="502920"/>
          </a:xfrm>
          <a:prstGeom prst="rect">
            <a:avLst/>
          </a:prstGeom>
          <a:solidFill>
            <a:srgbClr val="0F6E56"/>
          </a:solidFill>
          <a:ln w="12700">
            <a:solidFill>
              <a:srgbClr val="0F6E56"/>
            </a:solidFill>
            <a:prstDash val="solid"/>
          </a:ln>
        </p:spPr>
      </p:sp>
      <p:sp>
        <p:nvSpPr>
          <p:cNvPr id="7" name="Text 5"/>
          <p:cNvSpPr/>
          <p:nvPr/>
        </p:nvSpPr>
        <p:spPr>
          <a:xfrm>
            <a:off x="530352" y="850392"/>
            <a:ext cx="1920240" cy="226588"/>
          </a:xfrm>
          <a:prstGeom prst="rect">
            <a:avLst/>
          </a:prstGeom>
          <a:noFill/>
          <a:ln/>
        </p:spPr>
        <p:txBody>
          <a:bodyPr wrap="square" rtlCol="0" anchor="ctr"/>
          <a:lstStyle/>
          <a:p>
            <a:pPr indent="0" marL="0">
              <a:buNone/>
            </a:pPr>
            <a:r>
              <a:rPr lang="en-US" sz="1300" b="1" i="1" dirty="0">
                <a:solidFill>
                  <a:srgbClr val="0F6E56"/>
                </a:solidFill>
              </a:rPr>
              <a:t>Superficial</a:t>
            </a:r>
            <a:endParaRPr lang="en-US" sz="1300" dirty="0"/>
          </a:p>
        </p:txBody>
      </p:sp>
      <p:sp>
        <p:nvSpPr>
          <p:cNvPr id="8" name="Text 6"/>
          <p:cNvSpPr/>
          <p:nvPr/>
        </p:nvSpPr>
        <p:spPr>
          <a:xfrm>
            <a:off x="530352" y="1049091"/>
            <a:ext cx="1920240" cy="248168"/>
          </a:xfrm>
          <a:prstGeom prst="rect">
            <a:avLst/>
          </a:prstGeom>
          <a:noFill/>
          <a:ln/>
        </p:spPr>
        <p:txBody>
          <a:bodyPr wrap="square" rtlCol="0" anchor="ctr"/>
          <a:lstStyle/>
          <a:p>
            <a:pPr indent="0" marL="0">
              <a:buNone/>
            </a:pPr>
            <a:r>
              <a:rPr lang="en-US" sz="950" i="1" dirty="0">
                <a:solidFill>
                  <a:srgbClr val="4A5568"/>
                </a:solidFill>
              </a:rPr>
              <a:t>toward body surface</a:t>
            </a:r>
            <a:endParaRPr lang="en-US" sz="950" dirty="0"/>
          </a:p>
        </p:txBody>
      </p:sp>
      <p:sp>
        <p:nvSpPr>
          <p:cNvPr id="9" name="Text 7"/>
          <p:cNvSpPr/>
          <p:nvPr/>
        </p:nvSpPr>
        <p:spPr>
          <a:xfrm>
            <a:off x="2560320" y="868680"/>
            <a:ext cx="6126480" cy="374904"/>
          </a:xfrm>
          <a:prstGeom prst="rect">
            <a:avLst/>
          </a:prstGeom>
          <a:noFill/>
          <a:ln/>
        </p:spPr>
        <p:txBody>
          <a:bodyPr wrap="square" rtlCol="0" anchor="ctr"/>
          <a:lstStyle/>
          <a:p>
            <a:pPr indent="0" marL="0">
              <a:buNone/>
            </a:pPr>
            <a:r>
              <a:rPr lang="en-US" sz="1100" dirty="0">
                <a:solidFill>
                  <a:srgbClr val="12203A"/>
                </a:solidFill>
              </a:rPr>
              <a:t>Superficial laceration = involves only the skin layer. Superficial veins (subcutaneous veins — seen under skin). The skin is superficial to the muscles; muscles are superficial to bones.</a:t>
            </a:r>
            <a:endParaRPr lang="en-US" sz="1100" dirty="0"/>
          </a:p>
        </p:txBody>
      </p:sp>
      <p:sp>
        <p:nvSpPr>
          <p:cNvPr id="10" name="Shape 8"/>
          <p:cNvSpPr/>
          <p:nvPr/>
        </p:nvSpPr>
        <p:spPr>
          <a:xfrm>
            <a:off x="365760" y="1335024"/>
            <a:ext cx="8412480" cy="502920"/>
          </a:xfrm>
          <a:prstGeom prst="rect">
            <a:avLst/>
          </a:prstGeom>
          <a:solidFill>
            <a:srgbClr val="FAF7FD"/>
          </a:solidFill>
          <a:ln w="12700">
            <a:solidFill>
              <a:srgbClr val="DDDDDD"/>
            </a:solidFill>
            <a:prstDash val="solid"/>
          </a:ln>
        </p:spPr>
      </p:sp>
      <p:sp>
        <p:nvSpPr>
          <p:cNvPr id="11" name="Shape 9"/>
          <p:cNvSpPr/>
          <p:nvPr/>
        </p:nvSpPr>
        <p:spPr>
          <a:xfrm>
            <a:off x="365760" y="1335024"/>
            <a:ext cx="73152" cy="502920"/>
          </a:xfrm>
          <a:prstGeom prst="rect">
            <a:avLst/>
          </a:prstGeom>
          <a:solidFill>
            <a:srgbClr val="0F6E56"/>
          </a:solidFill>
          <a:ln w="12700">
            <a:solidFill>
              <a:srgbClr val="0F6E56"/>
            </a:solidFill>
            <a:prstDash val="solid"/>
          </a:ln>
        </p:spPr>
      </p:sp>
      <p:sp>
        <p:nvSpPr>
          <p:cNvPr id="12" name="Text 10"/>
          <p:cNvSpPr/>
          <p:nvPr/>
        </p:nvSpPr>
        <p:spPr>
          <a:xfrm>
            <a:off x="530352" y="1389888"/>
            <a:ext cx="1920240" cy="226588"/>
          </a:xfrm>
          <a:prstGeom prst="rect">
            <a:avLst/>
          </a:prstGeom>
          <a:noFill/>
          <a:ln/>
        </p:spPr>
        <p:txBody>
          <a:bodyPr wrap="square" rtlCol="0" anchor="ctr"/>
          <a:lstStyle/>
          <a:p>
            <a:pPr indent="0" marL="0">
              <a:buNone/>
            </a:pPr>
            <a:r>
              <a:rPr lang="en-US" sz="1300" b="1" i="1" dirty="0">
                <a:solidFill>
                  <a:srgbClr val="0F6E56"/>
                </a:solidFill>
              </a:rPr>
              <a:t>Deep</a:t>
            </a:r>
            <a:endParaRPr lang="en-US" sz="1300" dirty="0"/>
          </a:p>
        </p:txBody>
      </p:sp>
      <p:sp>
        <p:nvSpPr>
          <p:cNvPr id="13" name="Text 11"/>
          <p:cNvSpPr/>
          <p:nvPr/>
        </p:nvSpPr>
        <p:spPr>
          <a:xfrm>
            <a:off x="530352" y="1588587"/>
            <a:ext cx="1920240" cy="248168"/>
          </a:xfrm>
          <a:prstGeom prst="rect">
            <a:avLst/>
          </a:prstGeom>
          <a:noFill/>
          <a:ln/>
        </p:spPr>
        <p:txBody>
          <a:bodyPr wrap="square" rtlCol="0" anchor="ctr"/>
          <a:lstStyle/>
          <a:p>
            <a:pPr indent="0" marL="0">
              <a:buNone/>
            </a:pPr>
            <a:r>
              <a:rPr lang="en-US" sz="950" i="1" dirty="0">
                <a:solidFill>
                  <a:srgbClr val="4A5568"/>
                </a:solidFill>
              </a:rPr>
              <a:t>away from surface, toward interior</a:t>
            </a:r>
            <a:endParaRPr lang="en-US" sz="950" dirty="0"/>
          </a:p>
        </p:txBody>
      </p:sp>
      <p:sp>
        <p:nvSpPr>
          <p:cNvPr id="14" name="Text 12"/>
          <p:cNvSpPr/>
          <p:nvPr/>
        </p:nvSpPr>
        <p:spPr>
          <a:xfrm>
            <a:off x="2560320" y="1408176"/>
            <a:ext cx="6126480" cy="374904"/>
          </a:xfrm>
          <a:prstGeom prst="rect">
            <a:avLst/>
          </a:prstGeom>
          <a:noFill/>
          <a:ln/>
        </p:spPr>
        <p:txBody>
          <a:bodyPr wrap="square" rtlCol="0" anchor="ctr"/>
          <a:lstStyle/>
          <a:p>
            <a:pPr indent="0" marL="0">
              <a:buNone/>
            </a:pPr>
            <a:r>
              <a:rPr lang="en-US" sz="1100" dirty="0">
                <a:solidFill>
                  <a:srgbClr val="12203A"/>
                </a:solidFill>
              </a:rPr>
              <a:t>Deep wound = reaches into muscle layer or beyond. Deep veins (inside the muscle compartment). Bones and internal organs are deep. Deep vein thrombosis (DVT) = clot in deep veins.</a:t>
            </a:r>
            <a:endParaRPr lang="en-US" sz="1100" dirty="0"/>
          </a:p>
        </p:txBody>
      </p:sp>
      <p:sp>
        <p:nvSpPr>
          <p:cNvPr id="15" name="Shape 13"/>
          <p:cNvSpPr/>
          <p:nvPr/>
        </p:nvSpPr>
        <p:spPr>
          <a:xfrm>
            <a:off x="365760" y="1874520"/>
            <a:ext cx="8412480" cy="502920"/>
          </a:xfrm>
          <a:prstGeom prst="rect">
            <a:avLst/>
          </a:prstGeom>
          <a:solidFill>
            <a:srgbClr val="D4EDDA"/>
          </a:solidFill>
          <a:ln w="12700">
            <a:solidFill>
              <a:srgbClr val="DDDDDD"/>
            </a:solidFill>
            <a:prstDash val="solid"/>
          </a:ln>
        </p:spPr>
      </p:sp>
      <p:sp>
        <p:nvSpPr>
          <p:cNvPr id="16" name="Shape 14"/>
          <p:cNvSpPr/>
          <p:nvPr/>
        </p:nvSpPr>
        <p:spPr>
          <a:xfrm>
            <a:off x="365760" y="1874520"/>
            <a:ext cx="73152" cy="502920"/>
          </a:xfrm>
          <a:prstGeom prst="rect">
            <a:avLst/>
          </a:prstGeom>
          <a:solidFill>
            <a:srgbClr val="0F6E56"/>
          </a:solidFill>
          <a:ln w="12700">
            <a:solidFill>
              <a:srgbClr val="0F6E56"/>
            </a:solidFill>
            <a:prstDash val="solid"/>
          </a:ln>
        </p:spPr>
      </p:sp>
      <p:sp>
        <p:nvSpPr>
          <p:cNvPr id="17" name="Text 15"/>
          <p:cNvSpPr/>
          <p:nvPr/>
        </p:nvSpPr>
        <p:spPr>
          <a:xfrm>
            <a:off x="530352" y="1929384"/>
            <a:ext cx="1920240" cy="226588"/>
          </a:xfrm>
          <a:prstGeom prst="rect">
            <a:avLst/>
          </a:prstGeom>
          <a:noFill/>
          <a:ln/>
        </p:spPr>
        <p:txBody>
          <a:bodyPr wrap="square" rtlCol="0" anchor="ctr"/>
          <a:lstStyle/>
          <a:p>
            <a:pPr indent="0" marL="0">
              <a:buNone/>
            </a:pPr>
            <a:r>
              <a:rPr lang="en-US" sz="1300" b="1" i="1" dirty="0">
                <a:solidFill>
                  <a:srgbClr val="0F6E56"/>
                </a:solidFill>
              </a:rPr>
              <a:t>Supine</a:t>
            </a:r>
            <a:endParaRPr lang="en-US" sz="1300" dirty="0"/>
          </a:p>
        </p:txBody>
      </p:sp>
      <p:sp>
        <p:nvSpPr>
          <p:cNvPr id="18" name="Text 16"/>
          <p:cNvSpPr/>
          <p:nvPr/>
        </p:nvSpPr>
        <p:spPr>
          <a:xfrm>
            <a:off x="530352" y="2128083"/>
            <a:ext cx="1920240" cy="248168"/>
          </a:xfrm>
          <a:prstGeom prst="rect">
            <a:avLst/>
          </a:prstGeom>
          <a:noFill/>
          <a:ln/>
        </p:spPr>
        <p:txBody>
          <a:bodyPr wrap="square" rtlCol="0" anchor="ctr"/>
          <a:lstStyle/>
          <a:p>
            <a:pPr indent="0" marL="0">
              <a:buNone/>
            </a:pPr>
            <a:r>
              <a:rPr lang="en-US" sz="950" i="1" dirty="0">
                <a:solidFill>
                  <a:srgbClr val="4A5568"/>
                </a:solidFill>
              </a:rPr>
              <a:t>lying on the back, face up</a:t>
            </a:r>
            <a:endParaRPr lang="en-US" sz="950" dirty="0"/>
          </a:p>
        </p:txBody>
      </p:sp>
      <p:sp>
        <p:nvSpPr>
          <p:cNvPr id="19" name="Text 17"/>
          <p:cNvSpPr/>
          <p:nvPr/>
        </p:nvSpPr>
        <p:spPr>
          <a:xfrm>
            <a:off x="2560320" y="1947672"/>
            <a:ext cx="6126480" cy="374904"/>
          </a:xfrm>
          <a:prstGeom prst="rect">
            <a:avLst/>
          </a:prstGeom>
          <a:noFill/>
          <a:ln/>
        </p:spPr>
        <p:txBody>
          <a:bodyPr wrap="square" rtlCol="0" anchor="ctr"/>
          <a:lstStyle/>
          <a:p>
            <a:pPr indent="0" marL="0">
              <a:buNone/>
            </a:pPr>
            <a:r>
              <a:rPr lang="en-US" sz="1100" dirty="0">
                <a:solidFill>
                  <a:srgbClr val="12203A"/>
                </a:solidFill>
              </a:rPr>
              <a:t>Supine position used for abdominal exams, cardiac procedures, intubation. Palm face up = supinated. 'Supine hypotension' = BP drops when pregnant patients lie supine (inferior vena cava compression).</a:t>
            </a:r>
            <a:endParaRPr lang="en-US" sz="1100" dirty="0"/>
          </a:p>
        </p:txBody>
      </p:sp>
      <p:sp>
        <p:nvSpPr>
          <p:cNvPr id="20" name="Shape 18"/>
          <p:cNvSpPr/>
          <p:nvPr/>
        </p:nvSpPr>
        <p:spPr>
          <a:xfrm>
            <a:off x="365760" y="2414016"/>
            <a:ext cx="8412480" cy="502920"/>
          </a:xfrm>
          <a:prstGeom prst="rect">
            <a:avLst/>
          </a:prstGeom>
          <a:solidFill>
            <a:srgbClr val="FAF7FD"/>
          </a:solidFill>
          <a:ln w="12700">
            <a:solidFill>
              <a:srgbClr val="DDDDDD"/>
            </a:solidFill>
            <a:prstDash val="solid"/>
          </a:ln>
        </p:spPr>
      </p:sp>
      <p:sp>
        <p:nvSpPr>
          <p:cNvPr id="21" name="Shape 19"/>
          <p:cNvSpPr/>
          <p:nvPr/>
        </p:nvSpPr>
        <p:spPr>
          <a:xfrm>
            <a:off x="365760" y="2414016"/>
            <a:ext cx="73152" cy="502920"/>
          </a:xfrm>
          <a:prstGeom prst="rect">
            <a:avLst/>
          </a:prstGeom>
          <a:solidFill>
            <a:srgbClr val="0F6E56"/>
          </a:solidFill>
          <a:ln w="12700">
            <a:solidFill>
              <a:srgbClr val="0F6E56"/>
            </a:solidFill>
            <a:prstDash val="solid"/>
          </a:ln>
        </p:spPr>
      </p:sp>
      <p:sp>
        <p:nvSpPr>
          <p:cNvPr id="22" name="Text 20"/>
          <p:cNvSpPr/>
          <p:nvPr/>
        </p:nvSpPr>
        <p:spPr>
          <a:xfrm>
            <a:off x="530352" y="2468880"/>
            <a:ext cx="1920240" cy="226588"/>
          </a:xfrm>
          <a:prstGeom prst="rect">
            <a:avLst/>
          </a:prstGeom>
          <a:noFill/>
          <a:ln/>
        </p:spPr>
        <p:txBody>
          <a:bodyPr wrap="square" rtlCol="0" anchor="ctr"/>
          <a:lstStyle/>
          <a:p>
            <a:pPr indent="0" marL="0">
              <a:buNone/>
            </a:pPr>
            <a:r>
              <a:rPr lang="en-US" sz="1300" b="1" i="1" dirty="0">
                <a:solidFill>
                  <a:srgbClr val="0F6E56"/>
                </a:solidFill>
              </a:rPr>
              <a:t>Prone</a:t>
            </a:r>
            <a:endParaRPr lang="en-US" sz="1300" dirty="0"/>
          </a:p>
        </p:txBody>
      </p:sp>
      <p:sp>
        <p:nvSpPr>
          <p:cNvPr id="23" name="Text 21"/>
          <p:cNvSpPr/>
          <p:nvPr/>
        </p:nvSpPr>
        <p:spPr>
          <a:xfrm>
            <a:off x="530352" y="2667579"/>
            <a:ext cx="1920240" cy="248168"/>
          </a:xfrm>
          <a:prstGeom prst="rect">
            <a:avLst/>
          </a:prstGeom>
          <a:noFill/>
          <a:ln/>
        </p:spPr>
        <p:txBody>
          <a:bodyPr wrap="square" rtlCol="0" anchor="ctr"/>
          <a:lstStyle/>
          <a:p>
            <a:pPr indent="0" marL="0">
              <a:buNone/>
            </a:pPr>
            <a:r>
              <a:rPr lang="en-US" sz="950" i="1" dirty="0">
                <a:solidFill>
                  <a:srgbClr val="4A5568"/>
                </a:solidFill>
              </a:rPr>
              <a:t>lying on the abdomen, face down</a:t>
            </a:r>
            <a:endParaRPr lang="en-US" sz="950" dirty="0"/>
          </a:p>
        </p:txBody>
      </p:sp>
      <p:sp>
        <p:nvSpPr>
          <p:cNvPr id="24" name="Text 22"/>
          <p:cNvSpPr/>
          <p:nvPr/>
        </p:nvSpPr>
        <p:spPr>
          <a:xfrm>
            <a:off x="2560320" y="2487168"/>
            <a:ext cx="6126480" cy="374904"/>
          </a:xfrm>
          <a:prstGeom prst="rect">
            <a:avLst/>
          </a:prstGeom>
          <a:noFill/>
          <a:ln/>
        </p:spPr>
        <p:txBody>
          <a:bodyPr wrap="square" rtlCol="0" anchor="ctr"/>
          <a:lstStyle/>
          <a:p>
            <a:pPr indent="0" marL="0">
              <a:buNone/>
            </a:pPr>
            <a:r>
              <a:rPr lang="en-US" sz="1100" dirty="0">
                <a:solidFill>
                  <a:srgbClr val="12203A"/>
                </a:solidFill>
              </a:rPr>
              <a:t>Prone position for posterior spinal surgery, neurosurgery, certain fracture reductions. 'Prone positioning' in ICU for ARDS patients to improve oxygenation (face down allows posterior lung recruitment).</a:t>
            </a:r>
            <a:endParaRPr lang="en-US" sz="1100" dirty="0"/>
          </a:p>
        </p:txBody>
      </p:sp>
      <p:sp>
        <p:nvSpPr>
          <p:cNvPr id="25" name="Shape 23"/>
          <p:cNvSpPr/>
          <p:nvPr/>
        </p:nvSpPr>
        <p:spPr>
          <a:xfrm>
            <a:off x="365760" y="2953512"/>
            <a:ext cx="8412480" cy="502920"/>
          </a:xfrm>
          <a:prstGeom prst="rect">
            <a:avLst/>
          </a:prstGeom>
          <a:solidFill>
            <a:srgbClr val="D4EDDA"/>
          </a:solidFill>
          <a:ln w="12700">
            <a:solidFill>
              <a:srgbClr val="DDDDDD"/>
            </a:solidFill>
            <a:prstDash val="solid"/>
          </a:ln>
        </p:spPr>
      </p:sp>
      <p:sp>
        <p:nvSpPr>
          <p:cNvPr id="26" name="Shape 24"/>
          <p:cNvSpPr/>
          <p:nvPr/>
        </p:nvSpPr>
        <p:spPr>
          <a:xfrm>
            <a:off x="365760" y="2953512"/>
            <a:ext cx="73152" cy="502920"/>
          </a:xfrm>
          <a:prstGeom prst="rect">
            <a:avLst/>
          </a:prstGeom>
          <a:solidFill>
            <a:srgbClr val="0F6E56"/>
          </a:solidFill>
          <a:ln w="12700">
            <a:solidFill>
              <a:srgbClr val="0F6E56"/>
            </a:solidFill>
            <a:prstDash val="solid"/>
          </a:ln>
        </p:spPr>
      </p:sp>
      <p:sp>
        <p:nvSpPr>
          <p:cNvPr id="27" name="Text 25"/>
          <p:cNvSpPr/>
          <p:nvPr/>
        </p:nvSpPr>
        <p:spPr>
          <a:xfrm>
            <a:off x="530352" y="3008376"/>
            <a:ext cx="1920240" cy="226588"/>
          </a:xfrm>
          <a:prstGeom prst="rect">
            <a:avLst/>
          </a:prstGeom>
          <a:noFill/>
          <a:ln/>
        </p:spPr>
        <p:txBody>
          <a:bodyPr wrap="square" rtlCol="0" anchor="ctr"/>
          <a:lstStyle/>
          <a:p>
            <a:pPr indent="0" marL="0">
              <a:buNone/>
            </a:pPr>
            <a:r>
              <a:rPr lang="en-US" sz="1300" b="1" i="1" dirty="0">
                <a:solidFill>
                  <a:srgbClr val="0F6E56"/>
                </a:solidFill>
              </a:rPr>
              <a:t>Dextrad (dextr/o)</a:t>
            </a:r>
            <a:endParaRPr lang="en-US" sz="1300" dirty="0"/>
          </a:p>
        </p:txBody>
      </p:sp>
      <p:sp>
        <p:nvSpPr>
          <p:cNvPr id="28" name="Text 26"/>
          <p:cNvSpPr/>
          <p:nvPr/>
        </p:nvSpPr>
        <p:spPr>
          <a:xfrm>
            <a:off x="530352" y="3207075"/>
            <a:ext cx="1920240" cy="248168"/>
          </a:xfrm>
          <a:prstGeom prst="rect">
            <a:avLst/>
          </a:prstGeom>
          <a:noFill/>
          <a:ln/>
        </p:spPr>
        <p:txBody>
          <a:bodyPr wrap="square" rtlCol="0" anchor="ctr"/>
          <a:lstStyle/>
          <a:p>
            <a:pPr indent="0" marL="0">
              <a:buNone/>
            </a:pPr>
            <a:r>
              <a:rPr lang="en-US" sz="950" i="1" dirty="0">
                <a:solidFill>
                  <a:srgbClr val="4A5568"/>
                </a:solidFill>
              </a:rPr>
              <a:t>toward the right side</a:t>
            </a:r>
            <a:endParaRPr lang="en-US" sz="950" dirty="0"/>
          </a:p>
        </p:txBody>
      </p:sp>
      <p:sp>
        <p:nvSpPr>
          <p:cNvPr id="29" name="Text 27"/>
          <p:cNvSpPr/>
          <p:nvPr/>
        </p:nvSpPr>
        <p:spPr>
          <a:xfrm>
            <a:off x="2560320" y="3026664"/>
            <a:ext cx="6126480" cy="374904"/>
          </a:xfrm>
          <a:prstGeom prst="rect">
            <a:avLst/>
          </a:prstGeom>
          <a:noFill/>
          <a:ln/>
        </p:spPr>
        <p:txBody>
          <a:bodyPr wrap="square" rtlCol="0" anchor="ctr"/>
          <a:lstStyle/>
          <a:p>
            <a:pPr indent="0" marL="0">
              <a:buNone/>
            </a:pPr>
            <a:r>
              <a:rPr lang="en-US" sz="1100" dirty="0">
                <a:solidFill>
                  <a:srgbClr val="12203A"/>
                </a:solidFill>
              </a:rPr>
              <a:t>Dextrocardia = heart positioned toward the right (instead of left). Dextrous = skilled. Only means right in medical terminology — no cultural connotation in medicine.</a:t>
            </a:r>
            <a:endParaRPr lang="en-US" sz="1100" dirty="0"/>
          </a:p>
        </p:txBody>
      </p:sp>
      <p:sp>
        <p:nvSpPr>
          <p:cNvPr id="30" name="Shape 28"/>
          <p:cNvSpPr/>
          <p:nvPr/>
        </p:nvSpPr>
        <p:spPr>
          <a:xfrm>
            <a:off x="365760" y="3493008"/>
            <a:ext cx="8412480" cy="502920"/>
          </a:xfrm>
          <a:prstGeom prst="rect">
            <a:avLst/>
          </a:prstGeom>
          <a:solidFill>
            <a:srgbClr val="FAF7FD"/>
          </a:solidFill>
          <a:ln w="12700">
            <a:solidFill>
              <a:srgbClr val="DDDDDD"/>
            </a:solidFill>
            <a:prstDash val="solid"/>
          </a:ln>
        </p:spPr>
      </p:sp>
      <p:sp>
        <p:nvSpPr>
          <p:cNvPr id="31" name="Shape 29"/>
          <p:cNvSpPr/>
          <p:nvPr/>
        </p:nvSpPr>
        <p:spPr>
          <a:xfrm>
            <a:off x="365760" y="3493008"/>
            <a:ext cx="73152" cy="502920"/>
          </a:xfrm>
          <a:prstGeom prst="rect">
            <a:avLst/>
          </a:prstGeom>
          <a:solidFill>
            <a:srgbClr val="0F6E56"/>
          </a:solidFill>
          <a:ln w="12700">
            <a:solidFill>
              <a:srgbClr val="0F6E56"/>
            </a:solidFill>
            <a:prstDash val="solid"/>
          </a:ln>
        </p:spPr>
      </p:sp>
      <p:sp>
        <p:nvSpPr>
          <p:cNvPr id="32" name="Text 30"/>
          <p:cNvSpPr/>
          <p:nvPr/>
        </p:nvSpPr>
        <p:spPr>
          <a:xfrm>
            <a:off x="530352" y="3547872"/>
            <a:ext cx="1920240" cy="226588"/>
          </a:xfrm>
          <a:prstGeom prst="rect">
            <a:avLst/>
          </a:prstGeom>
          <a:noFill/>
          <a:ln/>
        </p:spPr>
        <p:txBody>
          <a:bodyPr wrap="square" rtlCol="0" anchor="ctr"/>
          <a:lstStyle/>
          <a:p>
            <a:pPr indent="0" marL="0">
              <a:buNone/>
            </a:pPr>
            <a:r>
              <a:rPr lang="en-US" sz="1300" b="1" i="1" dirty="0">
                <a:solidFill>
                  <a:srgbClr val="0F6E56"/>
                </a:solidFill>
              </a:rPr>
              <a:t>Sinistrad (sinistr/o, levo-)</a:t>
            </a:r>
            <a:endParaRPr lang="en-US" sz="1300" dirty="0"/>
          </a:p>
        </p:txBody>
      </p:sp>
      <p:sp>
        <p:nvSpPr>
          <p:cNvPr id="33" name="Text 31"/>
          <p:cNvSpPr/>
          <p:nvPr/>
        </p:nvSpPr>
        <p:spPr>
          <a:xfrm>
            <a:off x="530352" y="3746571"/>
            <a:ext cx="1920240" cy="248168"/>
          </a:xfrm>
          <a:prstGeom prst="rect">
            <a:avLst/>
          </a:prstGeom>
          <a:noFill/>
          <a:ln/>
        </p:spPr>
        <p:txBody>
          <a:bodyPr wrap="square" rtlCol="0" anchor="ctr"/>
          <a:lstStyle/>
          <a:p>
            <a:pPr indent="0" marL="0">
              <a:buNone/>
            </a:pPr>
            <a:r>
              <a:rPr lang="en-US" sz="950" i="1" dirty="0">
                <a:solidFill>
                  <a:srgbClr val="4A5568"/>
                </a:solidFill>
              </a:rPr>
              <a:t>toward the left side</a:t>
            </a:r>
            <a:endParaRPr lang="en-US" sz="950" dirty="0"/>
          </a:p>
        </p:txBody>
      </p:sp>
      <p:sp>
        <p:nvSpPr>
          <p:cNvPr id="34" name="Text 32"/>
          <p:cNvSpPr/>
          <p:nvPr/>
        </p:nvSpPr>
        <p:spPr>
          <a:xfrm>
            <a:off x="2560320" y="3566160"/>
            <a:ext cx="6126480" cy="374904"/>
          </a:xfrm>
          <a:prstGeom prst="rect">
            <a:avLst/>
          </a:prstGeom>
          <a:noFill/>
          <a:ln/>
        </p:spPr>
        <p:txBody>
          <a:bodyPr wrap="square" rtlCol="0" anchor="ctr"/>
          <a:lstStyle/>
          <a:p>
            <a:pPr indent="0" marL="0">
              <a:buNone/>
            </a:pPr>
            <a:r>
              <a:rPr lang="en-US" sz="1100" dirty="0">
                <a:solidFill>
                  <a:srgbClr val="12203A"/>
                </a:solidFill>
              </a:rPr>
              <a:t>Sinistrad = toward the left; levorotation = rotating to the left. levo- also = left: levodopa (DOPA = left-handed isomer), levothyroxine (left-handed thyroid hormone). 'Sinister' = only means left in medicine.</a:t>
            </a:r>
            <a:endParaRPr lang="en-US" sz="1100" dirty="0"/>
          </a:p>
        </p:txBody>
      </p:sp>
      <p:sp>
        <p:nvSpPr>
          <p:cNvPr id="35" name="Shape 33"/>
          <p:cNvSpPr/>
          <p:nvPr/>
        </p:nvSpPr>
        <p:spPr>
          <a:xfrm>
            <a:off x="365760" y="4032504"/>
            <a:ext cx="8412480" cy="502920"/>
          </a:xfrm>
          <a:prstGeom prst="rect">
            <a:avLst/>
          </a:prstGeom>
          <a:solidFill>
            <a:srgbClr val="D4EDDA"/>
          </a:solidFill>
          <a:ln w="12700">
            <a:solidFill>
              <a:srgbClr val="DDDDDD"/>
            </a:solidFill>
            <a:prstDash val="solid"/>
          </a:ln>
        </p:spPr>
      </p:sp>
      <p:sp>
        <p:nvSpPr>
          <p:cNvPr id="36" name="Shape 34"/>
          <p:cNvSpPr/>
          <p:nvPr/>
        </p:nvSpPr>
        <p:spPr>
          <a:xfrm>
            <a:off x="365760" y="4032504"/>
            <a:ext cx="73152" cy="502920"/>
          </a:xfrm>
          <a:prstGeom prst="rect">
            <a:avLst/>
          </a:prstGeom>
          <a:solidFill>
            <a:srgbClr val="0F6E56"/>
          </a:solidFill>
          <a:ln w="12700">
            <a:solidFill>
              <a:srgbClr val="0F6E56"/>
            </a:solidFill>
            <a:prstDash val="solid"/>
          </a:ln>
        </p:spPr>
      </p:sp>
      <p:sp>
        <p:nvSpPr>
          <p:cNvPr id="37" name="Text 35"/>
          <p:cNvSpPr/>
          <p:nvPr/>
        </p:nvSpPr>
        <p:spPr>
          <a:xfrm>
            <a:off x="530352" y="4087368"/>
            <a:ext cx="1920240" cy="226588"/>
          </a:xfrm>
          <a:prstGeom prst="rect">
            <a:avLst/>
          </a:prstGeom>
          <a:noFill/>
          <a:ln/>
        </p:spPr>
        <p:txBody>
          <a:bodyPr wrap="square" rtlCol="0" anchor="ctr"/>
          <a:lstStyle/>
          <a:p>
            <a:pPr indent="0" marL="0">
              <a:buNone/>
            </a:pPr>
            <a:r>
              <a:rPr lang="en-US" sz="1300" b="1" i="1" dirty="0">
                <a:solidFill>
                  <a:srgbClr val="0F6E56"/>
                </a:solidFill>
              </a:rPr>
              <a:t>Afferent (af-)</a:t>
            </a:r>
            <a:endParaRPr lang="en-US" sz="1300" dirty="0"/>
          </a:p>
        </p:txBody>
      </p:sp>
      <p:sp>
        <p:nvSpPr>
          <p:cNvPr id="38" name="Text 36"/>
          <p:cNvSpPr/>
          <p:nvPr/>
        </p:nvSpPr>
        <p:spPr>
          <a:xfrm>
            <a:off x="530352" y="4286067"/>
            <a:ext cx="1920240" cy="248168"/>
          </a:xfrm>
          <a:prstGeom prst="rect">
            <a:avLst/>
          </a:prstGeom>
          <a:noFill/>
          <a:ln/>
        </p:spPr>
        <p:txBody>
          <a:bodyPr wrap="square" rtlCol="0" anchor="ctr"/>
          <a:lstStyle/>
          <a:p>
            <a:pPr indent="0" marL="0">
              <a:buNone/>
            </a:pPr>
            <a:r>
              <a:rPr lang="en-US" sz="950" i="1" dirty="0">
                <a:solidFill>
                  <a:srgbClr val="4A5568"/>
                </a:solidFill>
              </a:rPr>
              <a:t>carrying toward a center</a:t>
            </a:r>
            <a:endParaRPr lang="en-US" sz="950" dirty="0"/>
          </a:p>
        </p:txBody>
      </p:sp>
      <p:sp>
        <p:nvSpPr>
          <p:cNvPr id="39" name="Text 37"/>
          <p:cNvSpPr/>
          <p:nvPr/>
        </p:nvSpPr>
        <p:spPr>
          <a:xfrm>
            <a:off x="2560320" y="4105656"/>
            <a:ext cx="6126480" cy="374904"/>
          </a:xfrm>
          <a:prstGeom prst="rect">
            <a:avLst/>
          </a:prstGeom>
          <a:noFill/>
          <a:ln/>
        </p:spPr>
        <p:txBody>
          <a:bodyPr wrap="square" rtlCol="0" anchor="ctr"/>
          <a:lstStyle/>
          <a:p>
            <a:pPr indent="0" marL="0">
              <a:buNone/>
            </a:pPr>
            <a:r>
              <a:rPr lang="en-US" sz="1100" dirty="0">
                <a:solidFill>
                  <a:srgbClr val="12203A"/>
                </a:solidFill>
              </a:rPr>
              <a:t>Afferent nerves = carry signals TO the brain/spinal cord (sensory). Afferent arteriole = brings blood TO the glomerulus. AF- = toward. Memory: AF = Arriving From the periphery.</a:t>
            </a:r>
            <a:endParaRPr lang="en-US" sz="1100" dirty="0"/>
          </a:p>
        </p:txBody>
      </p:sp>
      <p:sp>
        <p:nvSpPr>
          <p:cNvPr id="40" name="Shape 38"/>
          <p:cNvSpPr/>
          <p:nvPr/>
        </p:nvSpPr>
        <p:spPr>
          <a:xfrm>
            <a:off x="365760" y="4572000"/>
            <a:ext cx="8412480" cy="502920"/>
          </a:xfrm>
          <a:prstGeom prst="rect">
            <a:avLst/>
          </a:prstGeom>
          <a:solidFill>
            <a:srgbClr val="FAF7FD"/>
          </a:solidFill>
          <a:ln w="12700">
            <a:solidFill>
              <a:srgbClr val="DDDDDD"/>
            </a:solidFill>
            <a:prstDash val="solid"/>
          </a:ln>
        </p:spPr>
      </p:sp>
      <p:sp>
        <p:nvSpPr>
          <p:cNvPr id="41" name="Shape 39"/>
          <p:cNvSpPr/>
          <p:nvPr/>
        </p:nvSpPr>
        <p:spPr>
          <a:xfrm>
            <a:off x="365760" y="4572000"/>
            <a:ext cx="73152" cy="502920"/>
          </a:xfrm>
          <a:prstGeom prst="rect">
            <a:avLst/>
          </a:prstGeom>
          <a:solidFill>
            <a:srgbClr val="0F6E56"/>
          </a:solidFill>
          <a:ln w="12700">
            <a:solidFill>
              <a:srgbClr val="0F6E56"/>
            </a:solidFill>
            <a:prstDash val="solid"/>
          </a:ln>
        </p:spPr>
      </p:sp>
      <p:sp>
        <p:nvSpPr>
          <p:cNvPr id="42" name="Text 40"/>
          <p:cNvSpPr/>
          <p:nvPr/>
        </p:nvSpPr>
        <p:spPr>
          <a:xfrm>
            <a:off x="530352" y="4626864"/>
            <a:ext cx="1920240" cy="226588"/>
          </a:xfrm>
          <a:prstGeom prst="rect">
            <a:avLst/>
          </a:prstGeom>
          <a:noFill/>
          <a:ln/>
        </p:spPr>
        <p:txBody>
          <a:bodyPr wrap="square" rtlCol="0" anchor="ctr"/>
          <a:lstStyle/>
          <a:p>
            <a:pPr indent="0" marL="0">
              <a:buNone/>
            </a:pPr>
            <a:r>
              <a:rPr lang="en-US" sz="1300" b="1" i="1" dirty="0">
                <a:solidFill>
                  <a:srgbClr val="0F6E56"/>
                </a:solidFill>
              </a:rPr>
              <a:t>Efferent (ef-)</a:t>
            </a:r>
            <a:endParaRPr lang="en-US" sz="1300" dirty="0"/>
          </a:p>
        </p:txBody>
      </p:sp>
      <p:sp>
        <p:nvSpPr>
          <p:cNvPr id="43" name="Text 41"/>
          <p:cNvSpPr/>
          <p:nvPr/>
        </p:nvSpPr>
        <p:spPr>
          <a:xfrm>
            <a:off x="530352" y="4825563"/>
            <a:ext cx="1920240" cy="248168"/>
          </a:xfrm>
          <a:prstGeom prst="rect">
            <a:avLst/>
          </a:prstGeom>
          <a:noFill/>
          <a:ln/>
        </p:spPr>
        <p:txBody>
          <a:bodyPr wrap="square" rtlCol="0" anchor="ctr"/>
          <a:lstStyle/>
          <a:p>
            <a:pPr indent="0" marL="0">
              <a:buNone/>
            </a:pPr>
            <a:r>
              <a:rPr lang="en-US" sz="950" i="1" dirty="0">
                <a:solidFill>
                  <a:srgbClr val="4A5568"/>
                </a:solidFill>
              </a:rPr>
              <a:t>carrying away from a center</a:t>
            </a:r>
            <a:endParaRPr lang="en-US" sz="950" dirty="0"/>
          </a:p>
        </p:txBody>
      </p:sp>
      <p:sp>
        <p:nvSpPr>
          <p:cNvPr id="44" name="Text 42"/>
          <p:cNvSpPr/>
          <p:nvPr/>
        </p:nvSpPr>
        <p:spPr>
          <a:xfrm>
            <a:off x="2560320" y="4645152"/>
            <a:ext cx="6126480" cy="374904"/>
          </a:xfrm>
          <a:prstGeom prst="rect">
            <a:avLst/>
          </a:prstGeom>
          <a:noFill/>
          <a:ln/>
        </p:spPr>
        <p:txBody>
          <a:bodyPr wrap="square" rtlCol="0" anchor="ctr"/>
          <a:lstStyle/>
          <a:p>
            <a:pPr indent="0" marL="0">
              <a:buNone/>
            </a:pPr>
            <a:r>
              <a:rPr lang="en-US" sz="1100" dirty="0">
                <a:solidFill>
                  <a:srgbClr val="12203A"/>
                </a:solidFill>
              </a:rPr>
              <a:t>Efferent nerves = carry signals AWAY from brain/spinal cord (motor). Efferent arteriole = blood AWAY from glomerulus. EF- = exiting/leaving. Memory: EF = Exiting From the center.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9</a:t>
            </a:r>
            <a:endParaRPr lang="en-US" sz="900" dirty="0"/>
          </a:p>
        </p:txBody>
      </p:sp>
      <p:sp>
        <p:nvSpPr>
          <p:cNvPr id="3" name="Text 1"/>
          <p:cNvSpPr/>
          <p:nvPr/>
        </p:nvSpPr>
        <p:spPr>
          <a:xfrm>
            <a:off x="365760" y="164592"/>
            <a:ext cx="8412480" cy="502920"/>
          </a:xfrm>
          <a:prstGeom prst="rect">
            <a:avLst/>
          </a:prstGeom>
          <a:noFill/>
          <a:ln/>
        </p:spPr>
        <p:txBody>
          <a:bodyPr wrap="square" rtlCol="0" anchor="ctr"/>
          <a:lstStyle/>
          <a:p>
            <a:pPr indent="0" marL="0">
              <a:buNone/>
            </a:pPr>
            <a:r>
              <a:rPr lang="en-US" sz="2800" b="1" dirty="0">
                <a:solidFill>
                  <a:srgbClr val="1A0D2E"/>
                </a:solidFill>
              </a:rPr>
              <a:t>Body Cavities</a:t>
            </a:r>
            <a:endParaRPr lang="en-US" sz="2800" dirty="0"/>
          </a:p>
        </p:txBody>
      </p:sp>
      <p:sp>
        <p:nvSpPr>
          <p:cNvPr id="4" name="Shape 2"/>
          <p:cNvSpPr/>
          <p:nvPr/>
        </p:nvSpPr>
        <p:spPr>
          <a:xfrm>
            <a:off x="347472" y="804672"/>
            <a:ext cx="8449056" cy="347472"/>
          </a:xfrm>
          <a:prstGeom prst="rect">
            <a:avLst/>
          </a:prstGeom>
          <a:solidFill>
            <a:srgbClr val="185FA5"/>
          </a:solidFill>
          <a:ln w="12700">
            <a:solidFill>
              <a:srgbClr val="185FA5"/>
            </a:solidFill>
            <a:prstDash val="solid"/>
          </a:ln>
        </p:spPr>
      </p:sp>
      <p:sp>
        <p:nvSpPr>
          <p:cNvPr id="5" name="Text 3"/>
          <p:cNvSpPr/>
          <p:nvPr/>
        </p:nvSpPr>
        <p:spPr>
          <a:xfrm>
            <a:off x="512064" y="868680"/>
            <a:ext cx="8229600" cy="246888"/>
          </a:xfrm>
          <a:prstGeom prst="rect">
            <a:avLst/>
          </a:prstGeom>
          <a:noFill/>
          <a:ln/>
        </p:spPr>
        <p:txBody>
          <a:bodyPr wrap="square" rtlCol="0" anchor="ctr"/>
          <a:lstStyle/>
          <a:p>
            <a:pPr indent="0" marL="0">
              <a:buNone/>
            </a:pPr>
            <a:r>
              <a:rPr lang="en-US" sz="1300" b="1" spc="200" kern="0" dirty="0">
                <a:solidFill>
                  <a:srgbClr val="FFFFFF"/>
                </a:solidFill>
              </a:rPr>
              <a:t>DORSAL cavities (posterior)</a:t>
            </a:r>
            <a:endParaRPr lang="en-US" sz="1300" dirty="0"/>
          </a:p>
        </p:txBody>
      </p:sp>
      <p:sp>
        <p:nvSpPr>
          <p:cNvPr id="6" name="Shape 4"/>
          <p:cNvSpPr/>
          <p:nvPr/>
        </p:nvSpPr>
        <p:spPr>
          <a:xfrm>
            <a:off x="347472" y="1207008"/>
            <a:ext cx="8449056" cy="713232"/>
          </a:xfrm>
          <a:prstGeom prst="rect">
            <a:avLst/>
          </a:prstGeom>
          <a:solidFill>
            <a:srgbClr val="D6EEFA"/>
          </a:solidFill>
          <a:ln w="12700">
            <a:solidFill>
              <a:srgbClr val="CCCCCC"/>
            </a:solidFill>
            <a:prstDash val="solid"/>
          </a:ln>
        </p:spPr>
      </p:sp>
      <p:sp>
        <p:nvSpPr>
          <p:cNvPr id="7" name="Shape 5"/>
          <p:cNvSpPr/>
          <p:nvPr/>
        </p:nvSpPr>
        <p:spPr>
          <a:xfrm>
            <a:off x="347472" y="1207008"/>
            <a:ext cx="73152" cy="713232"/>
          </a:xfrm>
          <a:prstGeom prst="rect">
            <a:avLst/>
          </a:prstGeom>
          <a:solidFill>
            <a:srgbClr val="185FA5"/>
          </a:solidFill>
          <a:ln w="12700">
            <a:solidFill>
              <a:srgbClr val="185FA5"/>
            </a:solidFill>
            <a:prstDash val="solid"/>
          </a:ln>
        </p:spPr>
      </p:sp>
      <p:sp>
        <p:nvSpPr>
          <p:cNvPr id="8" name="Text 6"/>
          <p:cNvSpPr/>
          <p:nvPr/>
        </p:nvSpPr>
        <p:spPr>
          <a:xfrm>
            <a:off x="512064" y="1271016"/>
            <a:ext cx="2743200" cy="246888"/>
          </a:xfrm>
          <a:prstGeom prst="rect">
            <a:avLst/>
          </a:prstGeom>
          <a:noFill/>
          <a:ln/>
        </p:spPr>
        <p:txBody>
          <a:bodyPr wrap="square" rtlCol="0" anchor="ctr"/>
          <a:lstStyle/>
          <a:p>
            <a:pPr indent="0" marL="0">
              <a:buNone/>
            </a:pPr>
            <a:r>
              <a:rPr lang="en-US" sz="1300" b="1" dirty="0">
                <a:solidFill>
                  <a:srgbClr val="185FA5"/>
                </a:solidFill>
              </a:rPr>
              <a:t>Cranial cavity (crani/o)</a:t>
            </a:r>
            <a:endParaRPr lang="en-US" sz="1300" dirty="0"/>
          </a:p>
        </p:txBody>
      </p:sp>
      <p:sp>
        <p:nvSpPr>
          <p:cNvPr id="9" name="Text 7"/>
          <p:cNvSpPr/>
          <p:nvPr/>
        </p:nvSpPr>
        <p:spPr>
          <a:xfrm>
            <a:off x="512064" y="1554480"/>
            <a:ext cx="8229600" cy="274320"/>
          </a:xfrm>
          <a:prstGeom prst="rect">
            <a:avLst/>
          </a:prstGeom>
          <a:noFill/>
          <a:ln/>
        </p:spPr>
        <p:txBody>
          <a:bodyPr wrap="square" rtlCol="0" anchor="ctr"/>
          <a:lstStyle/>
          <a:p>
            <a:pPr indent="0" marL="0">
              <a:buNone/>
            </a:pPr>
            <a:r>
              <a:rPr lang="en-US" sz="1050" dirty="0">
                <a:solidFill>
                  <a:srgbClr val="12203A"/>
                </a:solidFill>
              </a:rPr>
              <a:t>Within the skull/cranium. Contains the brain. Protected by the skull bones. Communicates with the spinal cavity through the foramen magnum.</a:t>
            </a:r>
            <a:endParaRPr lang="en-US" sz="1050" dirty="0"/>
          </a:p>
        </p:txBody>
      </p:sp>
      <p:sp>
        <p:nvSpPr>
          <p:cNvPr id="10" name="Shape 8"/>
          <p:cNvSpPr/>
          <p:nvPr/>
        </p:nvSpPr>
        <p:spPr>
          <a:xfrm>
            <a:off x="347472" y="1965960"/>
            <a:ext cx="8449056" cy="713232"/>
          </a:xfrm>
          <a:prstGeom prst="rect">
            <a:avLst/>
          </a:prstGeom>
          <a:solidFill>
            <a:srgbClr val="FAF7FD"/>
          </a:solidFill>
          <a:ln w="12700">
            <a:solidFill>
              <a:srgbClr val="CCCCCC"/>
            </a:solidFill>
            <a:prstDash val="solid"/>
          </a:ln>
        </p:spPr>
      </p:sp>
      <p:sp>
        <p:nvSpPr>
          <p:cNvPr id="11" name="Shape 9"/>
          <p:cNvSpPr/>
          <p:nvPr/>
        </p:nvSpPr>
        <p:spPr>
          <a:xfrm>
            <a:off x="347472" y="1965960"/>
            <a:ext cx="73152" cy="713232"/>
          </a:xfrm>
          <a:prstGeom prst="rect">
            <a:avLst/>
          </a:prstGeom>
          <a:solidFill>
            <a:srgbClr val="185FA5"/>
          </a:solidFill>
          <a:ln w="12700">
            <a:solidFill>
              <a:srgbClr val="185FA5"/>
            </a:solidFill>
            <a:prstDash val="solid"/>
          </a:ln>
        </p:spPr>
      </p:sp>
      <p:sp>
        <p:nvSpPr>
          <p:cNvPr id="12" name="Text 10"/>
          <p:cNvSpPr/>
          <p:nvPr/>
        </p:nvSpPr>
        <p:spPr>
          <a:xfrm>
            <a:off x="512064" y="2029968"/>
            <a:ext cx="2743200" cy="246888"/>
          </a:xfrm>
          <a:prstGeom prst="rect">
            <a:avLst/>
          </a:prstGeom>
          <a:noFill/>
          <a:ln/>
        </p:spPr>
        <p:txBody>
          <a:bodyPr wrap="square" rtlCol="0" anchor="ctr"/>
          <a:lstStyle/>
          <a:p>
            <a:pPr indent="0" marL="0">
              <a:buNone/>
            </a:pPr>
            <a:r>
              <a:rPr lang="en-US" sz="1300" b="1" dirty="0">
                <a:solidFill>
                  <a:srgbClr val="185FA5"/>
                </a:solidFill>
              </a:rPr>
              <a:t>Spinal cavity (spin/o)</a:t>
            </a:r>
            <a:endParaRPr lang="en-US" sz="1300" dirty="0"/>
          </a:p>
        </p:txBody>
      </p:sp>
      <p:sp>
        <p:nvSpPr>
          <p:cNvPr id="13" name="Text 11"/>
          <p:cNvSpPr/>
          <p:nvPr/>
        </p:nvSpPr>
        <p:spPr>
          <a:xfrm>
            <a:off x="512064" y="2313432"/>
            <a:ext cx="8229600" cy="274320"/>
          </a:xfrm>
          <a:prstGeom prst="rect">
            <a:avLst/>
          </a:prstGeom>
          <a:noFill/>
          <a:ln/>
        </p:spPr>
        <p:txBody>
          <a:bodyPr wrap="square" rtlCol="0" anchor="ctr"/>
          <a:lstStyle/>
          <a:p>
            <a:pPr indent="0" marL="0">
              <a:buNone/>
            </a:pPr>
            <a:r>
              <a:rPr lang="en-US" sz="1050" dirty="0">
                <a:solidFill>
                  <a:srgbClr val="12203A"/>
                </a:solidFill>
              </a:rPr>
              <a:t>Within the vertebral column (spine). Contains the spinal cord. Protected by the vertebrae. Continuous with the cranial cavity.</a:t>
            </a:r>
            <a:endParaRPr lang="en-US" sz="1050" dirty="0"/>
          </a:p>
        </p:txBody>
      </p:sp>
      <p:sp>
        <p:nvSpPr>
          <p:cNvPr id="14" name="Shape 12"/>
          <p:cNvSpPr/>
          <p:nvPr/>
        </p:nvSpPr>
        <p:spPr>
          <a:xfrm>
            <a:off x="347472" y="2816352"/>
            <a:ext cx="8449056" cy="347472"/>
          </a:xfrm>
          <a:prstGeom prst="rect">
            <a:avLst/>
          </a:prstGeom>
          <a:solidFill>
            <a:srgbClr val="7B3FA0"/>
          </a:solidFill>
          <a:ln w="12700">
            <a:solidFill>
              <a:srgbClr val="7B3FA0"/>
            </a:solidFill>
            <a:prstDash val="solid"/>
          </a:ln>
        </p:spPr>
      </p:sp>
      <p:sp>
        <p:nvSpPr>
          <p:cNvPr id="15" name="Text 13"/>
          <p:cNvSpPr/>
          <p:nvPr/>
        </p:nvSpPr>
        <p:spPr>
          <a:xfrm>
            <a:off x="512064" y="2880360"/>
            <a:ext cx="8229600" cy="246888"/>
          </a:xfrm>
          <a:prstGeom prst="rect">
            <a:avLst/>
          </a:prstGeom>
          <a:noFill/>
          <a:ln/>
        </p:spPr>
        <p:txBody>
          <a:bodyPr wrap="square" rtlCol="0" anchor="ctr"/>
          <a:lstStyle/>
          <a:p>
            <a:pPr indent="0" marL="0">
              <a:buNone/>
            </a:pPr>
            <a:r>
              <a:rPr lang="en-US" sz="1300" b="1" spc="200" kern="0" dirty="0">
                <a:solidFill>
                  <a:srgbClr val="FFFFFF"/>
                </a:solidFill>
              </a:rPr>
              <a:t>VENTRAL cavities (anterior) — T·A·P</a:t>
            </a:r>
            <a:endParaRPr lang="en-US" sz="1300" dirty="0"/>
          </a:p>
        </p:txBody>
      </p:sp>
      <p:sp>
        <p:nvSpPr>
          <p:cNvPr id="16" name="Shape 14"/>
          <p:cNvSpPr/>
          <p:nvPr/>
        </p:nvSpPr>
        <p:spPr>
          <a:xfrm>
            <a:off x="347472" y="3218688"/>
            <a:ext cx="8449056" cy="987552"/>
          </a:xfrm>
          <a:prstGeom prst="rect">
            <a:avLst/>
          </a:prstGeom>
          <a:solidFill>
            <a:srgbClr val="EDE0FA"/>
          </a:solidFill>
          <a:ln w="12700">
            <a:solidFill>
              <a:srgbClr val="CCCCCC"/>
            </a:solidFill>
            <a:prstDash val="solid"/>
          </a:ln>
        </p:spPr>
      </p:sp>
      <p:sp>
        <p:nvSpPr>
          <p:cNvPr id="17" name="Shape 15"/>
          <p:cNvSpPr/>
          <p:nvPr/>
        </p:nvSpPr>
        <p:spPr>
          <a:xfrm>
            <a:off x="347472" y="3218688"/>
            <a:ext cx="73152" cy="987552"/>
          </a:xfrm>
          <a:prstGeom prst="rect">
            <a:avLst/>
          </a:prstGeom>
          <a:solidFill>
            <a:srgbClr val="7B3FA0"/>
          </a:solidFill>
          <a:ln w="12700">
            <a:solidFill>
              <a:srgbClr val="7B3FA0"/>
            </a:solidFill>
            <a:prstDash val="solid"/>
          </a:ln>
        </p:spPr>
      </p:sp>
      <p:sp>
        <p:nvSpPr>
          <p:cNvPr id="18" name="Text 16"/>
          <p:cNvSpPr/>
          <p:nvPr/>
        </p:nvSpPr>
        <p:spPr>
          <a:xfrm>
            <a:off x="512064" y="3282696"/>
            <a:ext cx="2743200" cy="246888"/>
          </a:xfrm>
          <a:prstGeom prst="rect">
            <a:avLst/>
          </a:prstGeom>
          <a:noFill/>
          <a:ln/>
        </p:spPr>
        <p:txBody>
          <a:bodyPr wrap="square" rtlCol="0" anchor="ctr"/>
          <a:lstStyle/>
          <a:p>
            <a:pPr indent="0" marL="0">
              <a:buNone/>
            </a:pPr>
            <a:r>
              <a:rPr lang="en-US" sz="1300" b="1" dirty="0">
                <a:solidFill>
                  <a:srgbClr val="7B3FA0"/>
                </a:solidFill>
              </a:rPr>
              <a:t>Thoracic cavity (thorac/o)</a:t>
            </a:r>
            <a:endParaRPr lang="en-US" sz="1300" dirty="0"/>
          </a:p>
        </p:txBody>
      </p:sp>
      <p:sp>
        <p:nvSpPr>
          <p:cNvPr id="19" name="Text 17"/>
          <p:cNvSpPr/>
          <p:nvPr/>
        </p:nvSpPr>
        <p:spPr>
          <a:xfrm>
            <a:off x="512064" y="3566160"/>
            <a:ext cx="8229600" cy="548640"/>
          </a:xfrm>
          <a:prstGeom prst="rect">
            <a:avLst/>
          </a:prstGeom>
          <a:noFill/>
          <a:ln/>
        </p:spPr>
        <p:txBody>
          <a:bodyPr wrap="square" rtlCol="0" anchor="ctr"/>
          <a:lstStyle/>
          <a:p>
            <a:pPr indent="0" marL="0">
              <a:buNone/>
            </a:pPr>
            <a:r>
              <a:rPr lang="en-US" sz="1050" dirty="0">
                <a:solidFill>
                  <a:srgbClr val="12203A"/>
                </a:solidFill>
              </a:rPr>
              <a:t>Superior ventral cavity. Within the rib cage. Subdivisions: MEDIASTINUM (center — heart, trachea, esophagus, great vessels), PLEURAL cavities (left + right — each contains a lung), PERICARDIAL cavity (within pericardium — surrounds heart).</a:t>
            </a:r>
            <a:endParaRPr lang="en-US" sz="1050" dirty="0"/>
          </a:p>
        </p:txBody>
      </p:sp>
      <p:sp>
        <p:nvSpPr>
          <p:cNvPr id="20" name="Shape 18"/>
          <p:cNvSpPr/>
          <p:nvPr/>
        </p:nvSpPr>
        <p:spPr>
          <a:xfrm>
            <a:off x="347472" y="4251960"/>
            <a:ext cx="8449056" cy="987552"/>
          </a:xfrm>
          <a:prstGeom prst="rect">
            <a:avLst/>
          </a:prstGeom>
          <a:solidFill>
            <a:srgbClr val="FAF7FD"/>
          </a:solidFill>
          <a:ln w="12700">
            <a:solidFill>
              <a:srgbClr val="CCCCCC"/>
            </a:solidFill>
            <a:prstDash val="solid"/>
          </a:ln>
        </p:spPr>
      </p:sp>
      <p:sp>
        <p:nvSpPr>
          <p:cNvPr id="21" name="Shape 19"/>
          <p:cNvSpPr/>
          <p:nvPr/>
        </p:nvSpPr>
        <p:spPr>
          <a:xfrm>
            <a:off x="347472" y="4251960"/>
            <a:ext cx="73152" cy="987552"/>
          </a:xfrm>
          <a:prstGeom prst="rect">
            <a:avLst/>
          </a:prstGeom>
          <a:solidFill>
            <a:srgbClr val="7B3FA0"/>
          </a:solidFill>
          <a:ln w="12700">
            <a:solidFill>
              <a:srgbClr val="7B3FA0"/>
            </a:solidFill>
            <a:prstDash val="solid"/>
          </a:ln>
        </p:spPr>
      </p:sp>
      <p:sp>
        <p:nvSpPr>
          <p:cNvPr id="22" name="Text 20"/>
          <p:cNvSpPr/>
          <p:nvPr/>
        </p:nvSpPr>
        <p:spPr>
          <a:xfrm>
            <a:off x="512064" y="4315968"/>
            <a:ext cx="2743200" cy="246888"/>
          </a:xfrm>
          <a:prstGeom prst="rect">
            <a:avLst/>
          </a:prstGeom>
          <a:noFill/>
          <a:ln/>
        </p:spPr>
        <p:txBody>
          <a:bodyPr wrap="square" rtlCol="0" anchor="ctr"/>
          <a:lstStyle/>
          <a:p>
            <a:pPr indent="0" marL="0">
              <a:buNone/>
            </a:pPr>
            <a:r>
              <a:rPr lang="en-US" sz="1300" b="1" dirty="0">
                <a:solidFill>
                  <a:srgbClr val="7B3FA0"/>
                </a:solidFill>
              </a:rPr>
              <a:t>Abdominal cavity (abdomin/o)</a:t>
            </a:r>
            <a:endParaRPr lang="en-US" sz="1300" dirty="0"/>
          </a:p>
        </p:txBody>
      </p:sp>
      <p:sp>
        <p:nvSpPr>
          <p:cNvPr id="23" name="Text 21"/>
          <p:cNvSpPr/>
          <p:nvPr/>
        </p:nvSpPr>
        <p:spPr>
          <a:xfrm>
            <a:off x="512064" y="4599432"/>
            <a:ext cx="8229600" cy="548640"/>
          </a:xfrm>
          <a:prstGeom prst="rect">
            <a:avLst/>
          </a:prstGeom>
          <a:noFill/>
          <a:ln/>
        </p:spPr>
        <p:txBody>
          <a:bodyPr wrap="square" rtlCol="0" anchor="ctr"/>
          <a:lstStyle/>
          <a:p>
            <a:pPr indent="0" marL="0">
              <a:buNone/>
            </a:pPr>
            <a:r>
              <a:rPr lang="en-US" sz="1050" dirty="0">
                <a:solidFill>
                  <a:srgbClr val="12203A"/>
                </a:solidFill>
              </a:rPr>
              <a:t>Below the diaphragm. Lined by PERITONEUM (peritone/o). Contains digestive organs: stomach, small intestine, large intestine, liver, gallbladder, pancreas, spleen. Divided from thoracic by the DIAPHRAGM (diaphragm/o, phren/o).</a:t>
            </a:r>
            <a:endParaRPr lang="en-US" sz="1050" dirty="0"/>
          </a:p>
        </p:txBody>
      </p:sp>
      <p:sp>
        <p:nvSpPr>
          <p:cNvPr id="24" name="Shape 22"/>
          <p:cNvSpPr/>
          <p:nvPr/>
        </p:nvSpPr>
        <p:spPr>
          <a:xfrm>
            <a:off x="347472" y="5285232"/>
            <a:ext cx="8449056" cy="987552"/>
          </a:xfrm>
          <a:prstGeom prst="rect">
            <a:avLst/>
          </a:prstGeom>
          <a:solidFill>
            <a:srgbClr val="EDE0FA"/>
          </a:solidFill>
          <a:ln w="12700">
            <a:solidFill>
              <a:srgbClr val="CCCCCC"/>
            </a:solidFill>
            <a:prstDash val="solid"/>
          </a:ln>
        </p:spPr>
      </p:sp>
      <p:sp>
        <p:nvSpPr>
          <p:cNvPr id="25" name="Shape 23"/>
          <p:cNvSpPr/>
          <p:nvPr/>
        </p:nvSpPr>
        <p:spPr>
          <a:xfrm>
            <a:off x="347472" y="5285232"/>
            <a:ext cx="73152" cy="987552"/>
          </a:xfrm>
          <a:prstGeom prst="rect">
            <a:avLst/>
          </a:prstGeom>
          <a:solidFill>
            <a:srgbClr val="7B3FA0"/>
          </a:solidFill>
          <a:ln w="12700">
            <a:solidFill>
              <a:srgbClr val="7B3FA0"/>
            </a:solidFill>
            <a:prstDash val="solid"/>
          </a:ln>
        </p:spPr>
      </p:sp>
      <p:sp>
        <p:nvSpPr>
          <p:cNvPr id="26" name="Text 24"/>
          <p:cNvSpPr/>
          <p:nvPr/>
        </p:nvSpPr>
        <p:spPr>
          <a:xfrm>
            <a:off x="512064" y="5349240"/>
            <a:ext cx="2743200" cy="246888"/>
          </a:xfrm>
          <a:prstGeom prst="rect">
            <a:avLst/>
          </a:prstGeom>
          <a:noFill/>
          <a:ln/>
        </p:spPr>
        <p:txBody>
          <a:bodyPr wrap="square" rtlCol="0" anchor="ctr"/>
          <a:lstStyle/>
          <a:p>
            <a:pPr indent="0" marL="0">
              <a:buNone/>
            </a:pPr>
            <a:r>
              <a:rPr lang="en-US" sz="1300" b="1" dirty="0">
                <a:solidFill>
                  <a:srgbClr val="7B3FA0"/>
                </a:solidFill>
              </a:rPr>
              <a:t>Pelvic cavity (pelv/i)</a:t>
            </a:r>
            <a:endParaRPr lang="en-US" sz="1300" dirty="0"/>
          </a:p>
        </p:txBody>
      </p:sp>
      <p:sp>
        <p:nvSpPr>
          <p:cNvPr id="27" name="Text 25"/>
          <p:cNvSpPr/>
          <p:nvPr/>
        </p:nvSpPr>
        <p:spPr>
          <a:xfrm>
            <a:off x="512064" y="5632704"/>
            <a:ext cx="8229600" cy="548640"/>
          </a:xfrm>
          <a:prstGeom prst="rect">
            <a:avLst/>
          </a:prstGeom>
          <a:noFill/>
          <a:ln/>
        </p:spPr>
        <p:txBody>
          <a:bodyPr wrap="square" rtlCol="0" anchor="ctr"/>
          <a:lstStyle/>
          <a:p>
            <a:pPr indent="0" marL="0">
              <a:buNone/>
            </a:pPr>
            <a:r>
              <a:rPr lang="en-US" sz="1050" dirty="0">
                <a:solidFill>
                  <a:srgbClr val="12203A"/>
                </a:solidFill>
              </a:rPr>
              <a:t>Inferior ventral cavity. Within the pelvic bones. Contains: urinary bladder, uterus and ovaries (female), prostate gland (male), rectum. The abdominal and pelvic cavities are sometimes called the ABDOMINOPELVIC cavity.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10</a:t>
            </a:r>
            <a:endParaRPr lang="en-US" sz="900" dirty="0"/>
          </a:p>
        </p:txBody>
      </p:sp>
      <p:sp>
        <p:nvSpPr>
          <p:cNvPr id="3" name="Text 1"/>
          <p:cNvSpPr/>
          <p:nvPr/>
        </p:nvSpPr>
        <p:spPr>
          <a:xfrm>
            <a:off x="365760" y="164592"/>
            <a:ext cx="8412480" cy="502920"/>
          </a:xfrm>
          <a:prstGeom prst="rect">
            <a:avLst/>
          </a:prstGeom>
          <a:noFill/>
          <a:ln/>
        </p:spPr>
        <p:txBody>
          <a:bodyPr wrap="square" rtlCol="0" anchor="ctr"/>
          <a:lstStyle/>
          <a:p>
            <a:pPr indent="0" marL="0">
              <a:buNone/>
            </a:pPr>
            <a:r>
              <a:rPr lang="en-US" sz="2600" b="1" dirty="0">
                <a:solidFill>
                  <a:srgbClr val="1A0D2E"/>
                </a:solidFill>
              </a:rPr>
              <a:t>Abdominopelvic Regions &amp; Quadrants</a:t>
            </a:r>
            <a:endParaRPr lang="en-US" sz="2600" dirty="0"/>
          </a:p>
        </p:txBody>
      </p:sp>
      <p:sp>
        <p:nvSpPr>
          <p:cNvPr id="4" name="Text 2"/>
          <p:cNvSpPr/>
          <p:nvPr/>
        </p:nvSpPr>
        <p:spPr>
          <a:xfrm>
            <a:off x="365760" y="777240"/>
            <a:ext cx="4114800" cy="320040"/>
          </a:xfrm>
          <a:prstGeom prst="rect">
            <a:avLst/>
          </a:prstGeom>
          <a:noFill/>
          <a:ln/>
        </p:spPr>
        <p:txBody>
          <a:bodyPr wrap="square" rtlCol="0" anchor="ctr"/>
          <a:lstStyle/>
          <a:p>
            <a:pPr indent="0" marL="0">
              <a:buNone/>
            </a:pPr>
            <a:r>
              <a:rPr lang="en-US" sz="1400" b="1" dirty="0">
                <a:solidFill>
                  <a:srgbClr val="7B3FA0"/>
                </a:solidFill>
              </a:rPr>
              <a:t>9 Abdominopelvic Regions</a:t>
            </a:r>
            <a:endParaRPr lang="en-US" sz="1400" dirty="0"/>
          </a:p>
        </p:txBody>
      </p:sp>
      <p:sp>
        <p:nvSpPr>
          <p:cNvPr id="5" name="Shape 3"/>
          <p:cNvSpPr/>
          <p:nvPr/>
        </p:nvSpPr>
        <p:spPr>
          <a:xfrm>
            <a:off x="347472" y="1170432"/>
            <a:ext cx="1426464" cy="1170432"/>
          </a:xfrm>
          <a:prstGeom prst="rect">
            <a:avLst/>
          </a:prstGeom>
          <a:solidFill>
            <a:srgbClr val="FFF8E1"/>
          </a:solidFill>
          <a:ln w="12700">
            <a:solidFill>
              <a:srgbClr val="BBBBBB"/>
            </a:solidFill>
            <a:prstDash val="solid"/>
          </a:ln>
        </p:spPr>
      </p:sp>
      <p:sp>
        <p:nvSpPr>
          <p:cNvPr id="6" name="Text 4"/>
          <p:cNvSpPr/>
          <p:nvPr/>
        </p:nvSpPr>
        <p:spPr>
          <a:xfrm>
            <a:off x="411480" y="1261872"/>
            <a:ext cx="1298448" cy="365760"/>
          </a:xfrm>
          <a:prstGeom prst="rect">
            <a:avLst/>
          </a:prstGeom>
          <a:noFill/>
          <a:ln/>
        </p:spPr>
        <p:txBody>
          <a:bodyPr wrap="square" rtlCol="0" anchor="ctr"/>
          <a:lstStyle/>
          <a:p>
            <a:pPr indent="0" marL="0">
              <a:buNone/>
            </a:pPr>
            <a:r>
              <a:rPr lang="en-US" sz="1000" b="1" dirty="0">
                <a:solidFill>
                  <a:srgbClr val="12203A"/>
                </a:solidFill>
              </a:rPr>
              <a:t>R. Hypochondriac</a:t>
            </a:r>
            <a:endParaRPr lang="en-US" sz="1000" dirty="0"/>
          </a:p>
        </p:txBody>
      </p:sp>
      <p:sp>
        <p:nvSpPr>
          <p:cNvPr id="7" name="Text 5"/>
          <p:cNvSpPr/>
          <p:nvPr/>
        </p:nvSpPr>
        <p:spPr>
          <a:xfrm>
            <a:off x="411480" y="1700784"/>
            <a:ext cx="1298448" cy="594360"/>
          </a:xfrm>
          <a:prstGeom prst="rect">
            <a:avLst/>
          </a:prstGeom>
          <a:noFill/>
          <a:ln/>
        </p:spPr>
        <p:txBody>
          <a:bodyPr wrap="square" rtlCol="0" anchor="ctr"/>
          <a:lstStyle/>
          <a:p>
            <a:pPr indent="0" marL="0">
              <a:buNone/>
            </a:pPr>
            <a:r>
              <a:rPr lang="en-US" sz="900" dirty="0">
                <a:solidFill>
                  <a:srgbClr val="4A5568"/>
                </a:solidFill>
              </a:rPr>
              <a:t>Liver (right), gallbladder</a:t>
            </a:r>
            <a:endParaRPr lang="en-US" sz="900" dirty="0"/>
          </a:p>
        </p:txBody>
      </p:sp>
      <p:sp>
        <p:nvSpPr>
          <p:cNvPr id="8" name="Shape 6"/>
          <p:cNvSpPr/>
          <p:nvPr/>
        </p:nvSpPr>
        <p:spPr>
          <a:xfrm>
            <a:off x="1828800" y="1170432"/>
            <a:ext cx="1426464" cy="1170432"/>
          </a:xfrm>
          <a:prstGeom prst="rect">
            <a:avLst/>
          </a:prstGeom>
          <a:solidFill>
            <a:srgbClr val="FDECEA"/>
          </a:solidFill>
          <a:ln w="12700">
            <a:solidFill>
              <a:srgbClr val="BBBBBB"/>
            </a:solidFill>
            <a:prstDash val="solid"/>
          </a:ln>
        </p:spPr>
      </p:sp>
      <p:sp>
        <p:nvSpPr>
          <p:cNvPr id="9" name="Text 7"/>
          <p:cNvSpPr/>
          <p:nvPr/>
        </p:nvSpPr>
        <p:spPr>
          <a:xfrm>
            <a:off x="1892808" y="1261872"/>
            <a:ext cx="1298448" cy="365760"/>
          </a:xfrm>
          <a:prstGeom prst="rect">
            <a:avLst/>
          </a:prstGeom>
          <a:noFill/>
          <a:ln/>
        </p:spPr>
        <p:txBody>
          <a:bodyPr wrap="square" rtlCol="0" anchor="ctr"/>
          <a:lstStyle/>
          <a:p>
            <a:pPr indent="0" marL="0">
              <a:buNone/>
            </a:pPr>
            <a:r>
              <a:rPr lang="en-US" sz="1000" b="1" dirty="0">
                <a:solidFill>
                  <a:srgbClr val="12203A"/>
                </a:solidFill>
              </a:rPr>
              <a:t>Epigastric</a:t>
            </a:r>
            <a:endParaRPr lang="en-US" sz="1000" dirty="0"/>
          </a:p>
        </p:txBody>
      </p:sp>
      <p:sp>
        <p:nvSpPr>
          <p:cNvPr id="10" name="Text 8"/>
          <p:cNvSpPr/>
          <p:nvPr/>
        </p:nvSpPr>
        <p:spPr>
          <a:xfrm>
            <a:off x="1892808" y="1700784"/>
            <a:ext cx="1298448" cy="594360"/>
          </a:xfrm>
          <a:prstGeom prst="rect">
            <a:avLst/>
          </a:prstGeom>
          <a:noFill/>
          <a:ln/>
        </p:spPr>
        <p:txBody>
          <a:bodyPr wrap="square" rtlCol="0" anchor="ctr"/>
          <a:lstStyle/>
          <a:p>
            <a:pPr indent="0" marL="0">
              <a:buNone/>
            </a:pPr>
            <a:r>
              <a:rPr lang="en-US" sz="900" dirty="0">
                <a:solidFill>
                  <a:srgbClr val="4A5568"/>
                </a:solidFill>
              </a:rPr>
              <a:t>Stomach, liver (L), pancreas (head)</a:t>
            </a:r>
            <a:endParaRPr lang="en-US" sz="900" dirty="0"/>
          </a:p>
        </p:txBody>
      </p:sp>
      <p:sp>
        <p:nvSpPr>
          <p:cNvPr id="11" name="Shape 9"/>
          <p:cNvSpPr/>
          <p:nvPr/>
        </p:nvSpPr>
        <p:spPr>
          <a:xfrm>
            <a:off x="3310128" y="1170432"/>
            <a:ext cx="1426464" cy="1170432"/>
          </a:xfrm>
          <a:prstGeom prst="rect">
            <a:avLst/>
          </a:prstGeom>
          <a:solidFill>
            <a:srgbClr val="FFF8E1"/>
          </a:solidFill>
          <a:ln w="12700">
            <a:solidFill>
              <a:srgbClr val="BBBBBB"/>
            </a:solidFill>
            <a:prstDash val="solid"/>
          </a:ln>
        </p:spPr>
      </p:sp>
      <p:sp>
        <p:nvSpPr>
          <p:cNvPr id="12" name="Text 10"/>
          <p:cNvSpPr/>
          <p:nvPr/>
        </p:nvSpPr>
        <p:spPr>
          <a:xfrm>
            <a:off x="3374136" y="1261872"/>
            <a:ext cx="1298448" cy="365760"/>
          </a:xfrm>
          <a:prstGeom prst="rect">
            <a:avLst/>
          </a:prstGeom>
          <a:noFill/>
          <a:ln/>
        </p:spPr>
        <p:txBody>
          <a:bodyPr wrap="square" rtlCol="0" anchor="ctr"/>
          <a:lstStyle/>
          <a:p>
            <a:pPr indent="0" marL="0">
              <a:buNone/>
            </a:pPr>
            <a:r>
              <a:rPr lang="en-US" sz="1000" b="1" dirty="0">
                <a:solidFill>
                  <a:srgbClr val="12203A"/>
                </a:solidFill>
              </a:rPr>
              <a:t>L. Hypochondriac</a:t>
            </a:r>
            <a:endParaRPr lang="en-US" sz="1000" dirty="0"/>
          </a:p>
        </p:txBody>
      </p:sp>
      <p:sp>
        <p:nvSpPr>
          <p:cNvPr id="13" name="Text 11"/>
          <p:cNvSpPr/>
          <p:nvPr/>
        </p:nvSpPr>
        <p:spPr>
          <a:xfrm>
            <a:off x="3374136" y="1700784"/>
            <a:ext cx="1298448" cy="594360"/>
          </a:xfrm>
          <a:prstGeom prst="rect">
            <a:avLst/>
          </a:prstGeom>
          <a:noFill/>
          <a:ln/>
        </p:spPr>
        <p:txBody>
          <a:bodyPr wrap="square" rtlCol="0" anchor="ctr"/>
          <a:lstStyle/>
          <a:p>
            <a:pPr indent="0" marL="0">
              <a:buNone/>
            </a:pPr>
            <a:r>
              <a:rPr lang="en-US" sz="900" dirty="0">
                <a:solidFill>
                  <a:srgbClr val="4A5568"/>
                </a:solidFill>
              </a:rPr>
              <a:t>Spleen, stomach, L kidney</a:t>
            </a:r>
            <a:endParaRPr lang="en-US" sz="900" dirty="0"/>
          </a:p>
        </p:txBody>
      </p:sp>
      <p:sp>
        <p:nvSpPr>
          <p:cNvPr id="14" name="Shape 12"/>
          <p:cNvSpPr/>
          <p:nvPr/>
        </p:nvSpPr>
        <p:spPr>
          <a:xfrm>
            <a:off x="347472" y="2404872"/>
            <a:ext cx="1426464" cy="1170432"/>
          </a:xfrm>
          <a:prstGeom prst="rect">
            <a:avLst/>
          </a:prstGeom>
          <a:solidFill>
            <a:srgbClr val="EDE0FA"/>
          </a:solidFill>
          <a:ln w="12700">
            <a:solidFill>
              <a:srgbClr val="BBBBBB"/>
            </a:solidFill>
            <a:prstDash val="solid"/>
          </a:ln>
        </p:spPr>
      </p:sp>
      <p:sp>
        <p:nvSpPr>
          <p:cNvPr id="15" name="Text 13"/>
          <p:cNvSpPr/>
          <p:nvPr/>
        </p:nvSpPr>
        <p:spPr>
          <a:xfrm>
            <a:off x="411480" y="2496312"/>
            <a:ext cx="1298448" cy="365760"/>
          </a:xfrm>
          <a:prstGeom prst="rect">
            <a:avLst/>
          </a:prstGeom>
          <a:noFill/>
          <a:ln/>
        </p:spPr>
        <p:txBody>
          <a:bodyPr wrap="square" rtlCol="0" anchor="ctr"/>
          <a:lstStyle/>
          <a:p>
            <a:pPr indent="0" marL="0">
              <a:buNone/>
            </a:pPr>
            <a:r>
              <a:rPr lang="en-US" sz="1000" b="1" dirty="0">
                <a:solidFill>
                  <a:srgbClr val="12203A"/>
                </a:solidFill>
              </a:rPr>
              <a:t>R. Lumbar</a:t>
            </a:r>
            <a:endParaRPr lang="en-US" sz="1000" dirty="0"/>
          </a:p>
        </p:txBody>
      </p:sp>
      <p:sp>
        <p:nvSpPr>
          <p:cNvPr id="16" name="Text 14"/>
          <p:cNvSpPr/>
          <p:nvPr/>
        </p:nvSpPr>
        <p:spPr>
          <a:xfrm>
            <a:off x="411480" y="2935224"/>
            <a:ext cx="1298448" cy="594360"/>
          </a:xfrm>
          <a:prstGeom prst="rect">
            <a:avLst/>
          </a:prstGeom>
          <a:noFill/>
          <a:ln/>
        </p:spPr>
        <p:txBody>
          <a:bodyPr wrap="square" rtlCol="0" anchor="ctr"/>
          <a:lstStyle/>
          <a:p>
            <a:pPr indent="0" marL="0">
              <a:buNone/>
            </a:pPr>
            <a:r>
              <a:rPr lang="en-US" sz="900" dirty="0">
                <a:solidFill>
                  <a:srgbClr val="4A5568"/>
                </a:solidFill>
              </a:rPr>
              <a:t>Ascending colon, R kidney</a:t>
            </a:r>
            <a:endParaRPr lang="en-US" sz="900" dirty="0"/>
          </a:p>
        </p:txBody>
      </p:sp>
      <p:sp>
        <p:nvSpPr>
          <p:cNvPr id="17" name="Shape 15"/>
          <p:cNvSpPr/>
          <p:nvPr/>
        </p:nvSpPr>
        <p:spPr>
          <a:xfrm>
            <a:off x="1828800" y="2404872"/>
            <a:ext cx="1426464" cy="1170432"/>
          </a:xfrm>
          <a:prstGeom prst="rect">
            <a:avLst/>
          </a:prstGeom>
          <a:solidFill>
            <a:srgbClr val="D6EEFA"/>
          </a:solidFill>
          <a:ln w="12700">
            <a:solidFill>
              <a:srgbClr val="BBBBBB"/>
            </a:solidFill>
            <a:prstDash val="solid"/>
          </a:ln>
        </p:spPr>
      </p:sp>
      <p:sp>
        <p:nvSpPr>
          <p:cNvPr id="18" name="Text 16"/>
          <p:cNvSpPr/>
          <p:nvPr/>
        </p:nvSpPr>
        <p:spPr>
          <a:xfrm>
            <a:off x="1892808" y="2496312"/>
            <a:ext cx="1298448" cy="365760"/>
          </a:xfrm>
          <a:prstGeom prst="rect">
            <a:avLst/>
          </a:prstGeom>
          <a:noFill/>
          <a:ln/>
        </p:spPr>
        <p:txBody>
          <a:bodyPr wrap="square" rtlCol="0" anchor="ctr"/>
          <a:lstStyle/>
          <a:p>
            <a:pPr indent="0" marL="0">
              <a:buNone/>
            </a:pPr>
            <a:r>
              <a:rPr lang="en-US" sz="1000" b="1" dirty="0">
                <a:solidFill>
                  <a:srgbClr val="12203A"/>
                </a:solidFill>
              </a:rPr>
              <a:t>Umbilical</a:t>
            </a:r>
            <a:endParaRPr lang="en-US" sz="1000" dirty="0"/>
          </a:p>
        </p:txBody>
      </p:sp>
      <p:sp>
        <p:nvSpPr>
          <p:cNvPr id="19" name="Text 17"/>
          <p:cNvSpPr/>
          <p:nvPr/>
        </p:nvSpPr>
        <p:spPr>
          <a:xfrm>
            <a:off x="1892808" y="2935224"/>
            <a:ext cx="1298448" cy="594360"/>
          </a:xfrm>
          <a:prstGeom prst="rect">
            <a:avLst/>
          </a:prstGeom>
          <a:noFill/>
          <a:ln/>
        </p:spPr>
        <p:txBody>
          <a:bodyPr wrap="square" rtlCol="0" anchor="ctr"/>
          <a:lstStyle/>
          <a:p>
            <a:pPr indent="0" marL="0">
              <a:buNone/>
            </a:pPr>
            <a:r>
              <a:rPr lang="en-US" sz="900" dirty="0">
                <a:solidFill>
                  <a:srgbClr val="4A5568"/>
                </a:solidFill>
              </a:rPr>
              <a:t>Umbilicus, small intestine</a:t>
            </a:r>
            <a:endParaRPr lang="en-US" sz="900" dirty="0"/>
          </a:p>
        </p:txBody>
      </p:sp>
      <p:sp>
        <p:nvSpPr>
          <p:cNvPr id="20" name="Shape 18"/>
          <p:cNvSpPr/>
          <p:nvPr/>
        </p:nvSpPr>
        <p:spPr>
          <a:xfrm>
            <a:off x="3310128" y="2404872"/>
            <a:ext cx="1426464" cy="1170432"/>
          </a:xfrm>
          <a:prstGeom prst="rect">
            <a:avLst/>
          </a:prstGeom>
          <a:solidFill>
            <a:srgbClr val="EDE0FA"/>
          </a:solidFill>
          <a:ln w="12700">
            <a:solidFill>
              <a:srgbClr val="BBBBBB"/>
            </a:solidFill>
            <a:prstDash val="solid"/>
          </a:ln>
        </p:spPr>
      </p:sp>
      <p:sp>
        <p:nvSpPr>
          <p:cNvPr id="21" name="Text 19"/>
          <p:cNvSpPr/>
          <p:nvPr/>
        </p:nvSpPr>
        <p:spPr>
          <a:xfrm>
            <a:off x="3374136" y="2496312"/>
            <a:ext cx="1298448" cy="365760"/>
          </a:xfrm>
          <a:prstGeom prst="rect">
            <a:avLst/>
          </a:prstGeom>
          <a:noFill/>
          <a:ln/>
        </p:spPr>
        <p:txBody>
          <a:bodyPr wrap="square" rtlCol="0" anchor="ctr"/>
          <a:lstStyle/>
          <a:p>
            <a:pPr indent="0" marL="0">
              <a:buNone/>
            </a:pPr>
            <a:r>
              <a:rPr lang="en-US" sz="1000" b="1" dirty="0">
                <a:solidFill>
                  <a:srgbClr val="12203A"/>
                </a:solidFill>
              </a:rPr>
              <a:t>L. Lumbar</a:t>
            </a:r>
            <a:endParaRPr lang="en-US" sz="1000" dirty="0"/>
          </a:p>
        </p:txBody>
      </p:sp>
      <p:sp>
        <p:nvSpPr>
          <p:cNvPr id="22" name="Text 20"/>
          <p:cNvSpPr/>
          <p:nvPr/>
        </p:nvSpPr>
        <p:spPr>
          <a:xfrm>
            <a:off x="3374136" y="2935224"/>
            <a:ext cx="1298448" cy="594360"/>
          </a:xfrm>
          <a:prstGeom prst="rect">
            <a:avLst/>
          </a:prstGeom>
          <a:noFill/>
          <a:ln/>
        </p:spPr>
        <p:txBody>
          <a:bodyPr wrap="square" rtlCol="0" anchor="ctr"/>
          <a:lstStyle/>
          <a:p>
            <a:pPr indent="0" marL="0">
              <a:buNone/>
            </a:pPr>
            <a:r>
              <a:rPr lang="en-US" sz="900" dirty="0">
                <a:solidFill>
                  <a:srgbClr val="4A5568"/>
                </a:solidFill>
              </a:rPr>
              <a:t>Descending colon, L kidney</a:t>
            </a:r>
            <a:endParaRPr lang="en-US" sz="900" dirty="0"/>
          </a:p>
        </p:txBody>
      </p:sp>
      <p:sp>
        <p:nvSpPr>
          <p:cNvPr id="23" name="Shape 21"/>
          <p:cNvSpPr/>
          <p:nvPr/>
        </p:nvSpPr>
        <p:spPr>
          <a:xfrm>
            <a:off x="347472" y="3639312"/>
            <a:ext cx="1426464" cy="1170432"/>
          </a:xfrm>
          <a:prstGeom prst="rect">
            <a:avLst/>
          </a:prstGeom>
          <a:solidFill>
            <a:srgbClr val="D4EDDA"/>
          </a:solidFill>
          <a:ln w="12700">
            <a:solidFill>
              <a:srgbClr val="BBBBBB"/>
            </a:solidFill>
            <a:prstDash val="solid"/>
          </a:ln>
        </p:spPr>
      </p:sp>
      <p:sp>
        <p:nvSpPr>
          <p:cNvPr id="24" name="Text 22"/>
          <p:cNvSpPr/>
          <p:nvPr/>
        </p:nvSpPr>
        <p:spPr>
          <a:xfrm>
            <a:off x="411480" y="3730752"/>
            <a:ext cx="1298448" cy="365760"/>
          </a:xfrm>
          <a:prstGeom prst="rect">
            <a:avLst/>
          </a:prstGeom>
          <a:noFill/>
          <a:ln/>
        </p:spPr>
        <p:txBody>
          <a:bodyPr wrap="square" rtlCol="0" anchor="ctr"/>
          <a:lstStyle/>
          <a:p>
            <a:pPr indent="0" marL="0">
              <a:buNone/>
            </a:pPr>
            <a:r>
              <a:rPr lang="en-US" sz="1000" b="1" dirty="0">
                <a:solidFill>
                  <a:srgbClr val="12203A"/>
                </a:solidFill>
              </a:rPr>
              <a:t>R. Iliac/Inguinal</a:t>
            </a:r>
            <a:endParaRPr lang="en-US" sz="1000" dirty="0"/>
          </a:p>
        </p:txBody>
      </p:sp>
      <p:sp>
        <p:nvSpPr>
          <p:cNvPr id="25" name="Text 23"/>
          <p:cNvSpPr/>
          <p:nvPr/>
        </p:nvSpPr>
        <p:spPr>
          <a:xfrm>
            <a:off x="411480" y="4169664"/>
            <a:ext cx="1298448" cy="594360"/>
          </a:xfrm>
          <a:prstGeom prst="rect">
            <a:avLst/>
          </a:prstGeom>
          <a:noFill/>
          <a:ln/>
        </p:spPr>
        <p:txBody>
          <a:bodyPr wrap="square" rtlCol="0" anchor="ctr"/>
          <a:lstStyle/>
          <a:p>
            <a:pPr indent="0" marL="0">
              <a:buNone/>
            </a:pPr>
            <a:r>
              <a:rPr lang="en-US" sz="900" dirty="0">
                <a:solidFill>
                  <a:srgbClr val="4A5568"/>
                </a:solidFill>
              </a:rPr>
              <a:t>Cecum, appendix (McBurney's pt)</a:t>
            </a:r>
            <a:endParaRPr lang="en-US" sz="900" dirty="0"/>
          </a:p>
        </p:txBody>
      </p:sp>
      <p:sp>
        <p:nvSpPr>
          <p:cNvPr id="26" name="Shape 24"/>
          <p:cNvSpPr/>
          <p:nvPr/>
        </p:nvSpPr>
        <p:spPr>
          <a:xfrm>
            <a:off x="1828800" y="3639312"/>
            <a:ext cx="1426464" cy="1170432"/>
          </a:xfrm>
          <a:prstGeom prst="rect">
            <a:avLst/>
          </a:prstGeom>
          <a:solidFill>
            <a:srgbClr val="D4EDDA"/>
          </a:solidFill>
          <a:ln w="12700">
            <a:solidFill>
              <a:srgbClr val="BBBBBB"/>
            </a:solidFill>
            <a:prstDash val="solid"/>
          </a:ln>
        </p:spPr>
      </p:sp>
      <p:sp>
        <p:nvSpPr>
          <p:cNvPr id="27" name="Text 25"/>
          <p:cNvSpPr/>
          <p:nvPr/>
        </p:nvSpPr>
        <p:spPr>
          <a:xfrm>
            <a:off x="1892808" y="3730752"/>
            <a:ext cx="1298448" cy="365760"/>
          </a:xfrm>
          <a:prstGeom prst="rect">
            <a:avLst/>
          </a:prstGeom>
          <a:noFill/>
          <a:ln/>
        </p:spPr>
        <p:txBody>
          <a:bodyPr wrap="square" rtlCol="0" anchor="ctr"/>
          <a:lstStyle/>
          <a:p>
            <a:pPr indent="0" marL="0">
              <a:buNone/>
            </a:pPr>
            <a:r>
              <a:rPr lang="en-US" sz="1000" b="1" dirty="0">
                <a:solidFill>
                  <a:srgbClr val="12203A"/>
                </a:solidFill>
              </a:rPr>
              <a:t>Hypogastric</a:t>
            </a:r>
            <a:endParaRPr lang="en-US" sz="1000" dirty="0"/>
          </a:p>
        </p:txBody>
      </p:sp>
      <p:sp>
        <p:nvSpPr>
          <p:cNvPr id="28" name="Text 26"/>
          <p:cNvSpPr/>
          <p:nvPr/>
        </p:nvSpPr>
        <p:spPr>
          <a:xfrm>
            <a:off x="1892808" y="4169664"/>
            <a:ext cx="1298448" cy="594360"/>
          </a:xfrm>
          <a:prstGeom prst="rect">
            <a:avLst/>
          </a:prstGeom>
          <a:noFill/>
          <a:ln/>
        </p:spPr>
        <p:txBody>
          <a:bodyPr wrap="square" rtlCol="0" anchor="ctr"/>
          <a:lstStyle/>
          <a:p>
            <a:pPr indent="0" marL="0">
              <a:buNone/>
            </a:pPr>
            <a:r>
              <a:rPr lang="en-US" sz="900" dirty="0">
                <a:solidFill>
                  <a:srgbClr val="4A5568"/>
                </a:solidFill>
              </a:rPr>
              <a:t>Bladder, uterus, sigmoid colon</a:t>
            </a:r>
            <a:endParaRPr lang="en-US" sz="900" dirty="0"/>
          </a:p>
        </p:txBody>
      </p:sp>
      <p:sp>
        <p:nvSpPr>
          <p:cNvPr id="29" name="Shape 27"/>
          <p:cNvSpPr/>
          <p:nvPr/>
        </p:nvSpPr>
        <p:spPr>
          <a:xfrm>
            <a:off x="3310128" y="3639312"/>
            <a:ext cx="1426464" cy="1170432"/>
          </a:xfrm>
          <a:prstGeom prst="rect">
            <a:avLst/>
          </a:prstGeom>
          <a:solidFill>
            <a:srgbClr val="D4EDDA"/>
          </a:solidFill>
          <a:ln w="12700">
            <a:solidFill>
              <a:srgbClr val="BBBBBB"/>
            </a:solidFill>
            <a:prstDash val="solid"/>
          </a:ln>
        </p:spPr>
      </p:sp>
      <p:sp>
        <p:nvSpPr>
          <p:cNvPr id="30" name="Text 28"/>
          <p:cNvSpPr/>
          <p:nvPr/>
        </p:nvSpPr>
        <p:spPr>
          <a:xfrm>
            <a:off x="3374136" y="3730752"/>
            <a:ext cx="1298448" cy="365760"/>
          </a:xfrm>
          <a:prstGeom prst="rect">
            <a:avLst/>
          </a:prstGeom>
          <a:noFill/>
          <a:ln/>
        </p:spPr>
        <p:txBody>
          <a:bodyPr wrap="square" rtlCol="0" anchor="ctr"/>
          <a:lstStyle/>
          <a:p>
            <a:pPr indent="0" marL="0">
              <a:buNone/>
            </a:pPr>
            <a:r>
              <a:rPr lang="en-US" sz="1000" b="1" dirty="0">
                <a:solidFill>
                  <a:srgbClr val="12203A"/>
                </a:solidFill>
              </a:rPr>
              <a:t>L. Iliac/Inguinal</a:t>
            </a:r>
            <a:endParaRPr lang="en-US" sz="1000" dirty="0"/>
          </a:p>
        </p:txBody>
      </p:sp>
      <p:sp>
        <p:nvSpPr>
          <p:cNvPr id="31" name="Text 29"/>
          <p:cNvSpPr/>
          <p:nvPr/>
        </p:nvSpPr>
        <p:spPr>
          <a:xfrm>
            <a:off x="3374136" y="4169664"/>
            <a:ext cx="1298448" cy="594360"/>
          </a:xfrm>
          <a:prstGeom prst="rect">
            <a:avLst/>
          </a:prstGeom>
          <a:noFill/>
          <a:ln/>
        </p:spPr>
        <p:txBody>
          <a:bodyPr wrap="square" rtlCol="0" anchor="ctr"/>
          <a:lstStyle/>
          <a:p>
            <a:pPr indent="0" marL="0">
              <a:buNone/>
            </a:pPr>
            <a:r>
              <a:rPr lang="en-US" sz="900" dirty="0">
                <a:solidFill>
                  <a:srgbClr val="4A5568"/>
                </a:solidFill>
              </a:rPr>
              <a:t>Sigmoid colon, L ureter</a:t>
            </a:r>
            <a:endParaRPr lang="en-US" sz="900" dirty="0"/>
          </a:p>
        </p:txBody>
      </p:sp>
      <p:sp>
        <p:nvSpPr>
          <p:cNvPr id="32" name="Text 30"/>
          <p:cNvSpPr/>
          <p:nvPr/>
        </p:nvSpPr>
        <p:spPr>
          <a:xfrm>
            <a:off x="5074920" y="777240"/>
            <a:ext cx="3840480" cy="320040"/>
          </a:xfrm>
          <a:prstGeom prst="rect">
            <a:avLst/>
          </a:prstGeom>
          <a:noFill/>
          <a:ln/>
        </p:spPr>
        <p:txBody>
          <a:bodyPr wrap="square" rtlCol="0" anchor="ctr"/>
          <a:lstStyle/>
          <a:p>
            <a:pPr indent="0" marL="0">
              <a:buNone/>
            </a:pPr>
            <a:r>
              <a:rPr lang="en-US" sz="1400" b="1" dirty="0">
                <a:solidFill>
                  <a:srgbClr val="185FA5"/>
                </a:solidFill>
              </a:rPr>
              <a:t>4 Quadrants (RUQ · LUQ · RLQ · LLQ)</a:t>
            </a:r>
            <a:endParaRPr lang="en-US" sz="1400" dirty="0"/>
          </a:p>
        </p:txBody>
      </p:sp>
      <p:sp>
        <p:nvSpPr>
          <p:cNvPr id="33" name="Shape 31"/>
          <p:cNvSpPr/>
          <p:nvPr/>
        </p:nvSpPr>
        <p:spPr>
          <a:xfrm>
            <a:off x="5074920" y="1170432"/>
            <a:ext cx="1828800" cy="2048256"/>
          </a:xfrm>
          <a:prstGeom prst="rect">
            <a:avLst/>
          </a:prstGeom>
          <a:solidFill>
            <a:srgbClr val="FDE8B0"/>
          </a:solidFill>
          <a:ln w="12700">
            <a:solidFill>
              <a:srgbClr val="BBBBBB"/>
            </a:solidFill>
            <a:prstDash val="solid"/>
          </a:ln>
        </p:spPr>
      </p:sp>
      <p:sp>
        <p:nvSpPr>
          <p:cNvPr id="34" name="Text 32"/>
          <p:cNvSpPr/>
          <p:nvPr/>
        </p:nvSpPr>
        <p:spPr>
          <a:xfrm>
            <a:off x="5166360" y="1261872"/>
            <a:ext cx="1645920" cy="384048"/>
          </a:xfrm>
          <a:prstGeom prst="rect">
            <a:avLst/>
          </a:prstGeom>
          <a:noFill/>
          <a:ln/>
        </p:spPr>
        <p:txBody>
          <a:bodyPr wrap="square" rtlCol="0" anchor="ctr"/>
          <a:lstStyle/>
          <a:p>
            <a:pPr algn="ctr" indent="0" marL="0">
              <a:buNone/>
            </a:pPr>
            <a:r>
              <a:rPr lang="en-US" sz="2200" b="1" dirty="0">
                <a:solidFill>
                  <a:srgbClr val="12203A"/>
                </a:solidFill>
              </a:rPr>
              <a:t>RUQ</a:t>
            </a:r>
            <a:endParaRPr lang="en-US" sz="2200" dirty="0"/>
          </a:p>
        </p:txBody>
      </p:sp>
      <p:sp>
        <p:nvSpPr>
          <p:cNvPr id="35" name="Text 33"/>
          <p:cNvSpPr/>
          <p:nvPr/>
        </p:nvSpPr>
        <p:spPr>
          <a:xfrm>
            <a:off x="5166360" y="1700784"/>
            <a:ext cx="1645920" cy="237744"/>
          </a:xfrm>
          <a:prstGeom prst="rect">
            <a:avLst/>
          </a:prstGeom>
          <a:noFill/>
          <a:ln/>
        </p:spPr>
        <p:txBody>
          <a:bodyPr wrap="square" rtlCol="0" anchor="ctr"/>
          <a:lstStyle/>
          <a:p>
            <a:pPr algn="ctr" indent="0" marL="0">
              <a:buNone/>
            </a:pPr>
            <a:r>
              <a:rPr lang="en-US" sz="1100" dirty="0">
                <a:solidFill>
                  <a:srgbClr val="4A5568"/>
                </a:solidFill>
              </a:rPr>
              <a:t>Right Upper</a:t>
            </a:r>
            <a:endParaRPr lang="en-US" sz="1100" dirty="0"/>
          </a:p>
        </p:txBody>
      </p:sp>
      <p:sp>
        <p:nvSpPr>
          <p:cNvPr id="36" name="Text 34"/>
          <p:cNvSpPr/>
          <p:nvPr/>
        </p:nvSpPr>
        <p:spPr>
          <a:xfrm>
            <a:off x="5166360" y="1993392"/>
            <a:ext cx="1645920" cy="1143000"/>
          </a:xfrm>
          <a:prstGeom prst="rect">
            <a:avLst/>
          </a:prstGeom>
          <a:noFill/>
          <a:ln/>
        </p:spPr>
        <p:txBody>
          <a:bodyPr wrap="square" rtlCol="0" anchor="ctr"/>
          <a:lstStyle/>
          <a:p>
            <a:pPr indent="0" marL="0">
              <a:buNone/>
            </a:pPr>
            <a:r>
              <a:rPr lang="en-US" sz="950" dirty="0">
                <a:solidFill>
                  <a:srgbClr val="12203A"/>
                </a:solidFill>
              </a:rPr>
              <a:t>Liver (R), gallbladder, R kidney, duodenum, ascending colon</a:t>
            </a:r>
            <a:endParaRPr lang="en-US" sz="950" dirty="0"/>
          </a:p>
        </p:txBody>
      </p:sp>
      <p:sp>
        <p:nvSpPr>
          <p:cNvPr id="37" name="Shape 35"/>
          <p:cNvSpPr/>
          <p:nvPr/>
        </p:nvSpPr>
        <p:spPr>
          <a:xfrm>
            <a:off x="6976872" y="1170432"/>
            <a:ext cx="1828800" cy="2048256"/>
          </a:xfrm>
          <a:prstGeom prst="rect">
            <a:avLst/>
          </a:prstGeom>
          <a:solidFill>
            <a:srgbClr val="D6EEFA"/>
          </a:solidFill>
          <a:ln w="12700">
            <a:solidFill>
              <a:srgbClr val="BBBBBB"/>
            </a:solidFill>
            <a:prstDash val="solid"/>
          </a:ln>
        </p:spPr>
      </p:sp>
      <p:sp>
        <p:nvSpPr>
          <p:cNvPr id="38" name="Text 36"/>
          <p:cNvSpPr/>
          <p:nvPr/>
        </p:nvSpPr>
        <p:spPr>
          <a:xfrm>
            <a:off x="7068312" y="1261872"/>
            <a:ext cx="1645920" cy="384048"/>
          </a:xfrm>
          <a:prstGeom prst="rect">
            <a:avLst/>
          </a:prstGeom>
          <a:noFill/>
          <a:ln/>
        </p:spPr>
        <p:txBody>
          <a:bodyPr wrap="square" rtlCol="0" anchor="ctr"/>
          <a:lstStyle/>
          <a:p>
            <a:pPr algn="ctr" indent="0" marL="0">
              <a:buNone/>
            </a:pPr>
            <a:r>
              <a:rPr lang="en-US" sz="2200" b="1" dirty="0">
                <a:solidFill>
                  <a:srgbClr val="12203A"/>
                </a:solidFill>
              </a:rPr>
              <a:t>LUQ</a:t>
            </a:r>
            <a:endParaRPr lang="en-US" sz="2200" dirty="0"/>
          </a:p>
        </p:txBody>
      </p:sp>
      <p:sp>
        <p:nvSpPr>
          <p:cNvPr id="39" name="Text 37"/>
          <p:cNvSpPr/>
          <p:nvPr/>
        </p:nvSpPr>
        <p:spPr>
          <a:xfrm>
            <a:off x="7068312" y="1700784"/>
            <a:ext cx="1645920" cy="237744"/>
          </a:xfrm>
          <a:prstGeom prst="rect">
            <a:avLst/>
          </a:prstGeom>
          <a:noFill/>
          <a:ln/>
        </p:spPr>
        <p:txBody>
          <a:bodyPr wrap="square" rtlCol="0" anchor="ctr"/>
          <a:lstStyle/>
          <a:p>
            <a:pPr algn="ctr" indent="0" marL="0">
              <a:buNone/>
            </a:pPr>
            <a:r>
              <a:rPr lang="en-US" sz="1100" dirty="0">
                <a:solidFill>
                  <a:srgbClr val="4A5568"/>
                </a:solidFill>
              </a:rPr>
              <a:t>Left Upper</a:t>
            </a:r>
            <a:endParaRPr lang="en-US" sz="1100" dirty="0"/>
          </a:p>
        </p:txBody>
      </p:sp>
      <p:sp>
        <p:nvSpPr>
          <p:cNvPr id="40" name="Text 38"/>
          <p:cNvSpPr/>
          <p:nvPr/>
        </p:nvSpPr>
        <p:spPr>
          <a:xfrm>
            <a:off x="7068312" y="1993392"/>
            <a:ext cx="1645920" cy="1143000"/>
          </a:xfrm>
          <a:prstGeom prst="rect">
            <a:avLst/>
          </a:prstGeom>
          <a:noFill/>
          <a:ln/>
        </p:spPr>
        <p:txBody>
          <a:bodyPr wrap="square" rtlCol="0" anchor="ctr"/>
          <a:lstStyle/>
          <a:p>
            <a:pPr indent="0" marL="0">
              <a:buNone/>
            </a:pPr>
            <a:r>
              <a:rPr lang="en-US" sz="950" dirty="0">
                <a:solidFill>
                  <a:srgbClr val="12203A"/>
                </a:solidFill>
              </a:rPr>
              <a:t>Stomach, spleen, pancreas (tail), L kidney, transverse colon</a:t>
            </a:r>
            <a:endParaRPr lang="en-US" sz="950" dirty="0"/>
          </a:p>
        </p:txBody>
      </p:sp>
      <p:sp>
        <p:nvSpPr>
          <p:cNvPr id="41" name="Shape 39"/>
          <p:cNvSpPr/>
          <p:nvPr/>
        </p:nvSpPr>
        <p:spPr>
          <a:xfrm>
            <a:off x="5074920" y="3328416"/>
            <a:ext cx="1828800" cy="2048256"/>
          </a:xfrm>
          <a:prstGeom prst="rect">
            <a:avLst/>
          </a:prstGeom>
          <a:solidFill>
            <a:srgbClr val="D4EDDA"/>
          </a:solidFill>
          <a:ln w="12700">
            <a:solidFill>
              <a:srgbClr val="BBBBBB"/>
            </a:solidFill>
            <a:prstDash val="solid"/>
          </a:ln>
        </p:spPr>
      </p:sp>
      <p:sp>
        <p:nvSpPr>
          <p:cNvPr id="42" name="Text 40"/>
          <p:cNvSpPr/>
          <p:nvPr/>
        </p:nvSpPr>
        <p:spPr>
          <a:xfrm>
            <a:off x="5166360" y="3419856"/>
            <a:ext cx="1645920" cy="384048"/>
          </a:xfrm>
          <a:prstGeom prst="rect">
            <a:avLst/>
          </a:prstGeom>
          <a:noFill/>
          <a:ln/>
        </p:spPr>
        <p:txBody>
          <a:bodyPr wrap="square" rtlCol="0" anchor="ctr"/>
          <a:lstStyle/>
          <a:p>
            <a:pPr algn="ctr" indent="0" marL="0">
              <a:buNone/>
            </a:pPr>
            <a:r>
              <a:rPr lang="en-US" sz="2200" b="1" dirty="0">
                <a:solidFill>
                  <a:srgbClr val="12203A"/>
                </a:solidFill>
              </a:rPr>
              <a:t>RLQ</a:t>
            </a:r>
            <a:endParaRPr lang="en-US" sz="2200" dirty="0"/>
          </a:p>
        </p:txBody>
      </p:sp>
      <p:sp>
        <p:nvSpPr>
          <p:cNvPr id="43" name="Text 41"/>
          <p:cNvSpPr/>
          <p:nvPr/>
        </p:nvSpPr>
        <p:spPr>
          <a:xfrm>
            <a:off x="5166360" y="3858768"/>
            <a:ext cx="1645920" cy="237744"/>
          </a:xfrm>
          <a:prstGeom prst="rect">
            <a:avLst/>
          </a:prstGeom>
          <a:noFill/>
          <a:ln/>
        </p:spPr>
        <p:txBody>
          <a:bodyPr wrap="square" rtlCol="0" anchor="ctr"/>
          <a:lstStyle/>
          <a:p>
            <a:pPr algn="ctr" indent="0" marL="0">
              <a:buNone/>
            </a:pPr>
            <a:r>
              <a:rPr lang="en-US" sz="1100" dirty="0">
                <a:solidFill>
                  <a:srgbClr val="4A5568"/>
                </a:solidFill>
              </a:rPr>
              <a:t>Right Lower</a:t>
            </a:r>
            <a:endParaRPr lang="en-US" sz="1100" dirty="0"/>
          </a:p>
        </p:txBody>
      </p:sp>
      <p:sp>
        <p:nvSpPr>
          <p:cNvPr id="44" name="Text 42"/>
          <p:cNvSpPr/>
          <p:nvPr/>
        </p:nvSpPr>
        <p:spPr>
          <a:xfrm>
            <a:off x="5166360" y="4151376"/>
            <a:ext cx="1645920" cy="1143000"/>
          </a:xfrm>
          <a:prstGeom prst="rect">
            <a:avLst/>
          </a:prstGeom>
          <a:noFill/>
          <a:ln/>
        </p:spPr>
        <p:txBody>
          <a:bodyPr wrap="square" rtlCol="0" anchor="ctr"/>
          <a:lstStyle/>
          <a:p>
            <a:pPr indent="0" marL="0">
              <a:buNone/>
            </a:pPr>
            <a:r>
              <a:rPr lang="en-US" sz="950" dirty="0">
                <a:solidFill>
                  <a:srgbClr val="12203A"/>
                </a:solidFill>
              </a:rPr>
              <a:t>Cecum, appendix (McBurney's point), R ovary/tube</a:t>
            </a:r>
            <a:endParaRPr lang="en-US" sz="950" dirty="0"/>
          </a:p>
        </p:txBody>
      </p:sp>
      <p:sp>
        <p:nvSpPr>
          <p:cNvPr id="45" name="Shape 43"/>
          <p:cNvSpPr/>
          <p:nvPr/>
        </p:nvSpPr>
        <p:spPr>
          <a:xfrm>
            <a:off x="6976872" y="3328416"/>
            <a:ext cx="1828800" cy="2048256"/>
          </a:xfrm>
          <a:prstGeom prst="rect">
            <a:avLst/>
          </a:prstGeom>
          <a:solidFill>
            <a:srgbClr val="FDECEA"/>
          </a:solidFill>
          <a:ln w="12700">
            <a:solidFill>
              <a:srgbClr val="BBBBBB"/>
            </a:solidFill>
            <a:prstDash val="solid"/>
          </a:ln>
        </p:spPr>
      </p:sp>
      <p:sp>
        <p:nvSpPr>
          <p:cNvPr id="46" name="Text 44"/>
          <p:cNvSpPr/>
          <p:nvPr/>
        </p:nvSpPr>
        <p:spPr>
          <a:xfrm>
            <a:off x="7068312" y="3419856"/>
            <a:ext cx="1645920" cy="384048"/>
          </a:xfrm>
          <a:prstGeom prst="rect">
            <a:avLst/>
          </a:prstGeom>
          <a:noFill/>
          <a:ln/>
        </p:spPr>
        <p:txBody>
          <a:bodyPr wrap="square" rtlCol="0" anchor="ctr"/>
          <a:lstStyle/>
          <a:p>
            <a:pPr algn="ctr" indent="0" marL="0">
              <a:buNone/>
            </a:pPr>
            <a:r>
              <a:rPr lang="en-US" sz="2200" b="1" dirty="0">
                <a:solidFill>
                  <a:srgbClr val="12203A"/>
                </a:solidFill>
              </a:rPr>
              <a:t>LLQ</a:t>
            </a:r>
            <a:endParaRPr lang="en-US" sz="2200" dirty="0"/>
          </a:p>
        </p:txBody>
      </p:sp>
      <p:sp>
        <p:nvSpPr>
          <p:cNvPr id="47" name="Text 45"/>
          <p:cNvSpPr/>
          <p:nvPr/>
        </p:nvSpPr>
        <p:spPr>
          <a:xfrm>
            <a:off x="7068312" y="3858768"/>
            <a:ext cx="1645920" cy="237744"/>
          </a:xfrm>
          <a:prstGeom prst="rect">
            <a:avLst/>
          </a:prstGeom>
          <a:noFill/>
          <a:ln/>
        </p:spPr>
        <p:txBody>
          <a:bodyPr wrap="square" rtlCol="0" anchor="ctr"/>
          <a:lstStyle/>
          <a:p>
            <a:pPr algn="ctr" indent="0" marL="0">
              <a:buNone/>
            </a:pPr>
            <a:r>
              <a:rPr lang="en-US" sz="1100" dirty="0">
                <a:solidFill>
                  <a:srgbClr val="4A5568"/>
                </a:solidFill>
              </a:rPr>
              <a:t>Left Lower</a:t>
            </a:r>
            <a:endParaRPr lang="en-US" sz="1100" dirty="0"/>
          </a:p>
        </p:txBody>
      </p:sp>
      <p:sp>
        <p:nvSpPr>
          <p:cNvPr id="48" name="Text 46"/>
          <p:cNvSpPr/>
          <p:nvPr/>
        </p:nvSpPr>
        <p:spPr>
          <a:xfrm>
            <a:off x="7068312" y="4151376"/>
            <a:ext cx="1645920" cy="1143000"/>
          </a:xfrm>
          <a:prstGeom prst="rect">
            <a:avLst/>
          </a:prstGeom>
          <a:noFill/>
          <a:ln/>
        </p:spPr>
        <p:txBody>
          <a:bodyPr wrap="square" rtlCol="0" anchor="ctr"/>
          <a:lstStyle/>
          <a:p>
            <a:pPr indent="0" marL="0">
              <a:buNone/>
            </a:pPr>
            <a:r>
              <a:rPr lang="en-US" sz="950" dirty="0">
                <a:solidFill>
                  <a:srgbClr val="12203A"/>
                </a:solidFill>
              </a:rPr>
              <a:t>Sigmoid colon, L ovary/tube (Munro's point)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11</a:t>
            </a:r>
            <a:endParaRPr lang="en-US" sz="900" dirty="0"/>
          </a:p>
        </p:txBody>
      </p:sp>
      <p:sp>
        <p:nvSpPr>
          <p:cNvPr id="3" name="Shape 1"/>
          <p:cNvSpPr/>
          <p:nvPr/>
        </p:nvSpPr>
        <p:spPr>
          <a:xfrm>
            <a:off x="0" y="0"/>
            <a:ext cx="9144000" cy="685800"/>
          </a:xfrm>
          <a:prstGeom prst="rect">
            <a:avLst/>
          </a:prstGeom>
          <a:solidFill>
            <a:srgbClr val="7B3FA0"/>
          </a:solidFill>
          <a:ln w="12700">
            <a:solidFill>
              <a:srgbClr val="7B3FA0"/>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indent="0" marL="0">
              <a:buNone/>
            </a:pPr>
            <a:r>
              <a:rPr lang="en-US" sz="2800" b="1" dirty="0">
                <a:solidFill>
                  <a:srgbClr val="FFFFFF"/>
                </a:solidFill>
              </a:rPr>
              <a:t>Body Planes</a:t>
            </a:r>
            <a:endParaRPr lang="en-US" sz="2800" dirty="0"/>
          </a:p>
        </p:txBody>
      </p:sp>
      <p:sp>
        <p:nvSpPr>
          <p:cNvPr id="5" name="Shape 3"/>
          <p:cNvSpPr/>
          <p:nvPr/>
        </p:nvSpPr>
        <p:spPr>
          <a:xfrm>
            <a:off x="347472" y="795528"/>
            <a:ext cx="8449056" cy="822960"/>
          </a:xfrm>
          <a:prstGeom prst="rect">
            <a:avLst/>
          </a:prstGeom>
          <a:solidFill>
            <a:srgbClr val="EDE0FA"/>
          </a:solidFill>
          <a:ln w="12700">
            <a:solidFill>
              <a:srgbClr val="7B3FA0"/>
            </a:solidFill>
            <a:prstDash val="solid"/>
          </a:ln>
        </p:spPr>
      </p:sp>
      <p:sp>
        <p:nvSpPr>
          <p:cNvPr id="6" name="Shape 4"/>
          <p:cNvSpPr/>
          <p:nvPr/>
        </p:nvSpPr>
        <p:spPr>
          <a:xfrm>
            <a:off x="347472" y="795528"/>
            <a:ext cx="73152" cy="822960"/>
          </a:xfrm>
          <a:prstGeom prst="rect">
            <a:avLst/>
          </a:prstGeom>
          <a:solidFill>
            <a:srgbClr val="7B3FA0"/>
          </a:solidFill>
          <a:ln w="12700">
            <a:solidFill>
              <a:srgbClr val="7B3FA0"/>
            </a:solidFill>
            <a:prstDash val="solid"/>
          </a:ln>
        </p:spPr>
      </p:sp>
      <p:sp>
        <p:nvSpPr>
          <p:cNvPr id="7" name="Text 5"/>
          <p:cNvSpPr/>
          <p:nvPr/>
        </p:nvSpPr>
        <p:spPr>
          <a:xfrm>
            <a:off x="502920" y="859536"/>
            <a:ext cx="3200400" cy="246888"/>
          </a:xfrm>
          <a:prstGeom prst="rect">
            <a:avLst/>
          </a:prstGeom>
          <a:noFill/>
          <a:ln/>
        </p:spPr>
        <p:txBody>
          <a:bodyPr wrap="square" rtlCol="0" anchor="ctr"/>
          <a:lstStyle/>
          <a:p>
            <a:pPr indent="0" marL="0">
              <a:buNone/>
            </a:pPr>
            <a:r>
              <a:rPr lang="en-US" sz="1300" b="1" dirty="0">
                <a:solidFill>
                  <a:srgbClr val="7B3FA0"/>
                </a:solidFill>
              </a:rPr>
              <a:t>Sagittal plane</a:t>
            </a:r>
            <a:endParaRPr lang="en-US" sz="1300" dirty="0"/>
          </a:p>
        </p:txBody>
      </p:sp>
      <p:sp>
        <p:nvSpPr>
          <p:cNvPr id="8" name="Text 6"/>
          <p:cNvSpPr/>
          <p:nvPr/>
        </p:nvSpPr>
        <p:spPr>
          <a:xfrm>
            <a:off x="502920" y="1133856"/>
            <a:ext cx="2743200" cy="182880"/>
          </a:xfrm>
          <a:prstGeom prst="rect">
            <a:avLst/>
          </a:prstGeom>
          <a:noFill/>
          <a:ln/>
        </p:spPr>
        <p:txBody>
          <a:bodyPr wrap="square" rtlCol="0" anchor="ctr"/>
          <a:lstStyle/>
          <a:p>
            <a:pPr indent="0" marL="0">
              <a:buNone/>
            </a:pPr>
            <a:r>
              <a:rPr lang="en-US" sz="950" i="1" dirty="0">
                <a:solidFill>
                  <a:srgbClr val="4A5568"/>
                </a:solidFill>
              </a:rPr>
              <a:t>Divides: Left | Right (unequal portions)</a:t>
            </a:r>
            <a:endParaRPr lang="en-US" sz="950" dirty="0"/>
          </a:p>
        </p:txBody>
      </p:sp>
      <p:sp>
        <p:nvSpPr>
          <p:cNvPr id="9" name="Text 7"/>
          <p:cNvSpPr/>
          <p:nvPr/>
        </p:nvSpPr>
        <p:spPr>
          <a:xfrm>
            <a:off x="3383280" y="868680"/>
            <a:ext cx="5349240" cy="694944"/>
          </a:xfrm>
          <a:prstGeom prst="rect">
            <a:avLst/>
          </a:prstGeom>
          <a:noFill/>
          <a:ln/>
        </p:spPr>
        <p:txBody>
          <a:bodyPr wrap="square" rtlCol="0" anchor="ctr"/>
          <a:lstStyle/>
          <a:p>
            <a:pPr indent="0" marL="0">
              <a:buNone/>
            </a:pPr>
            <a:r>
              <a:rPr lang="en-US" sz="1050" dirty="0">
                <a:solidFill>
                  <a:srgbClr val="12203A"/>
                </a:solidFill>
              </a:rPr>
              <a:t>Vertical plane running front to back, dividing the body into LEFT and RIGHT portions. Not necessarily equal. Multiple sagittal planes exist at different positions. Runs parallel to the midline.</a:t>
            </a:r>
            <a:endParaRPr lang="en-US" sz="1050" dirty="0"/>
          </a:p>
        </p:txBody>
      </p:sp>
      <p:sp>
        <p:nvSpPr>
          <p:cNvPr id="10" name="Shape 8"/>
          <p:cNvSpPr/>
          <p:nvPr/>
        </p:nvSpPr>
        <p:spPr>
          <a:xfrm>
            <a:off x="347472" y="1682496"/>
            <a:ext cx="8449056" cy="822960"/>
          </a:xfrm>
          <a:prstGeom prst="rect">
            <a:avLst/>
          </a:prstGeom>
          <a:solidFill>
            <a:srgbClr val="EDE0FA"/>
          </a:solidFill>
          <a:ln w="12700">
            <a:solidFill>
              <a:srgbClr val="7B3FA0"/>
            </a:solidFill>
            <a:prstDash val="solid"/>
          </a:ln>
        </p:spPr>
      </p:sp>
      <p:sp>
        <p:nvSpPr>
          <p:cNvPr id="11" name="Shape 9"/>
          <p:cNvSpPr/>
          <p:nvPr/>
        </p:nvSpPr>
        <p:spPr>
          <a:xfrm>
            <a:off x="347472" y="1682496"/>
            <a:ext cx="73152" cy="822960"/>
          </a:xfrm>
          <a:prstGeom prst="rect">
            <a:avLst/>
          </a:prstGeom>
          <a:solidFill>
            <a:srgbClr val="7B3FA0"/>
          </a:solidFill>
          <a:ln w="12700">
            <a:solidFill>
              <a:srgbClr val="7B3FA0"/>
            </a:solidFill>
            <a:prstDash val="solid"/>
          </a:ln>
        </p:spPr>
      </p:sp>
      <p:sp>
        <p:nvSpPr>
          <p:cNvPr id="12" name="Text 10"/>
          <p:cNvSpPr/>
          <p:nvPr/>
        </p:nvSpPr>
        <p:spPr>
          <a:xfrm>
            <a:off x="502920" y="1746504"/>
            <a:ext cx="3200400" cy="246888"/>
          </a:xfrm>
          <a:prstGeom prst="rect">
            <a:avLst/>
          </a:prstGeom>
          <a:noFill/>
          <a:ln/>
        </p:spPr>
        <p:txBody>
          <a:bodyPr wrap="square" rtlCol="0" anchor="ctr"/>
          <a:lstStyle/>
          <a:p>
            <a:pPr indent="0" marL="0">
              <a:buNone/>
            </a:pPr>
            <a:r>
              <a:rPr lang="en-US" sz="1300" b="1" dirty="0">
                <a:solidFill>
                  <a:srgbClr val="7B3FA0"/>
                </a:solidFill>
              </a:rPr>
              <a:t>Midsagittal plane (Median plane)</a:t>
            </a:r>
            <a:endParaRPr lang="en-US" sz="1300" dirty="0"/>
          </a:p>
        </p:txBody>
      </p:sp>
      <p:sp>
        <p:nvSpPr>
          <p:cNvPr id="13" name="Text 11"/>
          <p:cNvSpPr/>
          <p:nvPr/>
        </p:nvSpPr>
        <p:spPr>
          <a:xfrm>
            <a:off x="502920" y="2020824"/>
            <a:ext cx="2743200" cy="182880"/>
          </a:xfrm>
          <a:prstGeom prst="rect">
            <a:avLst/>
          </a:prstGeom>
          <a:noFill/>
          <a:ln/>
        </p:spPr>
        <p:txBody>
          <a:bodyPr wrap="square" rtlCol="0" anchor="ctr"/>
          <a:lstStyle/>
          <a:p>
            <a:pPr indent="0" marL="0">
              <a:buNone/>
            </a:pPr>
            <a:r>
              <a:rPr lang="en-US" sz="950" i="1" dirty="0">
                <a:solidFill>
                  <a:srgbClr val="4A5568"/>
                </a:solidFill>
              </a:rPr>
              <a:t>Divides: Equal Left | Equal Right</a:t>
            </a:r>
            <a:endParaRPr lang="en-US" sz="950" dirty="0"/>
          </a:p>
        </p:txBody>
      </p:sp>
      <p:sp>
        <p:nvSpPr>
          <p:cNvPr id="14" name="Text 12"/>
          <p:cNvSpPr/>
          <p:nvPr/>
        </p:nvSpPr>
        <p:spPr>
          <a:xfrm>
            <a:off x="3383280" y="1755648"/>
            <a:ext cx="5349240" cy="694944"/>
          </a:xfrm>
          <a:prstGeom prst="rect">
            <a:avLst/>
          </a:prstGeom>
          <a:noFill/>
          <a:ln/>
        </p:spPr>
        <p:txBody>
          <a:bodyPr wrap="square" rtlCol="0" anchor="ctr"/>
          <a:lstStyle/>
          <a:p>
            <a:pPr indent="0" marL="0">
              <a:buNone/>
            </a:pPr>
            <a:r>
              <a:rPr lang="en-US" sz="1050" dirty="0">
                <a:solidFill>
                  <a:srgbClr val="12203A"/>
                </a:solidFill>
              </a:rPr>
              <a:t>A SPECIFIC sagittal plane dividing the body into perfectly EQUAL left and right halves. Passes exactly through the midline: through the nose, navel, and spine. Also called the MEDIAN plane. mid- + sagittal.</a:t>
            </a:r>
            <a:endParaRPr lang="en-US" sz="1050" dirty="0"/>
          </a:p>
        </p:txBody>
      </p:sp>
      <p:sp>
        <p:nvSpPr>
          <p:cNvPr id="15" name="Shape 13"/>
          <p:cNvSpPr/>
          <p:nvPr/>
        </p:nvSpPr>
        <p:spPr>
          <a:xfrm>
            <a:off x="347472" y="2569464"/>
            <a:ext cx="8449056" cy="822960"/>
          </a:xfrm>
          <a:prstGeom prst="rect">
            <a:avLst/>
          </a:prstGeom>
          <a:solidFill>
            <a:srgbClr val="D6EEFA"/>
          </a:solidFill>
          <a:ln w="12700">
            <a:solidFill>
              <a:srgbClr val="185FA5"/>
            </a:solidFill>
            <a:prstDash val="solid"/>
          </a:ln>
        </p:spPr>
      </p:sp>
      <p:sp>
        <p:nvSpPr>
          <p:cNvPr id="16" name="Shape 14"/>
          <p:cNvSpPr/>
          <p:nvPr/>
        </p:nvSpPr>
        <p:spPr>
          <a:xfrm>
            <a:off x="347472" y="2569464"/>
            <a:ext cx="73152" cy="822960"/>
          </a:xfrm>
          <a:prstGeom prst="rect">
            <a:avLst/>
          </a:prstGeom>
          <a:solidFill>
            <a:srgbClr val="185FA5"/>
          </a:solidFill>
          <a:ln w="12700">
            <a:solidFill>
              <a:srgbClr val="185FA5"/>
            </a:solidFill>
            <a:prstDash val="solid"/>
          </a:ln>
        </p:spPr>
      </p:sp>
      <p:sp>
        <p:nvSpPr>
          <p:cNvPr id="17" name="Text 15"/>
          <p:cNvSpPr/>
          <p:nvPr/>
        </p:nvSpPr>
        <p:spPr>
          <a:xfrm>
            <a:off x="502920" y="2633472"/>
            <a:ext cx="3200400" cy="246888"/>
          </a:xfrm>
          <a:prstGeom prst="rect">
            <a:avLst/>
          </a:prstGeom>
          <a:noFill/>
          <a:ln/>
        </p:spPr>
        <p:txBody>
          <a:bodyPr wrap="square" rtlCol="0" anchor="ctr"/>
          <a:lstStyle/>
          <a:p>
            <a:pPr indent="0" marL="0">
              <a:buNone/>
            </a:pPr>
            <a:r>
              <a:rPr lang="en-US" sz="1300" b="1" dirty="0">
                <a:solidFill>
                  <a:srgbClr val="185FA5"/>
                </a:solidFill>
              </a:rPr>
              <a:t>Frontal plane (Coronal plane)</a:t>
            </a:r>
            <a:endParaRPr lang="en-US" sz="1300" dirty="0"/>
          </a:p>
        </p:txBody>
      </p:sp>
      <p:sp>
        <p:nvSpPr>
          <p:cNvPr id="18" name="Text 16"/>
          <p:cNvSpPr/>
          <p:nvPr/>
        </p:nvSpPr>
        <p:spPr>
          <a:xfrm>
            <a:off x="502920" y="2907792"/>
            <a:ext cx="2743200" cy="182880"/>
          </a:xfrm>
          <a:prstGeom prst="rect">
            <a:avLst/>
          </a:prstGeom>
          <a:noFill/>
          <a:ln/>
        </p:spPr>
        <p:txBody>
          <a:bodyPr wrap="square" rtlCol="0" anchor="ctr"/>
          <a:lstStyle/>
          <a:p>
            <a:pPr indent="0" marL="0">
              <a:buNone/>
            </a:pPr>
            <a:r>
              <a:rPr lang="en-US" sz="950" i="1" dirty="0">
                <a:solidFill>
                  <a:srgbClr val="4A5568"/>
                </a:solidFill>
              </a:rPr>
              <a:t>Divides: Anterior | Posterior</a:t>
            </a:r>
            <a:endParaRPr lang="en-US" sz="950" dirty="0"/>
          </a:p>
        </p:txBody>
      </p:sp>
      <p:sp>
        <p:nvSpPr>
          <p:cNvPr id="19" name="Text 17"/>
          <p:cNvSpPr/>
          <p:nvPr/>
        </p:nvSpPr>
        <p:spPr>
          <a:xfrm>
            <a:off x="3383280" y="2642616"/>
            <a:ext cx="5349240" cy="694944"/>
          </a:xfrm>
          <a:prstGeom prst="rect">
            <a:avLst/>
          </a:prstGeom>
          <a:noFill/>
          <a:ln/>
        </p:spPr>
        <p:txBody>
          <a:bodyPr wrap="square" rtlCol="0" anchor="ctr"/>
          <a:lstStyle/>
          <a:p>
            <a:pPr indent="0" marL="0">
              <a:buNone/>
            </a:pPr>
            <a:r>
              <a:rPr lang="en-US" sz="1050" dirty="0">
                <a:solidFill>
                  <a:srgbClr val="12203A"/>
                </a:solidFill>
              </a:rPr>
              <a:t>Vertical plane running side to side, dividing the body into ANTERIOR (front) and POSTERIOR (back) portions. Also called the coronal plane. Coronal MRI brain images show left/right and superior/inferior — the 'face-on' view of the brain.</a:t>
            </a:r>
            <a:endParaRPr lang="en-US" sz="1050" dirty="0"/>
          </a:p>
        </p:txBody>
      </p:sp>
      <p:sp>
        <p:nvSpPr>
          <p:cNvPr id="20" name="Shape 18"/>
          <p:cNvSpPr/>
          <p:nvPr/>
        </p:nvSpPr>
        <p:spPr>
          <a:xfrm>
            <a:off x="347472" y="3456432"/>
            <a:ext cx="8449056" cy="822960"/>
          </a:xfrm>
          <a:prstGeom prst="rect">
            <a:avLst/>
          </a:prstGeom>
          <a:solidFill>
            <a:srgbClr val="D4EDDA"/>
          </a:solidFill>
          <a:ln w="12700">
            <a:solidFill>
              <a:srgbClr val="0F6E56"/>
            </a:solidFill>
            <a:prstDash val="solid"/>
          </a:ln>
        </p:spPr>
      </p:sp>
      <p:sp>
        <p:nvSpPr>
          <p:cNvPr id="21" name="Shape 19"/>
          <p:cNvSpPr/>
          <p:nvPr/>
        </p:nvSpPr>
        <p:spPr>
          <a:xfrm>
            <a:off x="347472" y="3456432"/>
            <a:ext cx="73152" cy="822960"/>
          </a:xfrm>
          <a:prstGeom prst="rect">
            <a:avLst/>
          </a:prstGeom>
          <a:solidFill>
            <a:srgbClr val="0F6E56"/>
          </a:solidFill>
          <a:ln w="12700">
            <a:solidFill>
              <a:srgbClr val="0F6E56"/>
            </a:solidFill>
            <a:prstDash val="solid"/>
          </a:ln>
        </p:spPr>
      </p:sp>
      <p:sp>
        <p:nvSpPr>
          <p:cNvPr id="22" name="Text 20"/>
          <p:cNvSpPr/>
          <p:nvPr/>
        </p:nvSpPr>
        <p:spPr>
          <a:xfrm>
            <a:off x="502920" y="3520440"/>
            <a:ext cx="3200400" cy="246888"/>
          </a:xfrm>
          <a:prstGeom prst="rect">
            <a:avLst/>
          </a:prstGeom>
          <a:noFill/>
          <a:ln/>
        </p:spPr>
        <p:txBody>
          <a:bodyPr wrap="square" rtlCol="0" anchor="ctr"/>
          <a:lstStyle/>
          <a:p>
            <a:pPr indent="0" marL="0">
              <a:buNone/>
            </a:pPr>
            <a:r>
              <a:rPr lang="en-US" sz="1300" b="1" dirty="0">
                <a:solidFill>
                  <a:srgbClr val="0F6E56"/>
                </a:solidFill>
              </a:rPr>
              <a:t>Transverse plane (Axial / Cross-sectional)</a:t>
            </a:r>
            <a:endParaRPr lang="en-US" sz="1300" dirty="0"/>
          </a:p>
        </p:txBody>
      </p:sp>
      <p:sp>
        <p:nvSpPr>
          <p:cNvPr id="23" name="Text 21"/>
          <p:cNvSpPr/>
          <p:nvPr/>
        </p:nvSpPr>
        <p:spPr>
          <a:xfrm>
            <a:off x="502920" y="3794760"/>
            <a:ext cx="2743200" cy="182880"/>
          </a:xfrm>
          <a:prstGeom prst="rect">
            <a:avLst/>
          </a:prstGeom>
          <a:noFill/>
          <a:ln/>
        </p:spPr>
        <p:txBody>
          <a:bodyPr wrap="square" rtlCol="0" anchor="ctr"/>
          <a:lstStyle/>
          <a:p>
            <a:pPr indent="0" marL="0">
              <a:buNone/>
            </a:pPr>
            <a:r>
              <a:rPr lang="en-US" sz="950" i="1" dirty="0">
                <a:solidFill>
                  <a:srgbClr val="4A5568"/>
                </a:solidFill>
              </a:rPr>
              <a:t>Divides: Superior | Inferior</a:t>
            </a:r>
            <a:endParaRPr lang="en-US" sz="950" dirty="0"/>
          </a:p>
        </p:txBody>
      </p:sp>
      <p:sp>
        <p:nvSpPr>
          <p:cNvPr id="24" name="Text 22"/>
          <p:cNvSpPr/>
          <p:nvPr/>
        </p:nvSpPr>
        <p:spPr>
          <a:xfrm>
            <a:off x="3383280" y="3529584"/>
            <a:ext cx="5349240" cy="694944"/>
          </a:xfrm>
          <a:prstGeom prst="rect">
            <a:avLst/>
          </a:prstGeom>
          <a:noFill/>
          <a:ln/>
        </p:spPr>
        <p:txBody>
          <a:bodyPr wrap="square" rtlCol="0" anchor="ctr"/>
          <a:lstStyle/>
          <a:p>
            <a:pPr indent="0" marL="0">
              <a:buNone/>
            </a:pPr>
            <a:r>
              <a:rPr lang="en-US" sz="1050" dirty="0">
                <a:solidFill>
                  <a:srgbClr val="12203A"/>
                </a:solidFill>
              </a:rPr>
              <a:t>Horizontal plane dividing the body into SUPERIOR (upper) and INFERIOR (lower) portions. Also called the axial or cross-sectional plane. CT scans typically produce transverse plane images — looking DOWN at a slice of the body from above. At any horizontal level.</a:t>
            </a:r>
            <a:endParaRPr lang="en-US" sz="1050" dirty="0"/>
          </a:p>
        </p:txBody>
      </p:sp>
      <p:sp>
        <p:nvSpPr>
          <p:cNvPr id="25" name="Shape 23"/>
          <p:cNvSpPr/>
          <p:nvPr/>
        </p:nvSpPr>
        <p:spPr>
          <a:xfrm>
            <a:off x="347472" y="4343400"/>
            <a:ext cx="8449056" cy="822960"/>
          </a:xfrm>
          <a:prstGeom prst="rect">
            <a:avLst/>
          </a:prstGeom>
          <a:solidFill>
            <a:srgbClr val="FFF8E1"/>
          </a:solidFill>
          <a:ln w="12700">
            <a:solidFill>
              <a:srgbClr val="854F0B"/>
            </a:solidFill>
            <a:prstDash val="solid"/>
          </a:ln>
        </p:spPr>
      </p:sp>
      <p:sp>
        <p:nvSpPr>
          <p:cNvPr id="26" name="Shape 24"/>
          <p:cNvSpPr/>
          <p:nvPr/>
        </p:nvSpPr>
        <p:spPr>
          <a:xfrm>
            <a:off x="347472" y="4343400"/>
            <a:ext cx="73152" cy="822960"/>
          </a:xfrm>
          <a:prstGeom prst="rect">
            <a:avLst/>
          </a:prstGeom>
          <a:solidFill>
            <a:srgbClr val="854F0B"/>
          </a:solidFill>
          <a:ln w="12700">
            <a:solidFill>
              <a:srgbClr val="854F0B"/>
            </a:solidFill>
            <a:prstDash val="solid"/>
          </a:ln>
        </p:spPr>
      </p:sp>
      <p:sp>
        <p:nvSpPr>
          <p:cNvPr id="27" name="Text 25"/>
          <p:cNvSpPr/>
          <p:nvPr/>
        </p:nvSpPr>
        <p:spPr>
          <a:xfrm>
            <a:off x="502920" y="4407408"/>
            <a:ext cx="3200400" cy="246888"/>
          </a:xfrm>
          <a:prstGeom prst="rect">
            <a:avLst/>
          </a:prstGeom>
          <a:noFill/>
          <a:ln/>
        </p:spPr>
        <p:txBody>
          <a:bodyPr wrap="square" rtlCol="0" anchor="ctr"/>
          <a:lstStyle/>
          <a:p>
            <a:pPr indent="0" marL="0">
              <a:buNone/>
            </a:pPr>
            <a:r>
              <a:rPr lang="en-US" sz="1300" b="1" dirty="0">
                <a:solidFill>
                  <a:srgbClr val="854F0B"/>
                </a:solidFill>
              </a:rPr>
              <a:t>Oblique plane</a:t>
            </a:r>
            <a:endParaRPr lang="en-US" sz="1300" dirty="0"/>
          </a:p>
        </p:txBody>
      </p:sp>
      <p:sp>
        <p:nvSpPr>
          <p:cNvPr id="28" name="Text 26"/>
          <p:cNvSpPr/>
          <p:nvPr/>
        </p:nvSpPr>
        <p:spPr>
          <a:xfrm>
            <a:off x="502920" y="4681728"/>
            <a:ext cx="2743200" cy="182880"/>
          </a:xfrm>
          <a:prstGeom prst="rect">
            <a:avLst/>
          </a:prstGeom>
          <a:noFill/>
          <a:ln/>
        </p:spPr>
        <p:txBody>
          <a:bodyPr wrap="square" rtlCol="0" anchor="ctr"/>
          <a:lstStyle/>
          <a:p>
            <a:pPr indent="0" marL="0">
              <a:buNone/>
            </a:pPr>
            <a:r>
              <a:rPr lang="en-US" sz="950" i="1" dirty="0">
                <a:solidFill>
                  <a:srgbClr val="4A5568"/>
                </a:solidFill>
              </a:rPr>
              <a:t>Divides: Diagonal / angled cut</a:t>
            </a:r>
            <a:endParaRPr lang="en-US" sz="950" dirty="0"/>
          </a:p>
        </p:txBody>
      </p:sp>
      <p:sp>
        <p:nvSpPr>
          <p:cNvPr id="29" name="Text 27"/>
          <p:cNvSpPr/>
          <p:nvPr/>
        </p:nvSpPr>
        <p:spPr>
          <a:xfrm>
            <a:off x="3383280" y="4416552"/>
            <a:ext cx="5349240" cy="694944"/>
          </a:xfrm>
          <a:prstGeom prst="rect">
            <a:avLst/>
          </a:prstGeom>
          <a:noFill/>
          <a:ln/>
        </p:spPr>
        <p:txBody>
          <a:bodyPr wrap="square" rtlCol="0" anchor="ctr"/>
          <a:lstStyle/>
          <a:p>
            <a:pPr indent="0" marL="0">
              <a:buNone/>
            </a:pPr>
            <a:r>
              <a:rPr lang="en-US" sz="1050" dirty="0">
                <a:solidFill>
                  <a:srgbClr val="12203A"/>
                </a:solidFill>
              </a:rPr>
              <a:t>Any plane that cuts at a diagonal angle — not parallel to any of the three standard planes. Produces angled cross-sections. Some surgical approaches and imaging sequences use oblique planes for optimal visualization of specific structures.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12</a:t>
            </a:r>
            <a:endParaRPr lang="en-US" sz="900" dirty="0"/>
          </a:p>
        </p:txBody>
      </p:sp>
      <p:sp>
        <p:nvSpPr>
          <p:cNvPr id="3" name="Shape 1"/>
          <p:cNvSpPr/>
          <p:nvPr/>
        </p:nvSpPr>
        <p:spPr>
          <a:xfrm>
            <a:off x="0" y="0"/>
            <a:ext cx="9144000" cy="685800"/>
          </a:xfrm>
          <a:prstGeom prst="rect">
            <a:avLst/>
          </a:prstGeom>
          <a:solidFill>
            <a:srgbClr val="C9860A"/>
          </a:solidFill>
          <a:ln w="12700">
            <a:solidFill>
              <a:srgbClr val="C9860A"/>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indent="0" marL="0">
              <a:buNone/>
            </a:pPr>
            <a:r>
              <a:rPr lang="en-US" sz="2600" b="1" dirty="0">
                <a:solidFill>
                  <a:srgbClr val="FFFFFF"/>
                </a:solidFill>
              </a:rPr>
              <a:t>Prefixes (7) &amp; Suffixes (2)</a:t>
            </a:r>
            <a:endParaRPr lang="en-US" sz="2600" dirty="0"/>
          </a:p>
        </p:txBody>
      </p:sp>
      <p:sp>
        <p:nvSpPr>
          <p:cNvPr id="5" name="Shape 3"/>
          <p:cNvSpPr/>
          <p:nvPr/>
        </p:nvSpPr>
        <p:spPr>
          <a:xfrm>
            <a:off x="365760" y="795528"/>
            <a:ext cx="8412480" cy="502920"/>
          </a:xfrm>
          <a:prstGeom prst="rect">
            <a:avLst/>
          </a:prstGeom>
          <a:solidFill>
            <a:srgbClr val="FDE8B0"/>
          </a:solidFill>
          <a:ln w="12700">
            <a:solidFill>
              <a:srgbClr val="DDDDDD"/>
            </a:solidFill>
            <a:prstDash val="solid"/>
          </a:ln>
        </p:spPr>
      </p:sp>
      <p:sp>
        <p:nvSpPr>
          <p:cNvPr id="6" name="Shape 4"/>
          <p:cNvSpPr/>
          <p:nvPr/>
        </p:nvSpPr>
        <p:spPr>
          <a:xfrm>
            <a:off x="365760" y="795528"/>
            <a:ext cx="73152" cy="502920"/>
          </a:xfrm>
          <a:prstGeom prst="rect">
            <a:avLst/>
          </a:prstGeom>
          <a:solidFill>
            <a:srgbClr val="C9860A"/>
          </a:solidFill>
          <a:ln w="12700">
            <a:solidFill>
              <a:srgbClr val="C9860A"/>
            </a:solidFill>
            <a:prstDash val="solid"/>
          </a:ln>
        </p:spPr>
      </p:sp>
      <p:sp>
        <p:nvSpPr>
          <p:cNvPr id="7" name="Text 5"/>
          <p:cNvSpPr/>
          <p:nvPr/>
        </p:nvSpPr>
        <p:spPr>
          <a:xfrm>
            <a:off x="530352" y="850392"/>
            <a:ext cx="1920240" cy="226588"/>
          </a:xfrm>
          <a:prstGeom prst="rect">
            <a:avLst/>
          </a:prstGeom>
          <a:noFill/>
          <a:ln/>
        </p:spPr>
        <p:txBody>
          <a:bodyPr wrap="square" rtlCol="0" anchor="ctr"/>
          <a:lstStyle/>
          <a:p>
            <a:pPr indent="0" marL="0">
              <a:buNone/>
            </a:pPr>
            <a:r>
              <a:rPr lang="en-US" sz="1300" b="1" i="1" dirty="0">
                <a:solidFill>
                  <a:srgbClr val="C9860A"/>
                </a:solidFill>
              </a:rPr>
              <a:t>bi-</a:t>
            </a:r>
            <a:endParaRPr lang="en-US" sz="1300" dirty="0"/>
          </a:p>
        </p:txBody>
      </p:sp>
      <p:sp>
        <p:nvSpPr>
          <p:cNvPr id="8" name="Text 6"/>
          <p:cNvSpPr/>
          <p:nvPr/>
        </p:nvSpPr>
        <p:spPr>
          <a:xfrm>
            <a:off x="530352" y="1049091"/>
            <a:ext cx="1920240" cy="248168"/>
          </a:xfrm>
          <a:prstGeom prst="rect">
            <a:avLst/>
          </a:prstGeom>
          <a:noFill/>
          <a:ln/>
        </p:spPr>
        <p:txBody>
          <a:bodyPr wrap="square" rtlCol="0" anchor="ctr"/>
          <a:lstStyle/>
          <a:p>
            <a:pPr indent="0" marL="0">
              <a:buNone/>
            </a:pPr>
            <a:r>
              <a:rPr lang="en-US" sz="950" i="1" dirty="0">
                <a:solidFill>
                  <a:srgbClr val="4A5568"/>
                </a:solidFill>
              </a:rPr>
              <a:t>two, both</a:t>
            </a:r>
            <a:endParaRPr lang="en-US" sz="950" dirty="0"/>
          </a:p>
        </p:txBody>
      </p:sp>
      <p:sp>
        <p:nvSpPr>
          <p:cNvPr id="9" name="Text 7"/>
          <p:cNvSpPr/>
          <p:nvPr/>
        </p:nvSpPr>
        <p:spPr>
          <a:xfrm>
            <a:off x="2560320" y="868680"/>
            <a:ext cx="6126480" cy="374904"/>
          </a:xfrm>
          <a:prstGeom prst="rect">
            <a:avLst/>
          </a:prstGeom>
          <a:noFill/>
          <a:ln/>
        </p:spPr>
        <p:txBody>
          <a:bodyPr wrap="square" rtlCol="0" anchor="ctr"/>
          <a:lstStyle/>
          <a:p>
            <a:pPr indent="0" marL="0">
              <a:buNone/>
            </a:pPr>
            <a:r>
              <a:rPr lang="en-US" sz="1100" dirty="0">
                <a:solidFill>
                  <a:srgbClr val="12203A"/>
                </a:solidFill>
              </a:rPr>
              <a:t>Bilateral (both sides), biceps (two heads), bifurcation (splitting into two). ⚠ bi- (two) ≠ bi/o (life — as in biopsy). Always check context!</a:t>
            </a:r>
            <a:endParaRPr lang="en-US" sz="1100" dirty="0"/>
          </a:p>
        </p:txBody>
      </p:sp>
      <p:sp>
        <p:nvSpPr>
          <p:cNvPr id="10" name="Shape 8"/>
          <p:cNvSpPr/>
          <p:nvPr/>
        </p:nvSpPr>
        <p:spPr>
          <a:xfrm>
            <a:off x="365760" y="1335024"/>
            <a:ext cx="8412480" cy="502920"/>
          </a:xfrm>
          <a:prstGeom prst="rect">
            <a:avLst/>
          </a:prstGeom>
          <a:solidFill>
            <a:srgbClr val="FAF7FD"/>
          </a:solidFill>
          <a:ln w="12700">
            <a:solidFill>
              <a:srgbClr val="DDDDDD"/>
            </a:solidFill>
            <a:prstDash val="solid"/>
          </a:ln>
        </p:spPr>
      </p:sp>
      <p:sp>
        <p:nvSpPr>
          <p:cNvPr id="11" name="Shape 9"/>
          <p:cNvSpPr/>
          <p:nvPr/>
        </p:nvSpPr>
        <p:spPr>
          <a:xfrm>
            <a:off x="365760" y="1335024"/>
            <a:ext cx="73152" cy="502920"/>
          </a:xfrm>
          <a:prstGeom prst="rect">
            <a:avLst/>
          </a:prstGeom>
          <a:solidFill>
            <a:srgbClr val="C9860A"/>
          </a:solidFill>
          <a:ln w="12700">
            <a:solidFill>
              <a:srgbClr val="C9860A"/>
            </a:solidFill>
            <a:prstDash val="solid"/>
          </a:ln>
        </p:spPr>
      </p:sp>
      <p:sp>
        <p:nvSpPr>
          <p:cNvPr id="12" name="Text 10"/>
          <p:cNvSpPr/>
          <p:nvPr/>
        </p:nvSpPr>
        <p:spPr>
          <a:xfrm>
            <a:off x="530352" y="1389888"/>
            <a:ext cx="1920240" cy="226588"/>
          </a:xfrm>
          <a:prstGeom prst="rect">
            <a:avLst/>
          </a:prstGeom>
          <a:noFill/>
          <a:ln/>
        </p:spPr>
        <p:txBody>
          <a:bodyPr wrap="square" rtlCol="0" anchor="ctr"/>
          <a:lstStyle/>
          <a:p>
            <a:pPr indent="0" marL="0">
              <a:buNone/>
            </a:pPr>
            <a:r>
              <a:rPr lang="en-US" sz="1300" b="1" i="1" dirty="0">
                <a:solidFill>
                  <a:srgbClr val="C9860A"/>
                </a:solidFill>
              </a:rPr>
              <a:t>contra-</a:t>
            </a:r>
            <a:endParaRPr lang="en-US" sz="1300" dirty="0"/>
          </a:p>
        </p:txBody>
      </p:sp>
      <p:sp>
        <p:nvSpPr>
          <p:cNvPr id="13" name="Text 11"/>
          <p:cNvSpPr/>
          <p:nvPr/>
        </p:nvSpPr>
        <p:spPr>
          <a:xfrm>
            <a:off x="530352" y="1588587"/>
            <a:ext cx="1920240" cy="248168"/>
          </a:xfrm>
          <a:prstGeom prst="rect">
            <a:avLst/>
          </a:prstGeom>
          <a:noFill/>
          <a:ln/>
        </p:spPr>
        <p:txBody>
          <a:bodyPr wrap="square" rtlCol="0" anchor="ctr"/>
          <a:lstStyle/>
          <a:p>
            <a:pPr indent="0" marL="0">
              <a:buNone/>
            </a:pPr>
            <a:r>
              <a:rPr lang="en-US" sz="950" i="1" dirty="0">
                <a:solidFill>
                  <a:srgbClr val="4A5568"/>
                </a:solidFill>
              </a:rPr>
              <a:t>against, opposite</a:t>
            </a:r>
            <a:endParaRPr lang="en-US" sz="950" dirty="0"/>
          </a:p>
        </p:txBody>
      </p:sp>
      <p:sp>
        <p:nvSpPr>
          <p:cNvPr id="14" name="Text 12"/>
          <p:cNvSpPr/>
          <p:nvPr/>
        </p:nvSpPr>
        <p:spPr>
          <a:xfrm>
            <a:off x="2560320" y="1408176"/>
            <a:ext cx="6126480" cy="374904"/>
          </a:xfrm>
          <a:prstGeom prst="rect">
            <a:avLst/>
          </a:prstGeom>
          <a:noFill/>
          <a:ln/>
        </p:spPr>
        <p:txBody>
          <a:bodyPr wrap="square" rtlCol="0" anchor="ctr"/>
          <a:lstStyle/>
          <a:p>
            <a:pPr indent="0" marL="0">
              <a:buNone/>
            </a:pPr>
            <a:r>
              <a:rPr lang="en-US" sz="1100" dirty="0">
                <a:solidFill>
                  <a:srgbClr val="12203A"/>
                </a:solidFill>
              </a:rPr>
              <a:t>Contralateral (opposite side), contraindication (against using a treatment), contraception. Strokes cause contralateral motor deficits.</a:t>
            </a:r>
            <a:endParaRPr lang="en-US" sz="1100" dirty="0"/>
          </a:p>
        </p:txBody>
      </p:sp>
      <p:sp>
        <p:nvSpPr>
          <p:cNvPr id="15" name="Shape 13"/>
          <p:cNvSpPr/>
          <p:nvPr/>
        </p:nvSpPr>
        <p:spPr>
          <a:xfrm>
            <a:off x="365760" y="1874520"/>
            <a:ext cx="8412480" cy="502920"/>
          </a:xfrm>
          <a:prstGeom prst="rect">
            <a:avLst/>
          </a:prstGeom>
          <a:solidFill>
            <a:srgbClr val="FDE8B0"/>
          </a:solidFill>
          <a:ln w="12700">
            <a:solidFill>
              <a:srgbClr val="DDDDDD"/>
            </a:solidFill>
            <a:prstDash val="solid"/>
          </a:ln>
        </p:spPr>
      </p:sp>
      <p:sp>
        <p:nvSpPr>
          <p:cNvPr id="16" name="Shape 14"/>
          <p:cNvSpPr/>
          <p:nvPr/>
        </p:nvSpPr>
        <p:spPr>
          <a:xfrm>
            <a:off x="365760" y="1874520"/>
            <a:ext cx="73152" cy="502920"/>
          </a:xfrm>
          <a:prstGeom prst="rect">
            <a:avLst/>
          </a:prstGeom>
          <a:solidFill>
            <a:srgbClr val="C9860A"/>
          </a:solidFill>
          <a:ln w="12700">
            <a:solidFill>
              <a:srgbClr val="C9860A"/>
            </a:solidFill>
            <a:prstDash val="solid"/>
          </a:ln>
        </p:spPr>
      </p:sp>
      <p:sp>
        <p:nvSpPr>
          <p:cNvPr id="17" name="Text 15"/>
          <p:cNvSpPr/>
          <p:nvPr/>
        </p:nvSpPr>
        <p:spPr>
          <a:xfrm>
            <a:off x="530352" y="1929384"/>
            <a:ext cx="1920240" cy="226588"/>
          </a:xfrm>
          <a:prstGeom prst="rect">
            <a:avLst/>
          </a:prstGeom>
          <a:noFill/>
          <a:ln/>
        </p:spPr>
        <p:txBody>
          <a:bodyPr wrap="square" rtlCol="0" anchor="ctr"/>
          <a:lstStyle/>
          <a:p>
            <a:pPr indent="0" marL="0">
              <a:buNone/>
            </a:pPr>
            <a:r>
              <a:rPr lang="en-US" sz="1300" b="1" i="1" dirty="0">
                <a:solidFill>
                  <a:srgbClr val="C9860A"/>
                </a:solidFill>
              </a:rPr>
              <a:t>epi-</a:t>
            </a:r>
            <a:endParaRPr lang="en-US" sz="1300" dirty="0"/>
          </a:p>
        </p:txBody>
      </p:sp>
      <p:sp>
        <p:nvSpPr>
          <p:cNvPr id="18" name="Text 16"/>
          <p:cNvSpPr/>
          <p:nvPr/>
        </p:nvSpPr>
        <p:spPr>
          <a:xfrm>
            <a:off x="530352" y="2128083"/>
            <a:ext cx="1920240" cy="248168"/>
          </a:xfrm>
          <a:prstGeom prst="rect">
            <a:avLst/>
          </a:prstGeom>
          <a:noFill/>
          <a:ln/>
        </p:spPr>
        <p:txBody>
          <a:bodyPr wrap="square" rtlCol="0" anchor="ctr"/>
          <a:lstStyle/>
          <a:p>
            <a:pPr indent="0" marL="0">
              <a:buNone/>
            </a:pPr>
            <a:r>
              <a:rPr lang="en-US" sz="950" i="1" dirty="0">
                <a:solidFill>
                  <a:srgbClr val="4A5568"/>
                </a:solidFill>
              </a:rPr>
              <a:t>above, upon, on</a:t>
            </a:r>
            <a:endParaRPr lang="en-US" sz="950" dirty="0"/>
          </a:p>
        </p:txBody>
      </p:sp>
      <p:sp>
        <p:nvSpPr>
          <p:cNvPr id="19" name="Text 17"/>
          <p:cNvSpPr/>
          <p:nvPr/>
        </p:nvSpPr>
        <p:spPr>
          <a:xfrm>
            <a:off x="2560320" y="1947672"/>
            <a:ext cx="6126480" cy="374904"/>
          </a:xfrm>
          <a:prstGeom prst="rect">
            <a:avLst/>
          </a:prstGeom>
          <a:noFill/>
          <a:ln/>
        </p:spPr>
        <p:txBody>
          <a:bodyPr wrap="square" rtlCol="0" anchor="ctr"/>
          <a:lstStyle/>
          <a:p>
            <a:pPr indent="0" marL="0">
              <a:buNone/>
            </a:pPr>
            <a:r>
              <a:rPr lang="en-US" sz="1100" dirty="0">
                <a:solidFill>
                  <a:srgbClr val="12203A"/>
                </a:solidFill>
              </a:rPr>
              <a:t>Epigastric (above stomach = abdominopelvic region), epidermis (upon the skin), epicardium (upon the heart). Key for abdominopelvic regions.</a:t>
            </a:r>
            <a:endParaRPr lang="en-US" sz="1100" dirty="0"/>
          </a:p>
        </p:txBody>
      </p:sp>
      <p:sp>
        <p:nvSpPr>
          <p:cNvPr id="20" name="Shape 18"/>
          <p:cNvSpPr/>
          <p:nvPr/>
        </p:nvSpPr>
        <p:spPr>
          <a:xfrm>
            <a:off x="365760" y="2414016"/>
            <a:ext cx="8412480" cy="502920"/>
          </a:xfrm>
          <a:prstGeom prst="rect">
            <a:avLst/>
          </a:prstGeom>
          <a:solidFill>
            <a:srgbClr val="FAF7FD"/>
          </a:solidFill>
          <a:ln w="12700">
            <a:solidFill>
              <a:srgbClr val="DDDDDD"/>
            </a:solidFill>
            <a:prstDash val="solid"/>
          </a:ln>
        </p:spPr>
      </p:sp>
      <p:sp>
        <p:nvSpPr>
          <p:cNvPr id="21" name="Shape 19"/>
          <p:cNvSpPr/>
          <p:nvPr/>
        </p:nvSpPr>
        <p:spPr>
          <a:xfrm>
            <a:off x="365760" y="2414016"/>
            <a:ext cx="73152" cy="502920"/>
          </a:xfrm>
          <a:prstGeom prst="rect">
            <a:avLst/>
          </a:prstGeom>
          <a:solidFill>
            <a:srgbClr val="C9860A"/>
          </a:solidFill>
          <a:ln w="12700">
            <a:solidFill>
              <a:srgbClr val="C9860A"/>
            </a:solidFill>
            <a:prstDash val="solid"/>
          </a:ln>
        </p:spPr>
      </p:sp>
      <p:sp>
        <p:nvSpPr>
          <p:cNvPr id="22" name="Text 20"/>
          <p:cNvSpPr/>
          <p:nvPr/>
        </p:nvSpPr>
        <p:spPr>
          <a:xfrm>
            <a:off x="530352" y="2468880"/>
            <a:ext cx="1920240" cy="226588"/>
          </a:xfrm>
          <a:prstGeom prst="rect">
            <a:avLst/>
          </a:prstGeom>
          <a:noFill/>
          <a:ln/>
        </p:spPr>
        <p:txBody>
          <a:bodyPr wrap="square" rtlCol="0" anchor="ctr"/>
          <a:lstStyle/>
          <a:p>
            <a:pPr indent="0" marL="0">
              <a:buNone/>
            </a:pPr>
            <a:r>
              <a:rPr lang="en-US" sz="1300" b="1" i="1" dirty="0">
                <a:solidFill>
                  <a:srgbClr val="C9860A"/>
                </a:solidFill>
              </a:rPr>
              <a:t>ipsi-</a:t>
            </a:r>
            <a:endParaRPr lang="en-US" sz="1300" dirty="0"/>
          </a:p>
        </p:txBody>
      </p:sp>
      <p:sp>
        <p:nvSpPr>
          <p:cNvPr id="23" name="Text 21"/>
          <p:cNvSpPr/>
          <p:nvPr/>
        </p:nvSpPr>
        <p:spPr>
          <a:xfrm>
            <a:off x="530352" y="2667579"/>
            <a:ext cx="1920240" cy="248168"/>
          </a:xfrm>
          <a:prstGeom prst="rect">
            <a:avLst/>
          </a:prstGeom>
          <a:noFill/>
          <a:ln/>
        </p:spPr>
        <p:txBody>
          <a:bodyPr wrap="square" rtlCol="0" anchor="ctr"/>
          <a:lstStyle/>
          <a:p>
            <a:pPr indent="0" marL="0">
              <a:buNone/>
            </a:pPr>
            <a:r>
              <a:rPr lang="en-US" sz="950" i="1" dirty="0">
                <a:solidFill>
                  <a:srgbClr val="4A5568"/>
                </a:solidFill>
              </a:rPr>
              <a:t>same</a:t>
            </a:r>
            <a:endParaRPr lang="en-US" sz="950" dirty="0"/>
          </a:p>
        </p:txBody>
      </p:sp>
      <p:sp>
        <p:nvSpPr>
          <p:cNvPr id="24" name="Text 22"/>
          <p:cNvSpPr/>
          <p:nvPr/>
        </p:nvSpPr>
        <p:spPr>
          <a:xfrm>
            <a:off x="2560320" y="2487168"/>
            <a:ext cx="6126480" cy="374904"/>
          </a:xfrm>
          <a:prstGeom prst="rect">
            <a:avLst/>
          </a:prstGeom>
          <a:noFill/>
          <a:ln/>
        </p:spPr>
        <p:txBody>
          <a:bodyPr wrap="square" rtlCol="0" anchor="ctr"/>
          <a:lstStyle/>
          <a:p>
            <a:pPr indent="0" marL="0">
              <a:buNone/>
            </a:pPr>
            <a:r>
              <a:rPr lang="en-US" sz="1100" dirty="0">
                <a:solidFill>
                  <a:srgbClr val="12203A"/>
                </a:solidFill>
              </a:rPr>
              <a:t>Ipsilateral (same side). Latin ipsi- = same. Most cranial nerve functions are ipsilateral. Different from bilateral (both sides) and unilateral (one side).</a:t>
            </a:r>
            <a:endParaRPr lang="en-US" sz="1100" dirty="0"/>
          </a:p>
        </p:txBody>
      </p:sp>
      <p:sp>
        <p:nvSpPr>
          <p:cNvPr id="25" name="Shape 23"/>
          <p:cNvSpPr/>
          <p:nvPr/>
        </p:nvSpPr>
        <p:spPr>
          <a:xfrm>
            <a:off x="365760" y="2953512"/>
            <a:ext cx="8412480" cy="502920"/>
          </a:xfrm>
          <a:prstGeom prst="rect">
            <a:avLst/>
          </a:prstGeom>
          <a:solidFill>
            <a:srgbClr val="FDE8B0"/>
          </a:solidFill>
          <a:ln w="12700">
            <a:solidFill>
              <a:srgbClr val="DDDDDD"/>
            </a:solidFill>
            <a:prstDash val="solid"/>
          </a:ln>
        </p:spPr>
      </p:sp>
      <p:sp>
        <p:nvSpPr>
          <p:cNvPr id="26" name="Shape 24"/>
          <p:cNvSpPr/>
          <p:nvPr/>
        </p:nvSpPr>
        <p:spPr>
          <a:xfrm>
            <a:off x="365760" y="2953512"/>
            <a:ext cx="73152" cy="502920"/>
          </a:xfrm>
          <a:prstGeom prst="rect">
            <a:avLst/>
          </a:prstGeom>
          <a:solidFill>
            <a:srgbClr val="C9860A"/>
          </a:solidFill>
          <a:ln w="12700">
            <a:solidFill>
              <a:srgbClr val="C9860A"/>
            </a:solidFill>
            <a:prstDash val="solid"/>
          </a:ln>
        </p:spPr>
      </p:sp>
      <p:sp>
        <p:nvSpPr>
          <p:cNvPr id="27" name="Text 25"/>
          <p:cNvSpPr/>
          <p:nvPr/>
        </p:nvSpPr>
        <p:spPr>
          <a:xfrm>
            <a:off x="530352" y="3008376"/>
            <a:ext cx="1920240" cy="226588"/>
          </a:xfrm>
          <a:prstGeom prst="rect">
            <a:avLst/>
          </a:prstGeom>
          <a:noFill/>
          <a:ln/>
        </p:spPr>
        <p:txBody>
          <a:bodyPr wrap="square" rtlCol="0" anchor="ctr"/>
          <a:lstStyle/>
          <a:p>
            <a:pPr indent="0" marL="0">
              <a:buNone/>
            </a:pPr>
            <a:r>
              <a:rPr lang="en-US" sz="1300" b="1" i="1" dirty="0">
                <a:solidFill>
                  <a:srgbClr val="C9860A"/>
                </a:solidFill>
              </a:rPr>
              <a:t>meta-</a:t>
            </a:r>
            <a:endParaRPr lang="en-US" sz="1300" dirty="0"/>
          </a:p>
        </p:txBody>
      </p:sp>
      <p:sp>
        <p:nvSpPr>
          <p:cNvPr id="28" name="Text 26"/>
          <p:cNvSpPr/>
          <p:nvPr/>
        </p:nvSpPr>
        <p:spPr>
          <a:xfrm>
            <a:off x="530352" y="3207075"/>
            <a:ext cx="1920240" cy="248168"/>
          </a:xfrm>
          <a:prstGeom prst="rect">
            <a:avLst/>
          </a:prstGeom>
          <a:noFill/>
          <a:ln/>
        </p:spPr>
        <p:txBody>
          <a:bodyPr wrap="square" rtlCol="0" anchor="ctr"/>
          <a:lstStyle/>
          <a:p>
            <a:pPr indent="0" marL="0">
              <a:buNone/>
            </a:pPr>
            <a:r>
              <a:rPr lang="en-US" sz="950" i="1" dirty="0">
                <a:solidFill>
                  <a:srgbClr val="4A5568"/>
                </a:solidFill>
              </a:rPr>
              <a:t>change, beyond, after</a:t>
            </a:r>
            <a:endParaRPr lang="en-US" sz="950" dirty="0"/>
          </a:p>
        </p:txBody>
      </p:sp>
      <p:sp>
        <p:nvSpPr>
          <p:cNvPr id="29" name="Text 27"/>
          <p:cNvSpPr/>
          <p:nvPr/>
        </p:nvSpPr>
        <p:spPr>
          <a:xfrm>
            <a:off x="2560320" y="3026664"/>
            <a:ext cx="6126480" cy="374904"/>
          </a:xfrm>
          <a:prstGeom prst="rect">
            <a:avLst/>
          </a:prstGeom>
          <a:noFill/>
          <a:ln/>
        </p:spPr>
        <p:txBody>
          <a:bodyPr wrap="square" rtlCol="0" anchor="ctr"/>
          <a:lstStyle/>
          <a:p>
            <a:pPr indent="0" marL="0">
              <a:buNone/>
            </a:pPr>
            <a:r>
              <a:rPr lang="en-US" sz="1100" dirty="0">
                <a:solidFill>
                  <a:srgbClr val="12203A"/>
                </a:solidFill>
              </a:rPr>
              <a:t>Metabolism (energy change), metastasis (cancer beyond primary site), metamorphosis, metaphysis (beyond growth plate).</a:t>
            </a:r>
            <a:endParaRPr lang="en-US" sz="1100" dirty="0"/>
          </a:p>
        </p:txBody>
      </p:sp>
      <p:sp>
        <p:nvSpPr>
          <p:cNvPr id="30" name="Shape 28"/>
          <p:cNvSpPr/>
          <p:nvPr/>
        </p:nvSpPr>
        <p:spPr>
          <a:xfrm>
            <a:off x="365760" y="3493008"/>
            <a:ext cx="8412480" cy="502920"/>
          </a:xfrm>
          <a:prstGeom prst="rect">
            <a:avLst/>
          </a:prstGeom>
          <a:solidFill>
            <a:srgbClr val="FAF7FD"/>
          </a:solidFill>
          <a:ln w="12700">
            <a:solidFill>
              <a:srgbClr val="DDDDDD"/>
            </a:solidFill>
            <a:prstDash val="solid"/>
          </a:ln>
        </p:spPr>
      </p:sp>
      <p:sp>
        <p:nvSpPr>
          <p:cNvPr id="31" name="Shape 29"/>
          <p:cNvSpPr/>
          <p:nvPr/>
        </p:nvSpPr>
        <p:spPr>
          <a:xfrm>
            <a:off x="365760" y="3493008"/>
            <a:ext cx="73152" cy="502920"/>
          </a:xfrm>
          <a:prstGeom prst="rect">
            <a:avLst/>
          </a:prstGeom>
          <a:solidFill>
            <a:srgbClr val="C9860A"/>
          </a:solidFill>
          <a:ln w="12700">
            <a:solidFill>
              <a:srgbClr val="C9860A"/>
            </a:solidFill>
            <a:prstDash val="solid"/>
          </a:ln>
        </p:spPr>
      </p:sp>
      <p:sp>
        <p:nvSpPr>
          <p:cNvPr id="32" name="Text 30"/>
          <p:cNvSpPr/>
          <p:nvPr/>
        </p:nvSpPr>
        <p:spPr>
          <a:xfrm>
            <a:off x="530352" y="3547872"/>
            <a:ext cx="1920240" cy="226588"/>
          </a:xfrm>
          <a:prstGeom prst="rect">
            <a:avLst/>
          </a:prstGeom>
          <a:noFill/>
          <a:ln/>
        </p:spPr>
        <p:txBody>
          <a:bodyPr wrap="square" rtlCol="0" anchor="ctr"/>
          <a:lstStyle/>
          <a:p>
            <a:pPr indent="0" marL="0">
              <a:buNone/>
            </a:pPr>
            <a:r>
              <a:rPr lang="en-US" sz="1300" b="1" i="1" dirty="0">
                <a:solidFill>
                  <a:srgbClr val="C9860A"/>
                </a:solidFill>
              </a:rPr>
              <a:t>mid-</a:t>
            </a:r>
            <a:endParaRPr lang="en-US" sz="1300" dirty="0"/>
          </a:p>
        </p:txBody>
      </p:sp>
      <p:sp>
        <p:nvSpPr>
          <p:cNvPr id="33" name="Text 31"/>
          <p:cNvSpPr/>
          <p:nvPr/>
        </p:nvSpPr>
        <p:spPr>
          <a:xfrm>
            <a:off x="530352" y="3746571"/>
            <a:ext cx="1920240" cy="248168"/>
          </a:xfrm>
          <a:prstGeom prst="rect">
            <a:avLst/>
          </a:prstGeom>
          <a:noFill/>
          <a:ln/>
        </p:spPr>
        <p:txBody>
          <a:bodyPr wrap="square" rtlCol="0" anchor="ctr"/>
          <a:lstStyle/>
          <a:p>
            <a:pPr indent="0" marL="0">
              <a:buNone/>
            </a:pPr>
            <a:r>
              <a:rPr lang="en-US" sz="950" i="1" dirty="0">
                <a:solidFill>
                  <a:srgbClr val="4A5568"/>
                </a:solidFill>
              </a:rPr>
              <a:t>middle</a:t>
            </a:r>
            <a:endParaRPr lang="en-US" sz="950" dirty="0"/>
          </a:p>
        </p:txBody>
      </p:sp>
      <p:sp>
        <p:nvSpPr>
          <p:cNvPr id="34" name="Text 32"/>
          <p:cNvSpPr/>
          <p:nvPr/>
        </p:nvSpPr>
        <p:spPr>
          <a:xfrm>
            <a:off x="2560320" y="3566160"/>
            <a:ext cx="6126480" cy="374904"/>
          </a:xfrm>
          <a:prstGeom prst="rect">
            <a:avLst/>
          </a:prstGeom>
          <a:noFill/>
          <a:ln/>
        </p:spPr>
        <p:txBody>
          <a:bodyPr wrap="square" rtlCol="0" anchor="ctr"/>
          <a:lstStyle/>
          <a:p>
            <a:pPr indent="0" marL="0">
              <a:buNone/>
            </a:pPr>
            <a:r>
              <a:rPr lang="en-US" sz="1100" dirty="0">
                <a:solidFill>
                  <a:srgbClr val="12203A"/>
                </a:solidFill>
              </a:rPr>
              <a:t>Midsagittal (middle sagittal plane = equal division), midline (center of body), midclavicular. Always a prefix; not a combining form.</a:t>
            </a:r>
            <a:endParaRPr lang="en-US" sz="1100" dirty="0"/>
          </a:p>
        </p:txBody>
      </p:sp>
      <p:sp>
        <p:nvSpPr>
          <p:cNvPr id="35" name="Shape 33"/>
          <p:cNvSpPr/>
          <p:nvPr/>
        </p:nvSpPr>
        <p:spPr>
          <a:xfrm>
            <a:off x="365760" y="4032504"/>
            <a:ext cx="8412480" cy="502920"/>
          </a:xfrm>
          <a:prstGeom prst="rect">
            <a:avLst/>
          </a:prstGeom>
          <a:solidFill>
            <a:srgbClr val="FDE8B0"/>
          </a:solidFill>
          <a:ln w="12700">
            <a:solidFill>
              <a:srgbClr val="DDDDDD"/>
            </a:solidFill>
            <a:prstDash val="solid"/>
          </a:ln>
        </p:spPr>
      </p:sp>
      <p:sp>
        <p:nvSpPr>
          <p:cNvPr id="36" name="Shape 34"/>
          <p:cNvSpPr/>
          <p:nvPr/>
        </p:nvSpPr>
        <p:spPr>
          <a:xfrm>
            <a:off x="365760" y="4032504"/>
            <a:ext cx="73152" cy="502920"/>
          </a:xfrm>
          <a:prstGeom prst="rect">
            <a:avLst/>
          </a:prstGeom>
          <a:solidFill>
            <a:srgbClr val="C9860A"/>
          </a:solidFill>
          <a:ln w="12700">
            <a:solidFill>
              <a:srgbClr val="C9860A"/>
            </a:solidFill>
            <a:prstDash val="solid"/>
          </a:ln>
        </p:spPr>
      </p:sp>
      <p:sp>
        <p:nvSpPr>
          <p:cNvPr id="37" name="Text 35"/>
          <p:cNvSpPr/>
          <p:nvPr/>
        </p:nvSpPr>
        <p:spPr>
          <a:xfrm>
            <a:off x="530352" y="4087368"/>
            <a:ext cx="1920240" cy="226588"/>
          </a:xfrm>
          <a:prstGeom prst="rect">
            <a:avLst/>
          </a:prstGeom>
          <a:noFill/>
          <a:ln/>
        </p:spPr>
        <p:txBody>
          <a:bodyPr wrap="square" rtlCol="0" anchor="ctr"/>
          <a:lstStyle/>
          <a:p>
            <a:pPr indent="0" marL="0">
              <a:buNone/>
            </a:pPr>
            <a:r>
              <a:rPr lang="en-US" sz="1300" b="1" i="1" dirty="0">
                <a:solidFill>
                  <a:srgbClr val="C9860A"/>
                </a:solidFill>
              </a:rPr>
              <a:t>uni-</a:t>
            </a:r>
            <a:endParaRPr lang="en-US" sz="1300" dirty="0"/>
          </a:p>
        </p:txBody>
      </p:sp>
      <p:sp>
        <p:nvSpPr>
          <p:cNvPr id="38" name="Text 36"/>
          <p:cNvSpPr/>
          <p:nvPr/>
        </p:nvSpPr>
        <p:spPr>
          <a:xfrm>
            <a:off x="530352" y="4286067"/>
            <a:ext cx="1920240" cy="248168"/>
          </a:xfrm>
          <a:prstGeom prst="rect">
            <a:avLst/>
          </a:prstGeom>
          <a:noFill/>
          <a:ln/>
        </p:spPr>
        <p:txBody>
          <a:bodyPr wrap="square" rtlCol="0" anchor="ctr"/>
          <a:lstStyle/>
          <a:p>
            <a:pPr indent="0" marL="0">
              <a:buNone/>
            </a:pPr>
            <a:r>
              <a:rPr lang="en-US" sz="950" i="1" dirty="0">
                <a:solidFill>
                  <a:srgbClr val="4A5568"/>
                </a:solidFill>
              </a:rPr>
              <a:t>one</a:t>
            </a:r>
            <a:endParaRPr lang="en-US" sz="950" dirty="0"/>
          </a:p>
        </p:txBody>
      </p:sp>
      <p:sp>
        <p:nvSpPr>
          <p:cNvPr id="39" name="Text 37"/>
          <p:cNvSpPr/>
          <p:nvPr/>
        </p:nvSpPr>
        <p:spPr>
          <a:xfrm>
            <a:off x="2560320" y="4105656"/>
            <a:ext cx="6126480" cy="374904"/>
          </a:xfrm>
          <a:prstGeom prst="rect">
            <a:avLst/>
          </a:prstGeom>
          <a:noFill/>
          <a:ln/>
        </p:spPr>
        <p:txBody>
          <a:bodyPr wrap="square" rtlCol="0" anchor="ctr"/>
          <a:lstStyle/>
          <a:p>
            <a:pPr indent="0" marL="0">
              <a:buNone/>
            </a:pPr>
            <a:r>
              <a:rPr lang="en-US" sz="1100" dirty="0">
                <a:solidFill>
                  <a:srgbClr val="12203A"/>
                </a:solidFill>
              </a:rPr>
              <a:t>Unilateral (one side only). Think: UNIcycle = 1 wheel; BIcycle = 2 (bi- = two). uni- = one throughout all chapters.</a:t>
            </a:r>
            <a:endParaRPr lang="en-US" sz="1100" dirty="0"/>
          </a:p>
        </p:txBody>
      </p:sp>
      <p:sp>
        <p:nvSpPr>
          <p:cNvPr id="40" name="Shape 38"/>
          <p:cNvSpPr/>
          <p:nvPr/>
        </p:nvSpPr>
        <p:spPr>
          <a:xfrm>
            <a:off x="347472" y="4590288"/>
            <a:ext cx="8449056" cy="0"/>
          </a:xfrm>
          <a:prstGeom prst="rect">
            <a:avLst/>
          </a:prstGeom>
          <a:solidFill>
            <a:srgbClr val="0F6E56"/>
          </a:solidFill>
          <a:ln w="12700">
            <a:solidFill>
              <a:srgbClr val="0F6E56"/>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13</a:t>
            </a:r>
            <a:endParaRPr lang="en-US" sz="900" dirty="0"/>
          </a:p>
        </p:txBody>
      </p:sp>
      <p:sp>
        <p:nvSpPr>
          <p:cNvPr id="3" name="Shape 1"/>
          <p:cNvSpPr/>
          <p:nvPr/>
        </p:nvSpPr>
        <p:spPr>
          <a:xfrm>
            <a:off x="0" y="0"/>
            <a:ext cx="9144000" cy="685800"/>
          </a:xfrm>
          <a:prstGeom prst="rect">
            <a:avLst/>
          </a:prstGeom>
          <a:solidFill>
            <a:srgbClr val="7B3FA0"/>
          </a:solidFill>
          <a:ln w="12700">
            <a:solidFill>
              <a:srgbClr val="7B3FA0"/>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indent="0" marL="0">
              <a:buNone/>
            </a:pPr>
            <a:r>
              <a:rPr lang="en-US" sz="2400" b="1" dirty="0">
                <a:solidFill>
                  <a:srgbClr val="FFFFFF"/>
                </a:solidFill>
              </a:rPr>
              <a:t>Combining Forms — All 18 (Chapter 2)</a:t>
            </a:r>
            <a:endParaRPr lang="en-US" sz="2400" dirty="0"/>
          </a:p>
        </p:txBody>
      </p:sp>
      <p:sp>
        <p:nvSpPr>
          <p:cNvPr id="5" name="Shape 3"/>
          <p:cNvSpPr/>
          <p:nvPr/>
        </p:nvSpPr>
        <p:spPr>
          <a:xfrm>
            <a:off x="347472" y="795528"/>
            <a:ext cx="4251960" cy="448056"/>
          </a:xfrm>
          <a:prstGeom prst="rect">
            <a:avLst/>
          </a:prstGeom>
          <a:solidFill>
            <a:srgbClr val="EDE0FA"/>
          </a:solidFill>
          <a:ln w="12700">
            <a:solidFill>
              <a:srgbClr val="CCAADD"/>
            </a:solidFill>
            <a:prstDash val="solid"/>
          </a:ln>
        </p:spPr>
      </p:sp>
      <p:sp>
        <p:nvSpPr>
          <p:cNvPr id="6" name="Shape 4"/>
          <p:cNvSpPr/>
          <p:nvPr/>
        </p:nvSpPr>
        <p:spPr>
          <a:xfrm>
            <a:off x="347472" y="795528"/>
            <a:ext cx="73152" cy="448056"/>
          </a:xfrm>
          <a:prstGeom prst="rect">
            <a:avLst/>
          </a:prstGeom>
          <a:solidFill>
            <a:srgbClr val="7B3FA0"/>
          </a:solidFill>
          <a:ln w="12700">
            <a:solidFill>
              <a:srgbClr val="7B3FA0"/>
            </a:solidFill>
            <a:prstDash val="solid"/>
          </a:ln>
        </p:spPr>
      </p:sp>
      <p:sp>
        <p:nvSpPr>
          <p:cNvPr id="7" name="Text 5"/>
          <p:cNvSpPr/>
          <p:nvPr/>
        </p:nvSpPr>
        <p:spPr>
          <a:xfrm>
            <a:off x="475488" y="832104"/>
            <a:ext cx="1097280" cy="201168"/>
          </a:xfrm>
          <a:prstGeom prst="rect">
            <a:avLst/>
          </a:prstGeom>
          <a:noFill/>
          <a:ln/>
        </p:spPr>
        <p:txBody>
          <a:bodyPr wrap="square" rtlCol="0" anchor="ctr"/>
          <a:lstStyle/>
          <a:p>
            <a:pPr indent="0" marL="0">
              <a:buNone/>
            </a:pPr>
            <a:r>
              <a:rPr lang="en-US" sz="1200" b="1" i="1" dirty="0">
                <a:solidFill>
                  <a:srgbClr val="7B3FA0"/>
                </a:solidFill>
              </a:rPr>
              <a:t>abdomin/o</a:t>
            </a:r>
            <a:endParaRPr lang="en-US" sz="1200" dirty="0"/>
          </a:p>
        </p:txBody>
      </p:sp>
      <p:sp>
        <p:nvSpPr>
          <p:cNvPr id="8" name="Text 6"/>
          <p:cNvSpPr/>
          <p:nvPr/>
        </p:nvSpPr>
        <p:spPr>
          <a:xfrm>
            <a:off x="475488" y="1051560"/>
            <a:ext cx="1097280" cy="155448"/>
          </a:xfrm>
          <a:prstGeom prst="rect">
            <a:avLst/>
          </a:prstGeom>
          <a:noFill/>
          <a:ln/>
        </p:spPr>
        <p:txBody>
          <a:bodyPr wrap="square" rtlCol="0" anchor="ctr"/>
          <a:lstStyle/>
          <a:p>
            <a:pPr indent="0" marL="0">
              <a:buNone/>
            </a:pPr>
            <a:r>
              <a:rPr lang="en-US" sz="850" i="1" dirty="0">
                <a:solidFill>
                  <a:srgbClr val="4A5568"/>
                </a:solidFill>
              </a:rPr>
              <a:t>abdomen (region)</a:t>
            </a:r>
            <a:endParaRPr lang="en-US" sz="850" dirty="0"/>
          </a:p>
        </p:txBody>
      </p:sp>
      <p:sp>
        <p:nvSpPr>
          <p:cNvPr id="9" name="Text 7"/>
          <p:cNvSpPr/>
          <p:nvPr/>
        </p:nvSpPr>
        <p:spPr>
          <a:xfrm>
            <a:off x="1645920" y="859536"/>
            <a:ext cx="2834640" cy="329184"/>
          </a:xfrm>
          <a:prstGeom prst="rect">
            <a:avLst/>
          </a:prstGeom>
          <a:noFill/>
          <a:ln/>
        </p:spPr>
        <p:txBody>
          <a:bodyPr wrap="square" rtlCol="0" anchor="ctr"/>
          <a:lstStyle/>
          <a:p>
            <a:pPr indent="0" marL="0">
              <a:buNone/>
            </a:pPr>
            <a:r>
              <a:rPr lang="en-US" sz="950" dirty="0">
                <a:solidFill>
                  <a:srgbClr val="12203A"/>
                </a:solidFill>
              </a:rPr>
              <a:t>Abdominal (abdomin/o + -al). ⚠ abdomen = REGION; gastr/o = stomach = ORGAN. 'e' becomes 'i' in combining form.</a:t>
            </a:r>
            <a:endParaRPr lang="en-US" sz="950" dirty="0"/>
          </a:p>
        </p:txBody>
      </p:sp>
      <p:sp>
        <p:nvSpPr>
          <p:cNvPr id="10" name="Shape 8"/>
          <p:cNvSpPr/>
          <p:nvPr/>
        </p:nvSpPr>
        <p:spPr>
          <a:xfrm>
            <a:off x="347472" y="1280160"/>
            <a:ext cx="4251960" cy="448056"/>
          </a:xfrm>
          <a:prstGeom prst="rect">
            <a:avLst/>
          </a:prstGeom>
          <a:solidFill>
            <a:srgbClr val="FAF7FD"/>
          </a:solidFill>
          <a:ln w="12700">
            <a:solidFill>
              <a:srgbClr val="CCAADD"/>
            </a:solidFill>
            <a:prstDash val="solid"/>
          </a:ln>
        </p:spPr>
      </p:sp>
      <p:sp>
        <p:nvSpPr>
          <p:cNvPr id="11" name="Shape 9"/>
          <p:cNvSpPr/>
          <p:nvPr/>
        </p:nvSpPr>
        <p:spPr>
          <a:xfrm>
            <a:off x="347472" y="1280160"/>
            <a:ext cx="73152" cy="448056"/>
          </a:xfrm>
          <a:prstGeom prst="rect">
            <a:avLst/>
          </a:prstGeom>
          <a:solidFill>
            <a:srgbClr val="7B3FA0"/>
          </a:solidFill>
          <a:ln w="12700">
            <a:solidFill>
              <a:srgbClr val="7B3FA0"/>
            </a:solidFill>
            <a:prstDash val="solid"/>
          </a:ln>
        </p:spPr>
      </p:sp>
      <p:sp>
        <p:nvSpPr>
          <p:cNvPr id="12" name="Text 10"/>
          <p:cNvSpPr/>
          <p:nvPr/>
        </p:nvSpPr>
        <p:spPr>
          <a:xfrm>
            <a:off x="475488" y="1316736"/>
            <a:ext cx="1097280" cy="201168"/>
          </a:xfrm>
          <a:prstGeom prst="rect">
            <a:avLst/>
          </a:prstGeom>
          <a:noFill/>
          <a:ln/>
        </p:spPr>
        <p:txBody>
          <a:bodyPr wrap="square" rtlCol="0" anchor="ctr"/>
          <a:lstStyle/>
          <a:p>
            <a:pPr indent="0" marL="0">
              <a:buNone/>
            </a:pPr>
            <a:r>
              <a:rPr lang="en-US" sz="1200" b="1" i="1" dirty="0">
                <a:solidFill>
                  <a:srgbClr val="7B3FA0"/>
                </a:solidFill>
              </a:rPr>
              <a:t>anter/o</a:t>
            </a:r>
            <a:endParaRPr lang="en-US" sz="1200" dirty="0"/>
          </a:p>
        </p:txBody>
      </p:sp>
      <p:sp>
        <p:nvSpPr>
          <p:cNvPr id="13" name="Text 11"/>
          <p:cNvSpPr/>
          <p:nvPr/>
        </p:nvSpPr>
        <p:spPr>
          <a:xfrm>
            <a:off x="475488" y="1536192"/>
            <a:ext cx="1097280" cy="155448"/>
          </a:xfrm>
          <a:prstGeom prst="rect">
            <a:avLst/>
          </a:prstGeom>
          <a:noFill/>
          <a:ln/>
        </p:spPr>
        <p:txBody>
          <a:bodyPr wrap="square" rtlCol="0" anchor="ctr"/>
          <a:lstStyle/>
          <a:p>
            <a:pPr indent="0" marL="0">
              <a:buNone/>
            </a:pPr>
            <a:r>
              <a:rPr lang="en-US" sz="850" i="1" dirty="0">
                <a:solidFill>
                  <a:srgbClr val="4A5568"/>
                </a:solidFill>
              </a:rPr>
              <a:t>front, anterior</a:t>
            </a:r>
            <a:endParaRPr lang="en-US" sz="850" dirty="0"/>
          </a:p>
        </p:txBody>
      </p:sp>
      <p:sp>
        <p:nvSpPr>
          <p:cNvPr id="14" name="Text 12"/>
          <p:cNvSpPr/>
          <p:nvPr/>
        </p:nvSpPr>
        <p:spPr>
          <a:xfrm>
            <a:off x="1645920" y="1344168"/>
            <a:ext cx="2834640" cy="329184"/>
          </a:xfrm>
          <a:prstGeom prst="rect">
            <a:avLst/>
          </a:prstGeom>
          <a:noFill/>
          <a:ln/>
        </p:spPr>
        <p:txBody>
          <a:bodyPr wrap="square" rtlCol="0" anchor="ctr"/>
          <a:lstStyle/>
          <a:p>
            <a:pPr indent="0" marL="0">
              <a:buNone/>
            </a:pPr>
            <a:r>
              <a:rPr lang="en-US" sz="950" dirty="0">
                <a:solidFill>
                  <a:srgbClr val="12203A"/>
                </a:solidFill>
              </a:rPr>
              <a:t>Anterior, anteroposterior (AP X-ray projection — front to back)</a:t>
            </a:r>
            <a:endParaRPr lang="en-US" sz="950" dirty="0"/>
          </a:p>
        </p:txBody>
      </p:sp>
      <p:sp>
        <p:nvSpPr>
          <p:cNvPr id="15" name="Shape 13"/>
          <p:cNvSpPr/>
          <p:nvPr/>
        </p:nvSpPr>
        <p:spPr>
          <a:xfrm>
            <a:off x="347472" y="1764792"/>
            <a:ext cx="4251960" cy="448056"/>
          </a:xfrm>
          <a:prstGeom prst="rect">
            <a:avLst/>
          </a:prstGeom>
          <a:solidFill>
            <a:srgbClr val="EDE0FA"/>
          </a:solidFill>
          <a:ln w="12700">
            <a:solidFill>
              <a:srgbClr val="CCAADD"/>
            </a:solidFill>
            <a:prstDash val="solid"/>
          </a:ln>
        </p:spPr>
      </p:sp>
      <p:sp>
        <p:nvSpPr>
          <p:cNvPr id="16" name="Shape 14"/>
          <p:cNvSpPr/>
          <p:nvPr/>
        </p:nvSpPr>
        <p:spPr>
          <a:xfrm>
            <a:off x="347472" y="1764792"/>
            <a:ext cx="73152" cy="448056"/>
          </a:xfrm>
          <a:prstGeom prst="rect">
            <a:avLst/>
          </a:prstGeom>
          <a:solidFill>
            <a:srgbClr val="7B3FA0"/>
          </a:solidFill>
          <a:ln w="12700">
            <a:solidFill>
              <a:srgbClr val="7B3FA0"/>
            </a:solidFill>
            <a:prstDash val="solid"/>
          </a:ln>
        </p:spPr>
      </p:sp>
      <p:sp>
        <p:nvSpPr>
          <p:cNvPr id="17" name="Text 15"/>
          <p:cNvSpPr/>
          <p:nvPr/>
        </p:nvSpPr>
        <p:spPr>
          <a:xfrm>
            <a:off x="475488" y="1801368"/>
            <a:ext cx="1097280" cy="201168"/>
          </a:xfrm>
          <a:prstGeom prst="rect">
            <a:avLst/>
          </a:prstGeom>
          <a:noFill/>
          <a:ln/>
        </p:spPr>
        <p:txBody>
          <a:bodyPr wrap="square" rtlCol="0" anchor="ctr"/>
          <a:lstStyle/>
          <a:p>
            <a:pPr indent="0" marL="0">
              <a:buNone/>
            </a:pPr>
            <a:r>
              <a:rPr lang="en-US" sz="1200" b="1" i="1" dirty="0">
                <a:solidFill>
                  <a:srgbClr val="7B3FA0"/>
                </a:solidFill>
              </a:rPr>
              <a:t>crani/o</a:t>
            </a:r>
            <a:endParaRPr lang="en-US" sz="1200" dirty="0"/>
          </a:p>
        </p:txBody>
      </p:sp>
      <p:sp>
        <p:nvSpPr>
          <p:cNvPr id="18" name="Text 16"/>
          <p:cNvSpPr/>
          <p:nvPr/>
        </p:nvSpPr>
        <p:spPr>
          <a:xfrm>
            <a:off x="475488" y="2020824"/>
            <a:ext cx="1097280" cy="155448"/>
          </a:xfrm>
          <a:prstGeom prst="rect">
            <a:avLst/>
          </a:prstGeom>
          <a:noFill/>
          <a:ln/>
        </p:spPr>
        <p:txBody>
          <a:bodyPr wrap="square" rtlCol="0" anchor="ctr"/>
          <a:lstStyle/>
          <a:p>
            <a:pPr indent="0" marL="0">
              <a:buNone/>
            </a:pPr>
            <a:r>
              <a:rPr lang="en-US" sz="850" i="1" dirty="0">
                <a:solidFill>
                  <a:srgbClr val="4A5568"/>
                </a:solidFill>
              </a:rPr>
              <a:t>cranium, skull</a:t>
            </a:r>
            <a:endParaRPr lang="en-US" sz="850" dirty="0"/>
          </a:p>
        </p:txBody>
      </p:sp>
      <p:sp>
        <p:nvSpPr>
          <p:cNvPr id="19" name="Text 17"/>
          <p:cNvSpPr/>
          <p:nvPr/>
        </p:nvSpPr>
        <p:spPr>
          <a:xfrm>
            <a:off x="1645920" y="1828800"/>
            <a:ext cx="2834640" cy="329184"/>
          </a:xfrm>
          <a:prstGeom prst="rect">
            <a:avLst/>
          </a:prstGeom>
          <a:noFill/>
          <a:ln/>
        </p:spPr>
        <p:txBody>
          <a:bodyPr wrap="square" rtlCol="0" anchor="ctr"/>
          <a:lstStyle/>
          <a:p>
            <a:pPr indent="0" marL="0">
              <a:buNone/>
            </a:pPr>
            <a:r>
              <a:rPr lang="en-US" sz="950" dirty="0">
                <a:solidFill>
                  <a:srgbClr val="12203A"/>
                </a:solidFill>
              </a:rPr>
              <a:t>Cranial (pertaining to skull), craniotomy (incision into skull), cranial cavity (dorsal)</a:t>
            </a:r>
            <a:endParaRPr lang="en-US" sz="950" dirty="0"/>
          </a:p>
        </p:txBody>
      </p:sp>
      <p:sp>
        <p:nvSpPr>
          <p:cNvPr id="20" name="Shape 18"/>
          <p:cNvSpPr/>
          <p:nvPr/>
        </p:nvSpPr>
        <p:spPr>
          <a:xfrm>
            <a:off x="347472" y="2249424"/>
            <a:ext cx="4251960" cy="448056"/>
          </a:xfrm>
          <a:prstGeom prst="rect">
            <a:avLst/>
          </a:prstGeom>
          <a:solidFill>
            <a:srgbClr val="FAF7FD"/>
          </a:solidFill>
          <a:ln w="12700">
            <a:solidFill>
              <a:srgbClr val="CCAADD"/>
            </a:solidFill>
            <a:prstDash val="solid"/>
          </a:ln>
        </p:spPr>
      </p:sp>
      <p:sp>
        <p:nvSpPr>
          <p:cNvPr id="21" name="Shape 19"/>
          <p:cNvSpPr/>
          <p:nvPr/>
        </p:nvSpPr>
        <p:spPr>
          <a:xfrm>
            <a:off x="347472" y="2249424"/>
            <a:ext cx="73152" cy="448056"/>
          </a:xfrm>
          <a:prstGeom prst="rect">
            <a:avLst/>
          </a:prstGeom>
          <a:solidFill>
            <a:srgbClr val="7B3FA0"/>
          </a:solidFill>
          <a:ln w="12700">
            <a:solidFill>
              <a:srgbClr val="7B3FA0"/>
            </a:solidFill>
            <a:prstDash val="solid"/>
          </a:ln>
        </p:spPr>
      </p:sp>
      <p:sp>
        <p:nvSpPr>
          <p:cNvPr id="22" name="Text 20"/>
          <p:cNvSpPr/>
          <p:nvPr/>
        </p:nvSpPr>
        <p:spPr>
          <a:xfrm>
            <a:off x="475488" y="2286000"/>
            <a:ext cx="1097280" cy="201168"/>
          </a:xfrm>
          <a:prstGeom prst="rect">
            <a:avLst/>
          </a:prstGeom>
          <a:noFill/>
          <a:ln/>
        </p:spPr>
        <p:txBody>
          <a:bodyPr wrap="square" rtlCol="0" anchor="ctr"/>
          <a:lstStyle/>
          <a:p>
            <a:pPr indent="0" marL="0">
              <a:buNone/>
            </a:pPr>
            <a:r>
              <a:rPr lang="en-US" sz="1200" b="1" i="1" dirty="0">
                <a:solidFill>
                  <a:srgbClr val="7B3FA0"/>
                </a:solidFill>
              </a:rPr>
              <a:t>cyt/o</a:t>
            </a:r>
            <a:endParaRPr lang="en-US" sz="1200" dirty="0"/>
          </a:p>
        </p:txBody>
      </p:sp>
      <p:sp>
        <p:nvSpPr>
          <p:cNvPr id="23" name="Text 21"/>
          <p:cNvSpPr/>
          <p:nvPr/>
        </p:nvSpPr>
        <p:spPr>
          <a:xfrm>
            <a:off x="475488" y="2505456"/>
            <a:ext cx="1097280" cy="155448"/>
          </a:xfrm>
          <a:prstGeom prst="rect">
            <a:avLst/>
          </a:prstGeom>
          <a:noFill/>
          <a:ln/>
        </p:spPr>
        <p:txBody>
          <a:bodyPr wrap="square" rtlCol="0" anchor="ctr"/>
          <a:lstStyle/>
          <a:p>
            <a:pPr indent="0" marL="0">
              <a:buNone/>
            </a:pPr>
            <a:r>
              <a:rPr lang="en-US" sz="850" i="1" dirty="0">
                <a:solidFill>
                  <a:srgbClr val="4A5568"/>
                </a:solidFill>
              </a:rPr>
              <a:t>cell</a:t>
            </a:r>
            <a:endParaRPr lang="en-US" sz="850" dirty="0"/>
          </a:p>
        </p:txBody>
      </p:sp>
      <p:sp>
        <p:nvSpPr>
          <p:cNvPr id="24" name="Text 22"/>
          <p:cNvSpPr/>
          <p:nvPr/>
        </p:nvSpPr>
        <p:spPr>
          <a:xfrm>
            <a:off x="1645920" y="2313432"/>
            <a:ext cx="2834640" cy="329184"/>
          </a:xfrm>
          <a:prstGeom prst="rect">
            <a:avLst/>
          </a:prstGeom>
          <a:noFill/>
          <a:ln/>
        </p:spPr>
        <p:txBody>
          <a:bodyPr wrap="square" rtlCol="0" anchor="ctr"/>
          <a:lstStyle/>
          <a:p>
            <a:pPr indent="0" marL="0">
              <a:buNone/>
            </a:pPr>
            <a:r>
              <a:rPr lang="en-US" sz="950" dirty="0">
                <a:solidFill>
                  <a:srgbClr val="12203A"/>
                </a:solidFill>
              </a:rPr>
              <a:t>Cytology (study of cells), cytoplasm, cytologist — smallest in hierarchy</a:t>
            </a:r>
            <a:endParaRPr lang="en-US" sz="950" dirty="0"/>
          </a:p>
        </p:txBody>
      </p:sp>
      <p:sp>
        <p:nvSpPr>
          <p:cNvPr id="25" name="Shape 23"/>
          <p:cNvSpPr/>
          <p:nvPr/>
        </p:nvSpPr>
        <p:spPr>
          <a:xfrm>
            <a:off x="347472" y="2734056"/>
            <a:ext cx="4251960" cy="448056"/>
          </a:xfrm>
          <a:prstGeom prst="rect">
            <a:avLst/>
          </a:prstGeom>
          <a:solidFill>
            <a:srgbClr val="EDE0FA"/>
          </a:solidFill>
          <a:ln w="12700">
            <a:solidFill>
              <a:srgbClr val="CCAADD"/>
            </a:solidFill>
            <a:prstDash val="solid"/>
          </a:ln>
        </p:spPr>
      </p:sp>
      <p:sp>
        <p:nvSpPr>
          <p:cNvPr id="26" name="Shape 24"/>
          <p:cNvSpPr/>
          <p:nvPr/>
        </p:nvSpPr>
        <p:spPr>
          <a:xfrm>
            <a:off x="347472" y="2734056"/>
            <a:ext cx="73152" cy="448056"/>
          </a:xfrm>
          <a:prstGeom prst="rect">
            <a:avLst/>
          </a:prstGeom>
          <a:solidFill>
            <a:srgbClr val="7B3FA0"/>
          </a:solidFill>
          <a:ln w="12700">
            <a:solidFill>
              <a:srgbClr val="7B3FA0"/>
            </a:solidFill>
            <a:prstDash val="solid"/>
          </a:ln>
        </p:spPr>
      </p:sp>
      <p:sp>
        <p:nvSpPr>
          <p:cNvPr id="27" name="Text 25"/>
          <p:cNvSpPr/>
          <p:nvPr/>
        </p:nvSpPr>
        <p:spPr>
          <a:xfrm>
            <a:off x="475488" y="2770632"/>
            <a:ext cx="1097280" cy="201168"/>
          </a:xfrm>
          <a:prstGeom prst="rect">
            <a:avLst/>
          </a:prstGeom>
          <a:noFill/>
          <a:ln/>
        </p:spPr>
        <p:txBody>
          <a:bodyPr wrap="square" rtlCol="0" anchor="ctr"/>
          <a:lstStyle/>
          <a:p>
            <a:pPr indent="0" marL="0">
              <a:buNone/>
            </a:pPr>
            <a:r>
              <a:rPr lang="en-US" sz="1200" b="1" i="1" dirty="0">
                <a:solidFill>
                  <a:srgbClr val="7B3FA0"/>
                </a:solidFill>
              </a:rPr>
              <a:t>dist/o</a:t>
            </a:r>
            <a:endParaRPr lang="en-US" sz="1200" dirty="0"/>
          </a:p>
        </p:txBody>
      </p:sp>
      <p:sp>
        <p:nvSpPr>
          <p:cNvPr id="28" name="Text 26"/>
          <p:cNvSpPr/>
          <p:nvPr/>
        </p:nvSpPr>
        <p:spPr>
          <a:xfrm>
            <a:off x="475488" y="2990088"/>
            <a:ext cx="1097280" cy="155448"/>
          </a:xfrm>
          <a:prstGeom prst="rect">
            <a:avLst/>
          </a:prstGeom>
          <a:noFill/>
          <a:ln/>
        </p:spPr>
        <p:txBody>
          <a:bodyPr wrap="square" rtlCol="0" anchor="ctr"/>
          <a:lstStyle/>
          <a:p>
            <a:pPr indent="0" marL="0">
              <a:buNone/>
            </a:pPr>
            <a:r>
              <a:rPr lang="en-US" sz="850" i="1" dirty="0">
                <a:solidFill>
                  <a:srgbClr val="4A5568"/>
                </a:solidFill>
              </a:rPr>
              <a:t>far, distal</a:t>
            </a:r>
            <a:endParaRPr lang="en-US" sz="850" dirty="0"/>
          </a:p>
        </p:txBody>
      </p:sp>
      <p:sp>
        <p:nvSpPr>
          <p:cNvPr id="29" name="Text 27"/>
          <p:cNvSpPr/>
          <p:nvPr/>
        </p:nvSpPr>
        <p:spPr>
          <a:xfrm>
            <a:off x="1645920" y="2798064"/>
            <a:ext cx="2834640" cy="329184"/>
          </a:xfrm>
          <a:prstGeom prst="rect">
            <a:avLst/>
          </a:prstGeom>
          <a:noFill/>
          <a:ln/>
        </p:spPr>
        <p:txBody>
          <a:bodyPr wrap="square" rtlCol="0" anchor="ctr"/>
          <a:lstStyle/>
          <a:p>
            <a:pPr indent="0" marL="0">
              <a:buNone/>
            </a:pPr>
            <a:r>
              <a:rPr lang="en-US" sz="950" dirty="0">
                <a:solidFill>
                  <a:srgbClr val="12203A"/>
                </a:solidFill>
              </a:rPr>
              <a:t>Distal (far from origin). Wrist is distal to elbow.</a:t>
            </a:r>
            <a:endParaRPr lang="en-US" sz="950" dirty="0"/>
          </a:p>
        </p:txBody>
      </p:sp>
      <p:sp>
        <p:nvSpPr>
          <p:cNvPr id="30" name="Shape 28"/>
          <p:cNvSpPr/>
          <p:nvPr/>
        </p:nvSpPr>
        <p:spPr>
          <a:xfrm>
            <a:off x="347472" y="3218688"/>
            <a:ext cx="4251960" cy="448056"/>
          </a:xfrm>
          <a:prstGeom prst="rect">
            <a:avLst/>
          </a:prstGeom>
          <a:solidFill>
            <a:srgbClr val="FAF7FD"/>
          </a:solidFill>
          <a:ln w="12700">
            <a:solidFill>
              <a:srgbClr val="CCAADD"/>
            </a:solidFill>
            <a:prstDash val="solid"/>
          </a:ln>
        </p:spPr>
      </p:sp>
      <p:sp>
        <p:nvSpPr>
          <p:cNvPr id="31" name="Shape 29"/>
          <p:cNvSpPr/>
          <p:nvPr/>
        </p:nvSpPr>
        <p:spPr>
          <a:xfrm>
            <a:off x="347472" y="3218688"/>
            <a:ext cx="73152" cy="448056"/>
          </a:xfrm>
          <a:prstGeom prst="rect">
            <a:avLst/>
          </a:prstGeom>
          <a:solidFill>
            <a:srgbClr val="7B3FA0"/>
          </a:solidFill>
          <a:ln w="12700">
            <a:solidFill>
              <a:srgbClr val="7B3FA0"/>
            </a:solidFill>
            <a:prstDash val="solid"/>
          </a:ln>
        </p:spPr>
      </p:sp>
      <p:sp>
        <p:nvSpPr>
          <p:cNvPr id="32" name="Text 30"/>
          <p:cNvSpPr/>
          <p:nvPr/>
        </p:nvSpPr>
        <p:spPr>
          <a:xfrm>
            <a:off x="475488" y="3255264"/>
            <a:ext cx="1097280" cy="201168"/>
          </a:xfrm>
          <a:prstGeom prst="rect">
            <a:avLst/>
          </a:prstGeom>
          <a:noFill/>
          <a:ln/>
        </p:spPr>
        <p:txBody>
          <a:bodyPr wrap="square" rtlCol="0" anchor="ctr"/>
          <a:lstStyle/>
          <a:p>
            <a:pPr indent="0" marL="0">
              <a:buNone/>
            </a:pPr>
            <a:r>
              <a:rPr lang="en-US" sz="1200" b="1" i="1" dirty="0">
                <a:solidFill>
                  <a:srgbClr val="7B3FA0"/>
                </a:solidFill>
              </a:rPr>
              <a:t>dors/o</a:t>
            </a:r>
            <a:endParaRPr lang="en-US" sz="1200" dirty="0"/>
          </a:p>
        </p:txBody>
      </p:sp>
      <p:sp>
        <p:nvSpPr>
          <p:cNvPr id="33" name="Text 31"/>
          <p:cNvSpPr/>
          <p:nvPr/>
        </p:nvSpPr>
        <p:spPr>
          <a:xfrm>
            <a:off x="475488" y="3474720"/>
            <a:ext cx="1097280" cy="155448"/>
          </a:xfrm>
          <a:prstGeom prst="rect">
            <a:avLst/>
          </a:prstGeom>
          <a:noFill/>
          <a:ln/>
        </p:spPr>
        <p:txBody>
          <a:bodyPr wrap="square" rtlCol="0" anchor="ctr"/>
          <a:lstStyle/>
          <a:p>
            <a:pPr indent="0" marL="0">
              <a:buNone/>
            </a:pPr>
            <a:r>
              <a:rPr lang="en-US" sz="850" i="1" dirty="0">
                <a:solidFill>
                  <a:srgbClr val="4A5568"/>
                </a:solidFill>
              </a:rPr>
              <a:t>back, dorsal</a:t>
            </a:r>
            <a:endParaRPr lang="en-US" sz="850" dirty="0"/>
          </a:p>
        </p:txBody>
      </p:sp>
      <p:sp>
        <p:nvSpPr>
          <p:cNvPr id="34" name="Text 32"/>
          <p:cNvSpPr/>
          <p:nvPr/>
        </p:nvSpPr>
        <p:spPr>
          <a:xfrm>
            <a:off x="1645920" y="3282696"/>
            <a:ext cx="2834640" cy="329184"/>
          </a:xfrm>
          <a:prstGeom prst="rect">
            <a:avLst/>
          </a:prstGeom>
          <a:noFill/>
          <a:ln/>
        </p:spPr>
        <p:txBody>
          <a:bodyPr wrap="square" rtlCol="0" anchor="ctr"/>
          <a:lstStyle/>
          <a:p>
            <a:pPr indent="0" marL="0">
              <a:buNone/>
            </a:pPr>
            <a:r>
              <a:rPr lang="en-US" sz="950" dirty="0">
                <a:solidFill>
                  <a:srgbClr val="12203A"/>
                </a:solidFill>
              </a:rPr>
              <a:t>Dorsal (back surface), dorsal cavities (cranial + spinal). Synonym: posterior</a:t>
            </a:r>
            <a:endParaRPr lang="en-US" sz="950" dirty="0"/>
          </a:p>
        </p:txBody>
      </p:sp>
      <p:sp>
        <p:nvSpPr>
          <p:cNvPr id="35" name="Shape 33"/>
          <p:cNvSpPr/>
          <p:nvPr/>
        </p:nvSpPr>
        <p:spPr>
          <a:xfrm>
            <a:off x="347472" y="3703320"/>
            <a:ext cx="4251960" cy="448056"/>
          </a:xfrm>
          <a:prstGeom prst="rect">
            <a:avLst/>
          </a:prstGeom>
          <a:solidFill>
            <a:srgbClr val="EDE0FA"/>
          </a:solidFill>
          <a:ln w="12700">
            <a:solidFill>
              <a:srgbClr val="CCAADD"/>
            </a:solidFill>
            <a:prstDash val="solid"/>
          </a:ln>
        </p:spPr>
      </p:sp>
      <p:sp>
        <p:nvSpPr>
          <p:cNvPr id="36" name="Shape 34"/>
          <p:cNvSpPr/>
          <p:nvPr/>
        </p:nvSpPr>
        <p:spPr>
          <a:xfrm>
            <a:off x="347472" y="3703320"/>
            <a:ext cx="73152" cy="448056"/>
          </a:xfrm>
          <a:prstGeom prst="rect">
            <a:avLst/>
          </a:prstGeom>
          <a:solidFill>
            <a:srgbClr val="7B3FA0"/>
          </a:solidFill>
          <a:ln w="12700">
            <a:solidFill>
              <a:srgbClr val="7B3FA0"/>
            </a:solidFill>
            <a:prstDash val="solid"/>
          </a:ln>
        </p:spPr>
      </p:sp>
      <p:sp>
        <p:nvSpPr>
          <p:cNvPr id="37" name="Text 35"/>
          <p:cNvSpPr/>
          <p:nvPr/>
        </p:nvSpPr>
        <p:spPr>
          <a:xfrm>
            <a:off x="475488" y="3739896"/>
            <a:ext cx="1097280" cy="201168"/>
          </a:xfrm>
          <a:prstGeom prst="rect">
            <a:avLst/>
          </a:prstGeom>
          <a:noFill/>
          <a:ln/>
        </p:spPr>
        <p:txBody>
          <a:bodyPr wrap="square" rtlCol="0" anchor="ctr"/>
          <a:lstStyle/>
          <a:p>
            <a:pPr indent="0" marL="0">
              <a:buNone/>
            </a:pPr>
            <a:r>
              <a:rPr lang="en-US" sz="1200" b="1" i="1" dirty="0">
                <a:solidFill>
                  <a:srgbClr val="7B3FA0"/>
                </a:solidFill>
              </a:rPr>
              <a:t>hist/o</a:t>
            </a:r>
            <a:endParaRPr lang="en-US" sz="1200" dirty="0"/>
          </a:p>
        </p:txBody>
      </p:sp>
      <p:sp>
        <p:nvSpPr>
          <p:cNvPr id="38" name="Text 36"/>
          <p:cNvSpPr/>
          <p:nvPr/>
        </p:nvSpPr>
        <p:spPr>
          <a:xfrm>
            <a:off x="475488" y="3959352"/>
            <a:ext cx="1097280" cy="155448"/>
          </a:xfrm>
          <a:prstGeom prst="rect">
            <a:avLst/>
          </a:prstGeom>
          <a:noFill/>
          <a:ln/>
        </p:spPr>
        <p:txBody>
          <a:bodyPr wrap="square" rtlCol="0" anchor="ctr"/>
          <a:lstStyle/>
          <a:p>
            <a:pPr indent="0" marL="0">
              <a:buNone/>
            </a:pPr>
            <a:r>
              <a:rPr lang="en-US" sz="850" i="1" dirty="0">
                <a:solidFill>
                  <a:srgbClr val="4A5568"/>
                </a:solidFill>
              </a:rPr>
              <a:t>tissue</a:t>
            </a:r>
            <a:endParaRPr lang="en-US" sz="850" dirty="0"/>
          </a:p>
        </p:txBody>
      </p:sp>
      <p:sp>
        <p:nvSpPr>
          <p:cNvPr id="39" name="Text 37"/>
          <p:cNvSpPr/>
          <p:nvPr/>
        </p:nvSpPr>
        <p:spPr>
          <a:xfrm>
            <a:off x="1645920" y="3767328"/>
            <a:ext cx="2834640" cy="329184"/>
          </a:xfrm>
          <a:prstGeom prst="rect">
            <a:avLst/>
          </a:prstGeom>
          <a:noFill/>
          <a:ln/>
        </p:spPr>
        <p:txBody>
          <a:bodyPr wrap="square" rtlCol="0" anchor="ctr"/>
          <a:lstStyle/>
          <a:p>
            <a:pPr indent="0" marL="0">
              <a:buNone/>
            </a:pPr>
            <a:r>
              <a:rPr lang="en-US" sz="950" dirty="0">
                <a:solidFill>
                  <a:srgbClr val="12203A"/>
                </a:solidFill>
              </a:rPr>
              <a:t>Histology (study of tissues), histologist. 4 types: epithelial, connective, muscular, nervous</a:t>
            </a:r>
            <a:endParaRPr lang="en-US" sz="950" dirty="0"/>
          </a:p>
        </p:txBody>
      </p:sp>
      <p:sp>
        <p:nvSpPr>
          <p:cNvPr id="40" name="Shape 38"/>
          <p:cNvSpPr/>
          <p:nvPr/>
        </p:nvSpPr>
        <p:spPr>
          <a:xfrm>
            <a:off x="347472" y="4187952"/>
            <a:ext cx="4251960" cy="448056"/>
          </a:xfrm>
          <a:prstGeom prst="rect">
            <a:avLst/>
          </a:prstGeom>
          <a:solidFill>
            <a:srgbClr val="FAF7FD"/>
          </a:solidFill>
          <a:ln w="12700">
            <a:solidFill>
              <a:srgbClr val="CCAADD"/>
            </a:solidFill>
            <a:prstDash val="solid"/>
          </a:ln>
        </p:spPr>
      </p:sp>
      <p:sp>
        <p:nvSpPr>
          <p:cNvPr id="41" name="Shape 39"/>
          <p:cNvSpPr/>
          <p:nvPr/>
        </p:nvSpPr>
        <p:spPr>
          <a:xfrm>
            <a:off x="347472" y="4187952"/>
            <a:ext cx="73152" cy="448056"/>
          </a:xfrm>
          <a:prstGeom prst="rect">
            <a:avLst/>
          </a:prstGeom>
          <a:solidFill>
            <a:srgbClr val="7B3FA0"/>
          </a:solidFill>
          <a:ln w="12700">
            <a:solidFill>
              <a:srgbClr val="7B3FA0"/>
            </a:solidFill>
            <a:prstDash val="solid"/>
          </a:ln>
        </p:spPr>
      </p:sp>
      <p:sp>
        <p:nvSpPr>
          <p:cNvPr id="42" name="Text 40"/>
          <p:cNvSpPr/>
          <p:nvPr/>
        </p:nvSpPr>
        <p:spPr>
          <a:xfrm>
            <a:off x="475488" y="4224528"/>
            <a:ext cx="1097280" cy="201168"/>
          </a:xfrm>
          <a:prstGeom prst="rect">
            <a:avLst/>
          </a:prstGeom>
          <a:noFill/>
          <a:ln/>
        </p:spPr>
        <p:txBody>
          <a:bodyPr wrap="square" rtlCol="0" anchor="ctr"/>
          <a:lstStyle/>
          <a:p>
            <a:pPr indent="0" marL="0">
              <a:buNone/>
            </a:pPr>
            <a:r>
              <a:rPr lang="en-US" sz="1200" b="1" i="1" dirty="0">
                <a:solidFill>
                  <a:srgbClr val="7B3FA0"/>
                </a:solidFill>
              </a:rPr>
              <a:t>infer/o</a:t>
            </a:r>
            <a:endParaRPr lang="en-US" sz="1200" dirty="0"/>
          </a:p>
        </p:txBody>
      </p:sp>
      <p:sp>
        <p:nvSpPr>
          <p:cNvPr id="43" name="Text 41"/>
          <p:cNvSpPr/>
          <p:nvPr/>
        </p:nvSpPr>
        <p:spPr>
          <a:xfrm>
            <a:off x="475488" y="4443984"/>
            <a:ext cx="1097280" cy="155448"/>
          </a:xfrm>
          <a:prstGeom prst="rect">
            <a:avLst/>
          </a:prstGeom>
          <a:noFill/>
          <a:ln/>
        </p:spPr>
        <p:txBody>
          <a:bodyPr wrap="square" rtlCol="0" anchor="ctr"/>
          <a:lstStyle/>
          <a:p>
            <a:pPr indent="0" marL="0">
              <a:buNone/>
            </a:pPr>
            <a:r>
              <a:rPr lang="en-US" sz="850" i="1" dirty="0">
                <a:solidFill>
                  <a:srgbClr val="4A5568"/>
                </a:solidFill>
              </a:rPr>
              <a:t>below, inferior</a:t>
            </a:r>
            <a:endParaRPr lang="en-US" sz="850" dirty="0"/>
          </a:p>
        </p:txBody>
      </p:sp>
      <p:sp>
        <p:nvSpPr>
          <p:cNvPr id="44" name="Text 42"/>
          <p:cNvSpPr/>
          <p:nvPr/>
        </p:nvSpPr>
        <p:spPr>
          <a:xfrm>
            <a:off x="1645920" y="4251960"/>
            <a:ext cx="2834640" cy="329184"/>
          </a:xfrm>
          <a:prstGeom prst="rect">
            <a:avLst/>
          </a:prstGeom>
          <a:noFill/>
          <a:ln/>
        </p:spPr>
        <p:txBody>
          <a:bodyPr wrap="square" rtlCol="0" anchor="ctr"/>
          <a:lstStyle/>
          <a:p>
            <a:pPr indent="0" marL="0">
              <a:buNone/>
            </a:pPr>
            <a:r>
              <a:rPr lang="en-US" sz="950" dirty="0">
                <a:solidFill>
                  <a:srgbClr val="12203A"/>
                </a:solidFill>
              </a:rPr>
              <a:t>Inferior (below), abbreviated inf. Stomach is inferior to diaphragm.</a:t>
            </a:r>
            <a:endParaRPr lang="en-US" sz="950" dirty="0"/>
          </a:p>
        </p:txBody>
      </p:sp>
      <p:sp>
        <p:nvSpPr>
          <p:cNvPr id="45" name="Shape 43"/>
          <p:cNvSpPr/>
          <p:nvPr/>
        </p:nvSpPr>
        <p:spPr>
          <a:xfrm>
            <a:off x="347472" y="4672584"/>
            <a:ext cx="4251960" cy="448056"/>
          </a:xfrm>
          <a:prstGeom prst="rect">
            <a:avLst/>
          </a:prstGeom>
          <a:solidFill>
            <a:srgbClr val="EDE0FA"/>
          </a:solidFill>
          <a:ln w="12700">
            <a:solidFill>
              <a:srgbClr val="CCAADD"/>
            </a:solidFill>
            <a:prstDash val="solid"/>
          </a:ln>
        </p:spPr>
      </p:sp>
      <p:sp>
        <p:nvSpPr>
          <p:cNvPr id="46" name="Shape 44"/>
          <p:cNvSpPr/>
          <p:nvPr/>
        </p:nvSpPr>
        <p:spPr>
          <a:xfrm>
            <a:off x="347472" y="4672584"/>
            <a:ext cx="73152" cy="448056"/>
          </a:xfrm>
          <a:prstGeom prst="rect">
            <a:avLst/>
          </a:prstGeom>
          <a:solidFill>
            <a:srgbClr val="7B3FA0"/>
          </a:solidFill>
          <a:ln w="12700">
            <a:solidFill>
              <a:srgbClr val="7B3FA0"/>
            </a:solidFill>
            <a:prstDash val="solid"/>
          </a:ln>
        </p:spPr>
      </p:sp>
      <p:sp>
        <p:nvSpPr>
          <p:cNvPr id="47" name="Text 45"/>
          <p:cNvSpPr/>
          <p:nvPr/>
        </p:nvSpPr>
        <p:spPr>
          <a:xfrm>
            <a:off x="475488" y="4709160"/>
            <a:ext cx="1097280" cy="201168"/>
          </a:xfrm>
          <a:prstGeom prst="rect">
            <a:avLst/>
          </a:prstGeom>
          <a:noFill/>
          <a:ln/>
        </p:spPr>
        <p:txBody>
          <a:bodyPr wrap="square" rtlCol="0" anchor="ctr"/>
          <a:lstStyle/>
          <a:p>
            <a:pPr indent="0" marL="0">
              <a:buNone/>
            </a:pPr>
            <a:r>
              <a:rPr lang="en-US" sz="1200" b="1" i="1" dirty="0">
                <a:solidFill>
                  <a:srgbClr val="7B3FA0"/>
                </a:solidFill>
              </a:rPr>
              <a:t>later/o</a:t>
            </a:r>
            <a:endParaRPr lang="en-US" sz="1200" dirty="0"/>
          </a:p>
        </p:txBody>
      </p:sp>
      <p:sp>
        <p:nvSpPr>
          <p:cNvPr id="48" name="Text 46"/>
          <p:cNvSpPr/>
          <p:nvPr/>
        </p:nvSpPr>
        <p:spPr>
          <a:xfrm>
            <a:off x="475488" y="4928616"/>
            <a:ext cx="1097280" cy="155448"/>
          </a:xfrm>
          <a:prstGeom prst="rect">
            <a:avLst/>
          </a:prstGeom>
          <a:noFill/>
          <a:ln/>
        </p:spPr>
        <p:txBody>
          <a:bodyPr wrap="square" rtlCol="0" anchor="ctr"/>
          <a:lstStyle/>
          <a:p>
            <a:pPr indent="0" marL="0">
              <a:buNone/>
            </a:pPr>
            <a:r>
              <a:rPr lang="en-US" sz="850" i="1" dirty="0">
                <a:solidFill>
                  <a:srgbClr val="4A5568"/>
                </a:solidFill>
              </a:rPr>
              <a:t>side, lateral</a:t>
            </a:r>
            <a:endParaRPr lang="en-US" sz="850" dirty="0"/>
          </a:p>
        </p:txBody>
      </p:sp>
      <p:sp>
        <p:nvSpPr>
          <p:cNvPr id="49" name="Text 47"/>
          <p:cNvSpPr/>
          <p:nvPr/>
        </p:nvSpPr>
        <p:spPr>
          <a:xfrm>
            <a:off x="1645920" y="4736592"/>
            <a:ext cx="2834640" cy="329184"/>
          </a:xfrm>
          <a:prstGeom prst="rect">
            <a:avLst/>
          </a:prstGeom>
          <a:noFill/>
          <a:ln/>
        </p:spPr>
        <p:txBody>
          <a:bodyPr wrap="square" rtlCol="0" anchor="ctr"/>
          <a:lstStyle/>
          <a:p>
            <a:pPr indent="0" marL="0">
              <a:buNone/>
            </a:pPr>
            <a:r>
              <a:rPr lang="en-US" sz="950" dirty="0">
                <a:solidFill>
                  <a:srgbClr val="12203A"/>
                </a:solidFill>
              </a:rPr>
              <a:t>Lateral (away from midline). Used in: ipsilateral, contralateral, bilateral, unilateral</a:t>
            </a:r>
            <a:endParaRPr lang="en-US" sz="950" dirty="0"/>
          </a:p>
        </p:txBody>
      </p:sp>
      <p:sp>
        <p:nvSpPr>
          <p:cNvPr id="50" name="Shape 48"/>
          <p:cNvSpPr/>
          <p:nvPr/>
        </p:nvSpPr>
        <p:spPr>
          <a:xfrm>
            <a:off x="4754880" y="795528"/>
            <a:ext cx="4251960" cy="448056"/>
          </a:xfrm>
          <a:prstGeom prst="rect">
            <a:avLst/>
          </a:prstGeom>
          <a:solidFill>
            <a:srgbClr val="FAF7FD"/>
          </a:solidFill>
          <a:ln w="12700">
            <a:solidFill>
              <a:srgbClr val="CCAADD"/>
            </a:solidFill>
            <a:prstDash val="solid"/>
          </a:ln>
        </p:spPr>
      </p:sp>
      <p:sp>
        <p:nvSpPr>
          <p:cNvPr id="51" name="Shape 49"/>
          <p:cNvSpPr/>
          <p:nvPr/>
        </p:nvSpPr>
        <p:spPr>
          <a:xfrm>
            <a:off x="4754880" y="795528"/>
            <a:ext cx="73152" cy="448056"/>
          </a:xfrm>
          <a:prstGeom prst="rect">
            <a:avLst/>
          </a:prstGeom>
          <a:solidFill>
            <a:srgbClr val="7B3FA0"/>
          </a:solidFill>
          <a:ln w="12700">
            <a:solidFill>
              <a:srgbClr val="7B3FA0"/>
            </a:solidFill>
            <a:prstDash val="solid"/>
          </a:ln>
        </p:spPr>
      </p:sp>
      <p:sp>
        <p:nvSpPr>
          <p:cNvPr id="52" name="Text 50"/>
          <p:cNvSpPr/>
          <p:nvPr/>
        </p:nvSpPr>
        <p:spPr>
          <a:xfrm>
            <a:off x="4882896" y="832104"/>
            <a:ext cx="1097280" cy="201168"/>
          </a:xfrm>
          <a:prstGeom prst="rect">
            <a:avLst/>
          </a:prstGeom>
          <a:noFill/>
          <a:ln/>
        </p:spPr>
        <p:txBody>
          <a:bodyPr wrap="square" rtlCol="0" anchor="ctr"/>
          <a:lstStyle/>
          <a:p>
            <a:pPr indent="0" marL="0">
              <a:buNone/>
            </a:pPr>
            <a:r>
              <a:rPr lang="en-US" sz="1200" b="1" i="1" dirty="0">
                <a:solidFill>
                  <a:srgbClr val="7B3FA0"/>
                </a:solidFill>
              </a:rPr>
              <a:t>medi/o</a:t>
            </a:r>
            <a:endParaRPr lang="en-US" sz="1200" dirty="0"/>
          </a:p>
        </p:txBody>
      </p:sp>
      <p:sp>
        <p:nvSpPr>
          <p:cNvPr id="53" name="Text 51"/>
          <p:cNvSpPr/>
          <p:nvPr/>
        </p:nvSpPr>
        <p:spPr>
          <a:xfrm>
            <a:off x="4882896" y="1051560"/>
            <a:ext cx="1097280" cy="155448"/>
          </a:xfrm>
          <a:prstGeom prst="rect">
            <a:avLst/>
          </a:prstGeom>
          <a:noFill/>
          <a:ln/>
        </p:spPr>
        <p:txBody>
          <a:bodyPr wrap="square" rtlCol="0" anchor="ctr"/>
          <a:lstStyle/>
          <a:p>
            <a:pPr indent="0" marL="0">
              <a:buNone/>
            </a:pPr>
            <a:r>
              <a:rPr lang="en-US" sz="850" i="1" dirty="0">
                <a:solidFill>
                  <a:srgbClr val="4A5568"/>
                </a:solidFill>
              </a:rPr>
              <a:t>middle, medial</a:t>
            </a:r>
            <a:endParaRPr lang="en-US" sz="850" dirty="0"/>
          </a:p>
        </p:txBody>
      </p:sp>
      <p:sp>
        <p:nvSpPr>
          <p:cNvPr id="54" name="Text 52"/>
          <p:cNvSpPr/>
          <p:nvPr/>
        </p:nvSpPr>
        <p:spPr>
          <a:xfrm>
            <a:off x="6053328" y="859536"/>
            <a:ext cx="2834640" cy="329184"/>
          </a:xfrm>
          <a:prstGeom prst="rect">
            <a:avLst/>
          </a:prstGeom>
          <a:noFill/>
          <a:ln/>
        </p:spPr>
        <p:txBody>
          <a:bodyPr wrap="square" rtlCol="0" anchor="ctr"/>
          <a:lstStyle/>
          <a:p>
            <a:pPr indent="0" marL="0">
              <a:buNone/>
            </a:pPr>
            <a:r>
              <a:rPr lang="en-US" sz="950" dirty="0">
                <a:solidFill>
                  <a:srgbClr val="12203A"/>
                </a:solidFill>
              </a:rPr>
              <a:t>Medial (toward midline). Big toe is medial to little toe.</a:t>
            </a:r>
            <a:endParaRPr lang="en-US" sz="950" dirty="0"/>
          </a:p>
        </p:txBody>
      </p:sp>
      <p:sp>
        <p:nvSpPr>
          <p:cNvPr id="55" name="Shape 53"/>
          <p:cNvSpPr/>
          <p:nvPr/>
        </p:nvSpPr>
        <p:spPr>
          <a:xfrm>
            <a:off x="4754880" y="1280160"/>
            <a:ext cx="4251960" cy="448056"/>
          </a:xfrm>
          <a:prstGeom prst="rect">
            <a:avLst/>
          </a:prstGeom>
          <a:solidFill>
            <a:srgbClr val="EDE0FA"/>
          </a:solidFill>
          <a:ln w="12700">
            <a:solidFill>
              <a:srgbClr val="CCAADD"/>
            </a:solidFill>
            <a:prstDash val="solid"/>
          </a:ln>
        </p:spPr>
      </p:sp>
      <p:sp>
        <p:nvSpPr>
          <p:cNvPr id="56" name="Shape 54"/>
          <p:cNvSpPr/>
          <p:nvPr/>
        </p:nvSpPr>
        <p:spPr>
          <a:xfrm>
            <a:off x="4754880" y="1280160"/>
            <a:ext cx="73152" cy="448056"/>
          </a:xfrm>
          <a:prstGeom prst="rect">
            <a:avLst/>
          </a:prstGeom>
          <a:solidFill>
            <a:srgbClr val="7B3FA0"/>
          </a:solidFill>
          <a:ln w="12700">
            <a:solidFill>
              <a:srgbClr val="7B3FA0"/>
            </a:solidFill>
            <a:prstDash val="solid"/>
          </a:ln>
        </p:spPr>
      </p:sp>
      <p:sp>
        <p:nvSpPr>
          <p:cNvPr id="57" name="Text 55"/>
          <p:cNvSpPr/>
          <p:nvPr/>
        </p:nvSpPr>
        <p:spPr>
          <a:xfrm>
            <a:off x="4882896" y="1316736"/>
            <a:ext cx="1097280" cy="201168"/>
          </a:xfrm>
          <a:prstGeom prst="rect">
            <a:avLst/>
          </a:prstGeom>
          <a:noFill/>
          <a:ln/>
        </p:spPr>
        <p:txBody>
          <a:bodyPr wrap="square" rtlCol="0" anchor="ctr"/>
          <a:lstStyle/>
          <a:p>
            <a:pPr indent="0" marL="0">
              <a:buNone/>
            </a:pPr>
            <a:r>
              <a:rPr lang="en-US" sz="1200" b="1" i="1" dirty="0">
                <a:solidFill>
                  <a:srgbClr val="7B3FA0"/>
                </a:solidFill>
              </a:rPr>
              <a:t>pelv/i</a:t>
            </a:r>
            <a:endParaRPr lang="en-US" sz="1200" dirty="0"/>
          </a:p>
        </p:txBody>
      </p:sp>
      <p:sp>
        <p:nvSpPr>
          <p:cNvPr id="58" name="Text 56"/>
          <p:cNvSpPr/>
          <p:nvPr/>
        </p:nvSpPr>
        <p:spPr>
          <a:xfrm>
            <a:off x="4882896" y="1536192"/>
            <a:ext cx="1097280" cy="155448"/>
          </a:xfrm>
          <a:prstGeom prst="rect">
            <a:avLst/>
          </a:prstGeom>
          <a:noFill/>
          <a:ln/>
        </p:spPr>
        <p:txBody>
          <a:bodyPr wrap="square" rtlCol="0" anchor="ctr"/>
          <a:lstStyle/>
          <a:p>
            <a:pPr indent="0" marL="0">
              <a:buNone/>
            </a:pPr>
            <a:r>
              <a:rPr lang="en-US" sz="850" i="1" dirty="0">
                <a:solidFill>
                  <a:srgbClr val="4A5568"/>
                </a:solidFill>
              </a:rPr>
              <a:t>pelvis</a:t>
            </a:r>
            <a:endParaRPr lang="en-US" sz="850" dirty="0"/>
          </a:p>
        </p:txBody>
      </p:sp>
      <p:sp>
        <p:nvSpPr>
          <p:cNvPr id="59" name="Text 57"/>
          <p:cNvSpPr/>
          <p:nvPr/>
        </p:nvSpPr>
        <p:spPr>
          <a:xfrm>
            <a:off x="6053328" y="1344168"/>
            <a:ext cx="2834640" cy="329184"/>
          </a:xfrm>
          <a:prstGeom prst="rect">
            <a:avLst/>
          </a:prstGeom>
          <a:noFill/>
          <a:ln/>
        </p:spPr>
        <p:txBody>
          <a:bodyPr wrap="square" rtlCol="0" anchor="ctr"/>
          <a:lstStyle/>
          <a:p>
            <a:pPr indent="0" marL="0">
              <a:buNone/>
            </a:pPr>
            <a:r>
              <a:rPr lang="en-US" sz="950" dirty="0">
                <a:solidFill>
                  <a:srgbClr val="12203A"/>
                </a:solidFill>
              </a:rPr>
              <a:t>Pelvic (pertaining to pelvis). ⚠ Uses 'i' not 'o' as combining vowel — uncommon exception!</a:t>
            </a:r>
            <a:endParaRPr lang="en-US" sz="950" dirty="0"/>
          </a:p>
        </p:txBody>
      </p:sp>
      <p:sp>
        <p:nvSpPr>
          <p:cNvPr id="60" name="Shape 58"/>
          <p:cNvSpPr/>
          <p:nvPr/>
        </p:nvSpPr>
        <p:spPr>
          <a:xfrm>
            <a:off x="4754880" y="1764792"/>
            <a:ext cx="4251960" cy="448056"/>
          </a:xfrm>
          <a:prstGeom prst="rect">
            <a:avLst/>
          </a:prstGeom>
          <a:solidFill>
            <a:srgbClr val="FAF7FD"/>
          </a:solidFill>
          <a:ln w="12700">
            <a:solidFill>
              <a:srgbClr val="CCAADD"/>
            </a:solidFill>
            <a:prstDash val="solid"/>
          </a:ln>
        </p:spPr>
      </p:sp>
      <p:sp>
        <p:nvSpPr>
          <p:cNvPr id="61" name="Shape 59"/>
          <p:cNvSpPr/>
          <p:nvPr/>
        </p:nvSpPr>
        <p:spPr>
          <a:xfrm>
            <a:off x="4754880" y="1764792"/>
            <a:ext cx="73152" cy="448056"/>
          </a:xfrm>
          <a:prstGeom prst="rect">
            <a:avLst/>
          </a:prstGeom>
          <a:solidFill>
            <a:srgbClr val="7B3FA0"/>
          </a:solidFill>
          <a:ln w="12700">
            <a:solidFill>
              <a:srgbClr val="7B3FA0"/>
            </a:solidFill>
            <a:prstDash val="solid"/>
          </a:ln>
        </p:spPr>
      </p:sp>
      <p:sp>
        <p:nvSpPr>
          <p:cNvPr id="62" name="Text 60"/>
          <p:cNvSpPr/>
          <p:nvPr/>
        </p:nvSpPr>
        <p:spPr>
          <a:xfrm>
            <a:off x="4882896" y="1801368"/>
            <a:ext cx="1097280" cy="201168"/>
          </a:xfrm>
          <a:prstGeom prst="rect">
            <a:avLst/>
          </a:prstGeom>
          <a:noFill/>
          <a:ln/>
        </p:spPr>
        <p:txBody>
          <a:bodyPr wrap="square" rtlCol="0" anchor="ctr"/>
          <a:lstStyle/>
          <a:p>
            <a:pPr indent="0" marL="0">
              <a:buNone/>
            </a:pPr>
            <a:r>
              <a:rPr lang="en-US" sz="1200" b="1" i="1" dirty="0">
                <a:solidFill>
                  <a:srgbClr val="7B3FA0"/>
                </a:solidFill>
              </a:rPr>
              <a:t>poster/o</a:t>
            </a:r>
            <a:endParaRPr lang="en-US" sz="1200" dirty="0"/>
          </a:p>
        </p:txBody>
      </p:sp>
      <p:sp>
        <p:nvSpPr>
          <p:cNvPr id="63" name="Text 61"/>
          <p:cNvSpPr/>
          <p:nvPr/>
        </p:nvSpPr>
        <p:spPr>
          <a:xfrm>
            <a:off x="4882896" y="2020824"/>
            <a:ext cx="1097280" cy="155448"/>
          </a:xfrm>
          <a:prstGeom prst="rect">
            <a:avLst/>
          </a:prstGeom>
          <a:noFill/>
          <a:ln/>
        </p:spPr>
        <p:txBody>
          <a:bodyPr wrap="square" rtlCol="0" anchor="ctr"/>
          <a:lstStyle/>
          <a:p>
            <a:pPr indent="0" marL="0">
              <a:buNone/>
            </a:pPr>
            <a:r>
              <a:rPr lang="en-US" sz="850" i="1" dirty="0">
                <a:solidFill>
                  <a:srgbClr val="4A5568"/>
                </a:solidFill>
              </a:rPr>
              <a:t>back, posterior</a:t>
            </a:r>
            <a:endParaRPr lang="en-US" sz="850" dirty="0"/>
          </a:p>
        </p:txBody>
      </p:sp>
      <p:sp>
        <p:nvSpPr>
          <p:cNvPr id="64" name="Text 62"/>
          <p:cNvSpPr/>
          <p:nvPr/>
        </p:nvSpPr>
        <p:spPr>
          <a:xfrm>
            <a:off x="6053328" y="1828800"/>
            <a:ext cx="2834640" cy="329184"/>
          </a:xfrm>
          <a:prstGeom prst="rect">
            <a:avLst/>
          </a:prstGeom>
          <a:noFill/>
          <a:ln/>
        </p:spPr>
        <p:txBody>
          <a:bodyPr wrap="square" rtlCol="0" anchor="ctr"/>
          <a:lstStyle/>
          <a:p>
            <a:pPr indent="0" marL="0">
              <a:buNone/>
            </a:pPr>
            <a:r>
              <a:rPr lang="en-US" sz="950" dirty="0">
                <a:solidFill>
                  <a:srgbClr val="12203A"/>
                </a:solidFill>
              </a:rPr>
              <a:t>Posterior (back side), posteroanterior (PA X-ray). Abbreviated pos. Synonym: dorsal</a:t>
            </a:r>
            <a:endParaRPr lang="en-US" sz="950" dirty="0"/>
          </a:p>
        </p:txBody>
      </p:sp>
      <p:sp>
        <p:nvSpPr>
          <p:cNvPr id="65" name="Shape 63"/>
          <p:cNvSpPr/>
          <p:nvPr/>
        </p:nvSpPr>
        <p:spPr>
          <a:xfrm>
            <a:off x="4754880" y="2249424"/>
            <a:ext cx="4251960" cy="448056"/>
          </a:xfrm>
          <a:prstGeom prst="rect">
            <a:avLst/>
          </a:prstGeom>
          <a:solidFill>
            <a:srgbClr val="EDE0FA"/>
          </a:solidFill>
          <a:ln w="12700">
            <a:solidFill>
              <a:srgbClr val="CCAADD"/>
            </a:solidFill>
            <a:prstDash val="solid"/>
          </a:ln>
        </p:spPr>
      </p:sp>
      <p:sp>
        <p:nvSpPr>
          <p:cNvPr id="66" name="Shape 64"/>
          <p:cNvSpPr/>
          <p:nvPr/>
        </p:nvSpPr>
        <p:spPr>
          <a:xfrm>
            <a:off x="4754880" y="2249424"/>
            <a:ext cx="73152" cy="448056"/>
          </a:xfrm>
          <a:prstGeom prst="rect">
            <a:avLst/>
          </a:prstGeom>
          <a:solidFill>
            <a:srgbClr val="7B3FA0"/>
          </a:solidFill>
          <a:ln w="12700">
            <a:solidFill>
              <a:srgbClr val="7B3FA0"/>
            </a:solidFill>
            <a:prstDash val="solid"/>
          </a:ln>
        </p:spPr>
      </p:sp>
      <p:sp>
        <p:nvSpPr>
          <p:cNvPr id="67" name="Text 65"/>
          <p:cNvSpPr/>
          <p:nvPr/>
        </p:nvSpPr>
        <p:spPr>
          <a:xfrm>
            <a:off x="4882896" y="2286000"/>
            <a:ext cx="1097280" cy="201168"/>
          </a:xfrm>
          <a:prstGeom prst="rect">
            <a:avLst/>
          </a:prstGeom>
          <a:noFill/>
          <a:ln/>
        </p:spPr>
        <p:txBody>
          <a:bodyPr wrap="square" rtlCol="0" anchor="ctr"/>
          <a:lstStyle/>
          <a:p>
            <a:pPr indent="0" marL="0">
              <a:buNone/>
            </a:pPr>
            <a:r>
              <a:rPr lang="en-US" sz="1200" b="1" i="1" dirty="0">
                <a:solidFill>
                  <a:srgbClr val="7B3FA0"/>
                </a:solidFill>
              </a:rPr>
              <a:t>proxim/o</a:t>
            </a:r>
            <a:endParaRPr lang="en-US" sz="1200" dirty="0"/>
          </a:p>
        </p:txBody>
      </p:sp>
      <p:sp>
        <p:nvSpPr>
          <p:cNvPr id="68" name="Text 66"/>
          <p:cNvSpPr/>
          <p:nvPr/>
        </p:nvSpPr>
        <p:spPr>
          <a:xfrm>
            <a:off x="4882896" y="2505456"/>
            <a:ext cx="1097280" cy="155448"/>
          </a:xfrm>
          <a:prstGeom prst="rect">
            <a:avLst/>
          </a:prstGeom>
          <a:noFill/>
          <a:ln/>
        </p:spPr>
        <p:txBody>
          <a:bodyPr wrap="square" rtlCol="0" anchor="ctr"/>
          <a:lstStyle/>
          <a:p>
            <a:pPr indent="0" marL="0">
              <a:buNone/>
            </a:pPr>
            <a:r>
              <a:rPr lang="en-US" sz="850" i="1" dirty="0">
                <a:solidFill>
                  <a:srgbClr val="4A5568"/>
                </a:solidFill>
              </a:rPr>
              <a:t>near, proximal</a:t>
            </a:r>
            <a:endParaRPr lang="en-US" sz="850" dirty="0"/>
          </a:p>
        </p:txBody>
      </p:sp>
      <p:sp>
        <p:nvSpPr>
          <p:cNvPr id="69" name="Text 67"/>
          <p:cNvSpPr/>
          <p:nvPr/>
        </p:nvSpPr>
        <p:spPr>
          <a:xfrm>
            <a:off x="6053328" y="2313432"/>
            <a:ext cx="2834640" cy="329184"/>
          </a:xfrm>
          <a:prstGeom prst="rect">
            <a:avLst/>
          </a:prstGeom>
          <a:noFill/>
          <a:ln/>
        </p:spPr>
        <p:txBody>
          <a:bodyPr wrap="square" rtlCol="0" anchor="ctr"/>
          <a:lstStyle/>
          <a:p>
            <a:pPr indent="0" marL="0">
              <a:buNone/>
            </a:pPr>
            <a:r>
              <a:rPr lang="en-US" sz="950" dirty="0">
                <a:solidFill>
                  <a:srgbClr val="12203A"/>
                </a:solidFill>
              </a:rPr>
              <a:t>Proximal (near origin). Elbow is proximal to wrist.</a:t>
            </a:r>
            <a:endParaRPr lang="en-US" sz="950" dirty="0"/>
          </a:p>
        </p:txBody>
      </p:sp>
      <p:sp>
        <p:nvSpPr>
          <p:cNvPr id="70" name="Shape 68"/>
          <p:cNvSpPr/>
          <p:nvPr/>
        </p:nvSpPr>
        <p:spPr>
          <a:xfrm>
            <a:off x="4754880" y="2734056"/>
            <a:ext cx="4251960" cy="448056"/>
          </a:xfrm>
          <a:prstGeom prst="rect">
            <a:avLst/>
          </a:prstGeom>
          <a:solidFill>
            <a:srgbClr val="FAF7FD"/>
          </a:solidFill>
          <a:ln w="12700">
            <a:solidFill>
              <a:srgbClr val="CCAADD"/>
            </a:solidFill>
            <a:prstDash val="solid"/>
          </a:ln>
        </p:spPr>
      </p:sp>
      <p:sp>
        <p:nvSpPr>
          <p:cNvPr id="71" name="Shape 69"/>
          <p:cNvSpPr/>
          <p:nvPr/>
        </p:nvSpPr>
        <p:spPr>
          <a:xfrm>
            <a:off x="4754880" y="2734056"/>
            <a:ext cx="73152" cy="448056"/>
          </a:xfrm>
          <a:prstGeom prst="rect">
            <a:avLst/>
          </a:prstGeom>
          <a:solidFill>
            <a:srgbClr val="7B3FA0"/>
          </a:solidFill>
          <a:ln w="12700">
            <a:solidFill>
              <a:srgbClr val="7B3FA0"/>
            </a:solidFill>
            <a:prstDash val="solid"/>
          </a:ln>
        </p:spPr>
      </p:sp>
      <p:sp>
        <p:nvSpPr>
          <p:cNvPr id="72" name="Text 70"/>
          <p:cNvSpPr/>
          <p:nvPr/>
        </p:nvSpPr>
        <p:spPr>
          <a:xfrm>
            <a:off x="4882896" y="2770632"/>
            <a:ext cx="1097280" cy="201168"/>
          </a:xfrm>
          <a:prstGeom prst="rect">
            <a:avLst/>
          </a:prstGeom>
          <a:noFill/>
          <a:ln/>
        </p:spPr>
        <p:txBody>
          <a:bodyPr wrap="square" rtlCol="0" anchor="ctr"/>
          <a:lstStyle/>
          <a:p>
            <a:pPr indent="0" marL="0">
              <a:buNone/>
            </a:pPr>
            <a:r>
              <a:rPr lang="en-US" sz="1200" b="1" i="1" dirty="0">
                <a:solidFill>
                  <a:srgbClr val="7B3FA0"/>
                </a:solidFill>
              </a:rPr>
              <a:t>super/o</a:t>
            </a:r>
            <a:endParaRPr lang="en-US" sz="1200" dirty="0"/>
          </a:p>
        </p:txBody>
      </p:sp>
      <p:sp>
        <p:nvSpPr>
          <p:cNvPr id="73" name="Text 71"/>
          <p:cNvSpPr/>
          <p:nvPr/>
        </p:nvSpPr>
        <p:spPr>
          <a:xfrm>
            <a:off x="4882896" y="2990088"/>
            <a:ext cx="1097280" cy="155448"/>
          </a:xfrm>
          <a:prstGeom prst="rect">
            <a:avLst/>
          </a:prstGeom>
          <a:noFill/>
          <a:ln/>
        </p:spPr>
        <p:txBody>
          <a:bodyPr wrap="square" rtlCol="0" anchor="ctr"/>
          <a:lstStyle/>
          <a:p>
            <a:pPr indent="0" marL="0">
              <a:buNone/>
            </a:pPr>
            <a:r>
              <a:rPr lang="en-US" sz="850" i="1" dirty="0">
                <a:solidFill>
                  <a:srgbClr val="4A5568"/>
                </a:solidFill>
              </a:rPr>
              <a:t>above, superior</a:t>
            </a:r>
            <a:endParaRPr lang="en-US" sz="850" dirty="0"/>
          </a:p>
        </p:txBody>
      </p:sp>
      <p:sp>
        <p:nvSpPr>
          <p:cNvPr id="74" name="Text 72"/>
          <p:cNvSpPr/>
          <p:nvPr/>
        </p:nvSpPr>
        <p:spPr>
          <a:xfrm>
            <a:off x="6053328" y="2798064"/>
            <a:ext cx="2834640" cy="329184"/>
          </a:xfrm>
          <a:prstGeom prst="rect">
            <a:avLst/>
          </a:prstGeom>
          <a:noFill/>
          <a:ln/>
        </p:spPr>
        <p:txBody>
          <a:bodyPr wrap="square" rtlCol="0" anchor="ctr"/>
          <a:lstStyle/>
          <a:p>
            <a:pPr indent="0" marL="0">
              <a:buNone/>
            </a:pPr>
            <a:r>
              <a:rPr lang="en-US" sz="950" dirty="0">
                <a:solidFill>
                  <a:srgbClr val="12203A"/>
                </a:solidFill>
              </a:rPr>
              <a:t>Superior (above), abbreviated sup. Heart is superior to stomach.</a:t>
            </a:r>
            <a:endParaRPr lang="en-US" sz="950" dirty="0"/>
          </a:p>
        </p:txBody>
      </p:sp>
      <p:sp>
        <p:nvSpPr>
          <p:cNvPr id="75" name="Shape 73"/>
          <p:cNvSpPr/>
          <p:nvPr/>
        </p:nvSpPr>
        <p:spPr>
          <a:xfrm>
            <a:off x="4754880" y="3218688"/>
            <a:ext cx="4251960" cy="448056"/>
          </a:xfrm>
          <a:prstGeom prst="rect">
            <a:avLst/>
          </a:prstGeom>
          <a:solidFill>
            <a:srgbClr val="EDE0FA"/>
          </a:solidFill>
          <a:ln w="12700">
            <a:solidFill>
              <a:srgbClr val="CCAADD"/>
            </a:solidFill>
            <a:prstDash val="solid"/>
          </a:ln>
        </p:spPr>
      </p:sp>
      <p:sp>
        <p:nvSpPr>
          <p:cNvPr id="76" name="Shape 74"/>
          <p:cNvSpPr/>
          <p:nvPr/>
        </p:nvSpPr>
        <p:spPr>
          <a:xfrm>
            <a:off x="4754880" y="3218688"/>
            <a:ext cx="73152" cy="448056"/>
          </a:xfrm>
          <a:prstGeom prst="rect">
            <a:avLst/>
          </a:prstGeom>
          <a:solidFill>
            <a:srgbClr val="7B3FA0"/>
          </a:solidFill>
          <a:ln w="12700">
            <a:solidFill>
              <a:srgbClr val="7B3FA0"/>
            </a:solidFill>
            <a:prstDash val="solid"/>
          </a:ln>
        </p:spPr>
      </p:sp>
      <p:sp>
        <p:nvSpPr>
          <p:cNvPr id="77" name="Text 75"/>
          <p:cNvSpPr/>
          <p:nvPr/>
        </p:nvSpPr>
        <p:spPr>
          <a:xfrm>
            <a:off x="4882896" y="3255264"/>
            <a:ext cx="1097280" cy="201168"/>
          </a:xfrm>
          <a:prstGeom prst="rect">
            <a:avLst/>
          </a:prstGeom>
          <a:noFill/>
          <a:ln/>
        </p:spPr>
        <p:txBody>
          <a:bodyPr wrap="square" rtlCol="0" anchor="ctr"/>
          <a:lstStyle/>
          <a:p>
            <a:pPr indent="0" marL="0">
              <a:buNone/>
            </a:pPr>
            <a:r>
              <a:rPr lang="en-US" sz="1200" b="1" i="1" dirty="0">
                <a:solidFill>
                  <a:srgbClr val="7B3FA0"/>
                </a:solidFill>
              </a:rPr>
              <a:t>thorac/o</a:t>
            </a:r>
            <a:endParaRPr lang="en-US" sz="1200" dirty="0"/>
          </a:p>
        </p:txBody>
      </p:sp>
      <p:sp>
        <p:nvSpPr>
          <p:cNvPr id="78" name="Text 76"/>
          <p:cNvSpPr/>
          <p:nvPr/>
        </p:nvSpPr>
        <p:spPr>
          <a:xfrm>
            <a:off x="4882896" y="3474720"/>
            <a:ext cx="1097280" cy="155448"/>
          </a:xfrm>
          <a:prstGeom prst="rect">
            <a:avLst/>
          </a:prstGeom>
          <a:noFill/>
          <a:ln/>
        </p:spPr>
        <p:txBody>
          <a:bodyPr wrap="square" rtlCol="0" anchor="ctr"/>
          <a:lstStyle/>
          <a:p>
            <a:pPr indent="0" marL="0">
              <a:buNone/>
            </a:pPr>
            <a:r>
              <a:rPr lang="en-US" sz="850" i="1" dirty="0">
                <a:solidFill>
                  <a:srgbClr val="4A5568"/>
                </a:solidFill>
              </a:rPr>
              <a:t>chest, thorax</a:t>
            </a:r>
            <a:endParaRPr lang="en-US" sz="850" dirty="0"/>
          </a:p>
        </p:txBody>
      </p:sp>
      <p:sp>
        <p:nvSpPr>
          <p:cNvPr id="79" name="Text 77"/>
          <p:cNvSpPr/>
          <p:nvPr/>
        </p:nvSpPr>
        <p:spPr>
          <a:xfrm>
            <a:off x="6053328" y="3282696"/>
            <a:ext cx="2834640" cy="329184"/>
          </a:xfrm>
          <a:prstGeom prst="rect">
            <a:avLst/>
          </a:prstGeom>
          <a:noFill/>
          <a:ln/>
        </p:spPr>
        <p:txBody>
          <a:bodyPr wrap="square" rtlCol="0" anchor="ctr"/>
          <a:lstStyle/>
          <a:p>
            <a:pPr indent="0" marL="0">
              <a:buNone/>
            </a:pPr>
            <a:r>
              <a:rPr lang="en-US" sz="950" dirty="0">
                <a:solidFill>
                  <a:srgbClr val="12203A"/>
                </a:solidFill>
              </a:rPr>
              <a:t>Thoracic (pertaining to chest), thoracotomy, thoracic cavity (ventral)</a:t>
            </a:r>
            <a:endParaRPr lang="en-US" sz="950" dirty="0"/>
          </a:p>
        </p:txBody>
      </p:sp>
      <p:sp>
        <p:nvSpPr>
          <p:cNvPr id="80" name="Shape 78"/>
          <p:cNvSpPr/>
          <p:nvPr/>
        </p:nvSpPr>
        <p:spPr>
          <a:xfrm>
            <a:off x="4754880" y="3703320"/>
            <a:ext cx="4251960" cy="448056"/>
          </a:xfrm>
          <a:prstGeom prst="rect">
            <a:avLst/>
          </a:prstGeom>
          <a:solidFill>
            <a:srgbClr val="FAF7FD"/>
          </a:solidFill>
          <a:ln w="12700">
            <a:solidFill>
              <a:srgbClr val="CCAADD"/>
            </a:solidFill>
            <a:prstDash val="solid"/>
          </a:ln>
        </p:spPr>
      </p:sp>
      <p:sp>
        <p:nvSpPr>
          <p:cNvPr id="81" name="Shape 79"/>
          <p:cNvSpPr/>
          <p:nvPr/>
        </p:nvSpPr>
        <p:spPr>
          <a:xfrm>
            <a:off x="4754880" y="3703320"/>
            <a:ext cx="73152" cy="448056"/>
          </a:xfrm>
          <a:prstGeom prst="rect">
            <a:avLst/>
          </a:prstGeom>
          <a:solidFill>
            <a:srgbClr val="7B3FA0"/>
          </a:solidFill>
          <a:ln w="12700">
            <a:solidFill>
              <a:srgbClr val="7B3FA0"/>
            </a:solidFill>
            <a:prstDash val="solid"/>
          </a:ln>
        </p:spPr>
      </p:sp>
      <p:sp>
        <p:nvSpPr>
          <p:cNvPr id="82" name="Text 80"/>
          <p:cNvSpPr/>
          <p:nvPr/>
        </p:nvSpPr>
        <p:spPr>
          <a:xfrm>
            <a:off x="4882896" y="3739896"/>
            <a:ext cx="1097280" cy="201168"/>
          </a:xfrm>
          <a:prstGeom prst="rect">
            <a:avLst/>
          </a:prstGeom>
          <a:noFill/>
          <a:ln/>
        </p:spPr>
        <p:txBody>
          <a:bodyPr wrap="square" rtlCol="0" anchor="ctr"/>
          <a:lstStyle/>
          <a:p>
            <a:pPr indent="0" marL="0">
              <a:buNone/>
            </a:pPr>
            <a:r>
              <a:rPr lang="en-US" sz="1200" b="1" i="1" dirty="0">
                <a:solidFill>
                  <a:srgbClr val="7B3FA0"/>
                </a:solidFill>
              </a:rPr>
              <a:t>umbilic/o</a:t>
            </a:r>
            <a:endParaRPr lang="en-US" sz="1200" dirty="0"/>
          </a:p>
        </p:txBody>
      </p:sp>
      <p:sp>
        <p:nvSpPr>
          <p:cNvPr id="83" name="Text 81"/>
          <p:cNvSpPr/>
          <p:nvPr/>
        </p:nvSpPr>
        <p:spPr>
          <a:xfrm>
            <a:off x="4882896" y="3959352"/>
            <a:ext cx="1097280" cy="155448"/>
          </a:xfrm>
          <a:prstGeom prst="rect">
            <a:avLst/>
          </a:prstGeom>
          <a:noFill/>
          <a:ln/>
        </p:spPr>
        <p:txBody>
          <a:bodyPr wrap="square" rtlCol="0" anchor="ctr"/>
          <a:lstStyle/>
          <a:p>
            <a:pPr indent="0" marL="0">
              <a:buNone/>
            </a:pPr>
            <a:r>
              <a:rPr lang="en-US" sz="850" i="1" dirty="0">
                <a:solidFill>
                  <a:srgbClr val="4A5568"/>
                </a:solidFill>
              </a:rPr>
              <a:t>umbilicus, navel</a:t>
            </a:r>
            <a:endParaRPr lang="en-US" sz="850" dirty="0"/>
          </a:p>
        </p:txBody>
      </p:sp>
      <p:sp>
        <p:nvSpPr>
          <p:cNvPr id="84" name="Text 82"/>
          <p:cNvSpPr/>
          <p:nvPr/>
        </p:nvSpPr>
        <p:spPr>
          <a:xfrm>
            <a:off x="6053328" y="3767328"/>
            <a:ext cx="2834640" cy="329184"/>
          </a:xfrm>
          <a:prstGeom prst="rect">
            <a:avLst/>
          </a:prstGeom>
          <a:noFill/>
          <a:ln/>
        </p:spPr>
        <p:txBody>
          <a:bodyPr wrap="square" rtlCol="0" anchor="ctr"/>
          <a:lstStyle/>
          <a:p>
            <a:pPr indent="0" marL="0">
              <a:buNone/>
            </a:pPr>
            <a:r>
              <a:rPr lang="en-US" sz="950" dirty="0">
                <a:solidFill>
                  <a:srgbClr val="12203A"/>
                </a:solidFill>
              </a:rPr>
              <a:t>Umbilical, umbilical region (central abdominopelvic region)</a:t>
            </a:r>
            <a:endParaRPr lang="en-US" sz="950" dirty="0"/>
          </a:p>
        </p:txBody>
      </p:sp>
      <p:sp>
        <p:nvSpPr>
          <p:cNvPr id="85" name="Shape 83"/>
          <p:cNvSpPr/>
          <p:nvPr/>
        </p:nvSpPr>
        <p:spPr>
          <a:xfrm>
            <a:off x="4754880" y="4187952"/>
            <a:ext cx="4251960" cy="448056"/>
          </a:xfrm>
          <a:prstGeom prst="rect">
            <a:avLst/>
          </a:prstGeom>
          <a:solidFill>
            <a:srgbClr val="EDE0FA"/>
          </a:solidFill>
          <a:ln w="12700">
            <a:solidFill>
              <a:srgbClr val="CCAADD"/>
            </a:solidFill>
            <a:prstDash val="solid"/>
          </a:ln>
        </p:spPr>
      </p:sp>
      <p:sp>
        <p:nvSpPr>
          <p:cNvPr id="86" name="Shape 84"/>
          <p:cNvSpPr/>
          <p:nvPr/>
        </p:nvSpPr>
        <p:spPr>
          <a:xfrm>
            <a:off x="4754880" y="4187952"/>
            <a:ext cx="73152" cy="448056"/>
          </a:xfrm>
          <a:prstGeom prst="rect">
            <a:avLst/>
          </a:prstGeom>
          <a:solidFill>
            <a:srgbClr val="7B3FA0"/>
          </a:solidFill>
          <a:ln w="12700">
            <a:solidFill>
              <a:srgbClr val="7B3FA0"/>
            </a:solidFill>
            <a:prstDash val="solid"/>
          </a:ln>
        </p:spPr>
      </p:sp>
      <p:sp>
        <p:nvSpPr>
          <p:cNvPr id="87" name="Text 85"/>
          <p:cNvSpPr/>
          <p:nvPr/>
        </p:nvSpPr>
        <p:spPr>
          <a:xfrm>
            <a:off x="4882896" y="4224528"/>
            <a:ext cx="1097280" cy="201168"/>
          </a:xfrm>
          <a:prstGeom prst="rect">
            <a:avLst/>
          </a:prstGeom>
          <a:noFill/>
          <a:ln/>
        </p:spPr>
        <p:txBody>
          <a:bodyPr wrap="square" rtlCol="0" anchor="ctr"/>
          <a:lstStyle/>
          <a:p>
            <a:pPr indent="0" marL="0">
              <a:buNone/>
            </a:pPr>
            <a:r>
              <a:rPr lang="en-US" sz="1200" b="1" i="1" dirty="0">
                <a:solidFill>
                  <a:srgbClr val="7B3FA0"/>
                </a:solidFill>
              </a:rPr>
              <a:t>ventr/o</a:t>
            </a:r>
            <a:endParaRPr lang="en-US" sz="1200" dirty="0"/>
          </a:p>
        </p:txBody>
      </p:sp>
      <p:sp>
        <p:nvSpPr>
          <p:cNvPr id="88" name="Text 86"/>
          <p:cNvSpPr/>
          <p:nvPr/>
        </p:nvSpPr>
        <p:spPr>
          <a:xfrm>
            <a:off x="4882896" y="4443984"/>
            <a:ext cx="1097280" cy="155448"/>
          </a:xfrm>
          <a:prstGeom prst="rect">
            <a:avLst/>
          </a:prstGeom>
          <a:noFill/>
          <a:ln/>
        </p:spPr>
        <p:txBody>
          <a:bodyPr wrap="square" rtlCol="0" anchor="ctr"/>
          <a:lstStyle/>
          <a:p>
            <a:pPr indent="0" marL="0">
              <a:buNone/>
            </a:pPr>
            <a:r>
              <a:rPr lang="en-US" sz="850" i="1" dirty="0">
                <a:solidFill>
                  <a:srgbClr val="4A5568"/>
                </a:solidFill>
              </a:rPr>
              <a:t>belly, ventral (front)</a:t>
            </a:r>
            <a:endParaRPr lang="en-US" sz="850" dirty="0"/>
          </a:p>
        </p:txBody>
      </p:sp>
      <p:sp>
        <p:nvSpPr>
          <p:cNvPr id="89" name="Text 87"/>
          <p:cNvSpPr/>
          <p:nvPr/>
        </p:nvSpPr>
        <p:spPr>
          <a:xfrm>
            <a:off x="6053328" y="4251960"/>
            <a:ext cx="2834640" cy="329184"/>
          </a:xfrm>
          <a:prstGeom prst="rect">
            <a:avLst/>
          </a:prstGeom>
          <a:noFill/>
          <a:ln/>
        </p:spPr>
        <p:txBody>
          <a:bodyPr wrap="square" rtlCol="0" anchor="ctr"/>
          <a:lstStyle/>
          <a:p>
            <a:pPr indent="0" marL="0">
              <a:buNone/>
            </a:pPr>
            <a:r>
              <a:rPr lang="en-US" sz="950" dirty="0">
                <a:solidFill>
                  <a:srgbClr val="12203A"/>
                </a:solidFill>
              </a:rPr>
              <a:t>Ventral (front side), ventral cavities (TAP). Synonym for anterior</a:t>
            </a:r>
            <a:endParaRPr lang="en-US" sz="950" dirty="0"/>
          </a:p>
        </p:txBody>
      </p:sp>
      <p:sp>
        <p:nvSpPr>
          <p:cNvPr id="90" name="Shape 88"/>
          <p:cNvSpPr/>
          <p:nvPr/>
        </p:nvSpPr>
        <p:spPr>
          <a:xfrm>
            <a:off x="4754880" y="4672584"/>
            <a:ext cx="4251960" cy="448056"/>
          </a:xfrm>
          <a:prstGeom prst="rect">
            <a:avLst/>
          </a:prstGeom>
          <a:solidFill>
            <a:srgbClr val="FAF7FD"/>
          </a:solidFill>
          <a:ln w="12700">
            <a:solidFill>
              <a:srgbClr val="CCAADD"/>
            </a:solidFill>
            <a:prstDash val="solid"/>
          </a:ln>
        </p:spPr>
      </p:sp>
      <p:sp>
        <p:nvSpPr>
          <p:cNvPr id="91" name="Shape 89"/>
          <p:cNvSpPr/>
          <p:nvPr/>
        </p:nvSpPr>
        <p:spPr>
          <a:xfrm>
            <a:off x="4754880" y="4672584"/>
            <a:ext cx="73152" cy="448056"/>
          </a:xfrm>
          <a:prstGeom prst="rect">
            <a:avLst/>
          </a:prstGeom>
          <a:solidFill>
            <a:srgbClr val="7B3FA0"/>
          </a:solidFill>
          <a:ln w="12700">
            <a:solidFill>
              <a:srgbClr val="7B3FA0"/>
            </a:solidFill>
            <a:prstDash val="solid"/>
          </a:ln>
        </p:spPr>
      </p:sp>
      <p:sp>
        <p:nvSpPr>
          <p:cNvPr id="92" name="Text 90"/>
          <p:cNvSpPr/>
          <p:nvPr/>
        </p:nvSpPr>
        <p:spPr>
          <a:xfrm>
            <a:off x="4882896" y="4709160"/>
            <a:ext cx="1097280" cy="201168"/>
          </a:xfrm>
          <a:prstGeom prst="rect">
            <a:avLst/>
          </a:prstGeom>
          <a:noFill/>
          <a:ln/>
        </p:spPr>
        <p:txBody>
          <a:bodyPr wrap="square" rtlCol="0" anchor="ctr"/>
          <a:lstStyle/>
          <a:p>
            <a:pPr indent="0" marL="0">
              <a:buNone/>
            </a:pPr>
            <a:r>
              <a:rPr lang="en-US" sz="1200" b="1" i="1" dirty="0">
                <a:solidFill>
                  <a:srgbClr val="7B3FA0"/>
                </a:solidFill>
              </a:rPr>
              <a:t>viscer/o</a:t>
            </a:r>
            <a:endParaRPr lang="en-US" sz="1200" dirty="0"/>
          </a:p>
        </p:txBody>
      </p:sp>
      <p:sp>
        <p:nvSpPr>
          <p:cNvPr id="93" name="Text 91"/>
          <p:cNvSpPr/>
          <p:nvPr/>
        </p:nvSpPr>
        <p:spPr>
          <a:xfrm>
            <a:off x="4882896" y="4928616"/>
            <a:ext cx="1097280" cy="155448"/>
          </a:xfrm>
          <a:prstGeom prst="rect">
            <a:avLst/>
          </a:prstGeom>
          <a:noFill/>
          <a:ln/>
        </p:spPr>
        <p:txBody>
          <a:bodyPr wrap="square" rtlCol="0" anchor="ctr"/>
          <a:lstStyle/>
          <a:p>
            <a:pPr indent="0" marL="0">
              <a:buNone/>
            </a:pPr>
            <a:r>
              <a:rPr lang="en-US" sz="850" i="1" dirty="0">
                <a:solidFill>
                  <a:srgbClr val="4A5568"/>
                </a:solidFill>
              </a:rPr>
              <a:t>organ, viscera</a:t>
            </a:r>
            <a:endParaRPr lang="en-US" sz="850" dirty="0"/>
          </a:p>
        </p:txBody>
      </p:sp>
      <p:sp>
        <p:nvSpPr>
          <p:cNvPr id="94" name="Text 92"/>
          <p:cNvSpPr/>
          <p:nvPr/>
        </p:nvSpPr>
        <p:spPr>
          <a:xfrm>
            <a:off x="6053328" y="4736592"/>
            <a:ext cx="2834640" cy="329184"/>
          </a:xfrm>
          <a:prstGeom prst="rect">
            <a:avLst/>
          </a:prstGeom>
          <a:noFill/>
          <a:ln/>
        </p:spPr>
        <p:txBody>
          <a:bodyPr wrap="square" rtlCol="0" anchor="ctr"/>
          <a:lstStyle/>
          <a:p>
            <a:pPr indent="0" marL="0">
              <a:buNone/>
            </a:pPr>
            <a:r>
              <a:rPr lang="en-US" sz="950" dirty="0">
                <a:solidFill>
                  <a:srgbClr val="12203A"/>
                </a:solidFill>
              </a:rPr>
              <a:t>Visceral (pertaining to organs), visceral peritoneum (covers organs)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D"/>
        </a:solidFill>
      </p:bgPr>
    </p:bg>
    <p:spTree>
      <p:nvGrpSpPr>
        <p:cNvPr id="1" name=""/>
        <p:cNvGrpSpPr/>
        <p:nvPr/>
      </p:nvGrpSpPr>
      <p:grpSpPr>
        <a:xfrm>
          <a:off x="0" y="0"/>
          <a:ext cx="0" cy="0"/>
          <a:chOff x="0" y="0"/>
          <a:chExt cx="0" cy="0"/>
        </a:xfrm>
      </p:grpSpPr>
      <p:sp>
        <p:nvSpPr>
          <p:cNvPr id="2" name="Text 0"/>
          <p:cNvSpPr/>
          <p:nvPr/>
        </p:nvSpPr>
        <p:spPr>
          <a:xfrm>
            <a:off x="8595360" y="4754880"/>
            <a:ext cx="365760" cy="274320"/>
          </a:xfrm>
          <a:prstGeom prst="rect">
            <a:avLst/>
          </a:prstGeom>
          <a:noFill/>
          <a:ln/>
        </p:spPr>
        <p:txBody>
          <a:bodyPr wrap="square" rtlCol="0" anchor="ctr"/>
          <a:lstStyle/>
          <a:p>
            <a:pPr algn="r" indent="0" marL="0">
              <a:buNone/>
            </a:pPr>
            <a:r>
              <a:rPr lang="en-US" sz="900" dirty="0">
                <a:solidFill>
                  <a:srgbClr val="94A3B8"/>
                </a:solidFill>
              </a:rPr>
              <a:t>14</a:t>
            </a:r>
            <a:endParaRPr lang="en-US" sz="900" dirty="0"/>
          </a:p>
        </p:txBody>
      </p:sp>
      <p:sp>
        <p:nvSpPr>
          <p:cNvPr id="3" name="Shape 1"/>
          <p:cNvSpPr/>
          <p:nvPr/>
        </p:nvSpPr>
        <p:spPr>
          <a:xfrm>
            <a:off x="0" y="0"/>
            <a:ext cx="9144000" cy="685800"/>
          </a:xfrm>
          <a:prstGeom prst="rect">
            <a:avLst/>
          </a:prstGeom>
          <a:solidFill>
            <a:srgbClr val="12203A"/>
          </a:solidFill>
          <a:ln w="12700">
            <a:solidFill>
              <a:srgbClr val="12203A"/>
            </a:solidFill>
            <a:prstDash val="solid"/>
          </a:ln>
        </p:spPr>
      </p:sp>
      <p:sp>
        <p:nvSpPr>
          <p:cNvPr id="4" name="Text 2"/>
          <p:cNvSpPr/>
          <p:nvPr/>
        </p:nvSpPr>
        <p:spPr>
          <a:xfrm>
            <a:off x="365760" y="91440"/>
            <a:ext cx="8412480" cy="502920"/>
          </a:xfrm>
          <a:prstGeom prst="rect">
            <a:avLst/>
          </a:prstGeom>
          <a:noFill/>
          <a:ln/>
        </p:spPr>
        <p:txBody>
          <a:bodyPr wrap="square" rtlCol="0" anchor="ctr"/>
          <a:lstStyle/>
          <a:p>
            <a:pPr indent="0" marL="0">
              <a:buNone/>
            </a:pPr>
            <a:r>
              <a:rPr lang="en-US" sz="2600" b="1" dirty="0">
                <a:solidFill>
                  <a:srgbClr val="FFFFFF"/>
                </a:solidFill>
              </a:rPr>
              <a:t>Word Building — Chapter 2</a:t>
            </a:r>
            <a:endParaRPr lang="en-US" sz="2600" dirty="0"/>
          </a:p>
        </p:txBody>
      </p:sp>
      <p:sp>
        <p:nvSpPr>
          <p:cNvPr id="5" name="Shape 3"/>
          <p:cNvSpPr/>
          <p:nvPr/>
        </p:nvSpPr>
        <p:spPr>
          <a:xfrm>
            <a:off x="365760" y="804672"/>
            <a:ext cx="8412480" cy="621792"/>
          </a:xfrm>
          <a:prstGeom prst="rect">
            <a:avLst/>
          </a:prstGeom>
          <a:solidFill>
            <a:srgbClr val="F2EDFA"/>
          </a:solidFill>
          <a:ln w="12700">
            <a:solidFill>
              <a:srgbClr val="D0C8E4"/>
            </a:solidFill>
            <a:prstDash val="solid"/>
          </a:ln>
        </p:spPr>
      </p:sp>
      <p:sp>
        <p:nvSpPr>
          <p:cNvPr id="6" name="Text 4"/>
          <p:cNvSpPr/>
          <p:nvPr/>
        </p:nvSpPr>
        <p:spPr>
          <a:xfrm>
            <a:off x="502920" y="896112"/>
            <a:ext cx="2468880" cy="420624"/>
          </a:xfrm>
          <a:prstGeom prst="rect">
            <a:avLst/>
          </a:prstGeom>
          <a:noFill/>
          <a:ln/>
        </p:spPr>
        <p:txBody>
          <a:bodyPr wrap="square" rtlCol="0" anchor="ctr"/>
          <a:lstStyle/>
          <a:p>
            <a:pPr indent="0" marL="0">
              <a:buNone/>
            </a:pPr>
            <a:r>
              <a:rPr lang="en-US" sz="1350" b="1" dirty="0">
                <a:solidFill>
                  <a:srgbClr val="12203A"/>
                </a:solidFill>
              </a:rPr>
              <a:t>Bilateral</a:t>
            </a:r>
            <a:endParaRPr lang="en-US" sz="1350" dirty="0"/>
          </a:p>
        </p:txBody>
      </p:sp>
      <p:sp>
        <p:nvSpPr>
          <p:cNvPr id="7" name="Shape 5"/>
          <p:cNvSpPr/>
          <p:nvPr/>
        </p:nvSpPr>
        <p:spPr>
          <a:xfrm>
            <a:off x="3154680" y="950976"/>
            <a:ext cx="1143000" cy="301752"/>
          </a:xfrm>
          <a:prstGeom prst="rect">
            <a:avLst/>
          </a:prstGeom>
          <a:solidFill>
            <a:srgbClr val="FDE8B0"/>
          </a:solidFill>
          <a:ln w="12700">
            <a:solidFill>
              <a:srgbClr val="C9860A"/>
            </a:solidFill>
            <a:prstDash val="solid"/>
          </a:ln>
        </p:spPr>
      </p:sp>
      <p:sp>
        <p:nvSpPr>
          <p:cNvPr id="8" name="Text 6"/>
          <p:cNvSpPr/>
          <p:nvPr/>
        </p:nvSpPr>
        <p:spPr>
          <a:xfrm>
            <a:off x="3154680" y="978408"/>
            <a:ext cx="1143000" cy="246888"/>
          </a:xfrm>
          <a:prstGeom prst="rect">
            <a:avLst/>
          </a:prstGeom>
          <a:noFill/>
          <a:ln/>
        </p:spPr>
        <p:txBody>
          <a:bodyPr wrap="square" rtlCol="0" anchor="ctr"/>
          <a:lstStyle/>
          <a:p>
            <a:pPr algn="ctr" indent="0" marL="0">
              <a:buNone/>
            </a:pPr>
            <a:r>
              <a:rPr lang="en-US" sz="1100" b="1" dirty="0">
                <a:solidFill>
                  <a:srgbClr val="C9860A"/>
                </a:solidFill>
              </a:rPr>
              <a:t>bi-</a:t>
            </a:r>
            <a:endParaRPr lang="en-US" sz="1100" dirty="0"/>
          </a:p>
        </p:txBody>
      </p:sp>
      <p:sp>
        <p:nvSpPr>
          <p:cNvPr id="9" name="Text 7"/>
          <p:cNvSpPr/>
          <p:nvPr/>
        </p:nvSpPr>
        <p:spPr>
          <a:xfrm>
            <a:off x="4325112" y="1005840"/>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10" name="Shape 8"/>
          <p:cNvSpPr/>
          <p:nvPr/>
        </p:nvSpPr>
        <p:spPr>
          <a:xfrm>
            <a:off x="4553712" y="950976"/>
            <a:ext cx="1143000" cy="301752"/>
          </a:xfrm>
          <a:prstGeom prst="rect">
            <a:avLst/>
          </a:prstGeom>
          <a:solidFill>
            <a:srgbClr val="EDE0FA"/>
          </a:solidFill>
          <a:ln w="12700">
            <a:solidFill>
              <a:srgbClr val="7B3FA0"/>
            </a:solidFill>
            <a:prstDash val="solid"/>
          </a:ln>
        </p:spPr>
      </p:sp>
      <p:sp>
        <p:nvSpPr>
          <p:cNvPr id="11" name="Text 9"/>
          <p:cNvSpPr/>
          <p:nvPr/>
        </p:nvSpPr>
        <p:spPr>
          <a:xfrm>
            <a:off x="4553712" y="978408"/>
            <a:ext cx="1143000" cy="246888"/>
          </a:xfrm>
          <a:prstGeom prst="rect">
            <a:avLst/>
          </a:prstGeom>
          <a:noFill/>
          <a:ln/>
        </p:spPr>
        <p:txBody>
          <a:bodyPr wrap="square" rtlCol="0" anchor="ctr"/>
          <a:lstStyle/>
          <a:p>
            <a:pPr algn="ctr" indent="0" marL="0">
              <a:buNone/>
            </a:pPr>
            <a:r>
              <a:rPr lang="en-US" sz="1100" b="1" dirty="0">
                <a:solidFill>
                  <a:srgbClr val="7B3FA0"/>
                </a:solidFill>
              </a:rPr>
              <a:t>later/o</a:t>
            </a:r>
            <a:endParaRPr lang="en-US" sz="1100" dirty="0"/>
          </a:p>
        </p:txBody>
      </p:sp>
      <p:sp>
        <p:nvSpPr>
          <p:cNvPr id="12" name="Text 10"/>
          <p:cNvSpPr/>
          <p:nvPr/>
        </p:nvSpPr>
        <p:spPr>
          <a:xfrm>
            <a:off x="5724144" y="1005840"/>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13" name="Shape 11"/>
          <p:cNvSpPr/>
          <p:nvPr/>
        </p:nvSpPr>
        <p:spPr>
          <a:xfrm>
            <a:off x="5952744" y="950976"/>
            <a:ext cx="1143000" cy="301752"/>
          </a:xfrm>
          <a:prstGeom prst="rect">
            <a:avLst/>
          </a:prstGeom>
          <a:solidFill>
            <a:srgbClr val="D4EDDA"/>
          </a:solidFill>
          <a:ln w="12700">
            <a:solidFill>
              <a:srgbClr val="0F6E56"/>
            </a:solidFill>
            <a:prstDash val="solid"/>
          </a:ln>
        </p:spPr>
      </p:sp>
      <p:sp>
        <p:nvSpPr>
          <p:cNvPr id="14" name="Text 12"/>
          <p:cNvSpPr/>
          <p:nvPr/>
        </p:nvSpPr>
        <p:spPr>
          <a:xfrm>
            <a:off x="5952744" y="978408"/>
            <a:ext cx="1143000" cy="246888"/>
          </a:xfrm>
          <a:prstGeom prst="rect">
            <a:avLst/>
          </a:prstGeom>
          <a:noFill/>
          <a:ln/>
        </p:spPr>
        <p:txBody>
          <a:bodyPr wrap="square" rtlCol="0" anchor="ctr"/>
          <a:lstStyle/>
          <a:p>
            <a:pPr algn="ctr" indent="0" marL="0">
              <a:buNone/>
            </a:pPr>
            <a:r>
              <a:rPr lang="en-US" sz="1100" b="1" dirty="0">
                <a:solidFill>
                  <a:srgbClr val="0F6E56"/>
                </a:solidFill>
              </a:rPr>
              <a:t>-al</a:t>
            </a:r>
            <a:endParaRPr lang="en-US" sz="1100" dirty="0"/>
          </a:p>
        </p:txBody>
      </p:sp>
      <p:sp>
        <p:nvSpPr>
          <p:cNvPr id="15" name="Text 13"/>
          <p:cNvSpPr/>
          <p:nvPr/>
        </p:nvSpPr>
        <p:spPr>
          <a:xfrm>
            <a:off x="7132320" y="1005840"/>
            <a:ext cx="1600200" cy="274320"/>
          </a:xfrm>
          <a:prstGeom prst="rect">
            <a:avLst/>
          </a:prstGeom>
          <a:noFill/>
          <a:ln/>
        </p:spPr>
        <p:txBody>
          <a:bodyPr wrap="square" rtlCol="0" anchor="ctr"/>
          <a:lstStyle/>
          <a:p>
            <a:pPr indent="0" marL="0">
              <a:buNone/>
            </a:pPr>
            <a:r>
              <a:rPr lang="en-US" sz="950" i="1" dirty="0">
                <a:solidFill>
                  <a:srgbClr val="4A5568"/>
                </a:solidFill>
              </a:rPr>
              <a:t>= pertaining to both sides</a:t>
            </a:r>
            <a:endParaRPr lang="en-US" sz="950" dirty="0"/>
          </a:p>
        </p:txBody>
      </p:sp>
      <p:sp>
        <p:nvSpPr>
          <p:cNvPr id="16" name="Shape 14"/>
          <p:cNvSpPr/>
          <p:nvPr/>
        </p:nvSpPr>
        <p:spPr>
          <a:xfrm>
            <a:off x="365760" y="1499616"/>
            <a:ext cx="8412480" cy="621792"/>
          </a:xfrm>
          <a:prstGeom prst="rect">
            <a:avLst/>
          </a:prstGeom>
          <a:solidFill>
            <a:srgbClr val="FAF7FD"/>
          </a:solidFill>
          <a:ln w="12700">
            <a:solidFill>
              <a:srgbClr val="D0C8E4"/>
            </a:solidFill>
            <a:prstDash val="solid"/>
          </a:ln>
        </p:spPr>
      </p:sp>
      <p:sp>
        <p:nvSpPr>
          <p:cNvPr id="17" name="Text 15"/>
          <p:cNvSpPr/>
          <p:nvPr/>
        </p:nvSpPr>
        <p:spPr>
          <a:xfrm>
            <a:off x="502920" y="1591056"/>
            <a:ext cx="2468880" cy="420624"/>
          </a:xfrm>
          <a:prstGeom prst="rect">
            <a:avLst/>
          </a:prstGeom>
          <a:noFill/>
          <a:ln/>
        </p:spPr>
        <p:txBody>
          <a:bodyPr wrap="square" rtlCol="0" anchor="ctr"/>
          <a:lstStyle/>
          <a:p>
            <a:pPr indent="0" marL="0">
              <a:buNone/>
            </a:pPr>
            <a:r>
              <a:rPr lang="en-US" sz="1350" b="1" dirty="0">
                <a:solidFill>
                  <a:srgbClr val="12203A"/>
                </a:solidFill>
              </a:rPr>
              <a:t>Contralateral</a:t>
            </a:r>
            <a:endParaRPr lang="en-US" sz="1350" dirty="0"/>
          </a:p>
        </p:txBody>
      </p:sp>
      <p:sp>
        <p:nvSpPr>
          <p:cNvPr id="18" name="Shape 16"/>
          <p:cNvSpPr/>
          <p:nvPr/>
        </p:nvSpPr>
        <p:spPr>
          <a:xfrm>
            <a:off x="3154680" y="1645920"/>
            <a:ext cx="1143000" cy="301752"/>
          </a:xfrm>
          <a:prstGeom prst="rect">
            <a:avLst/>
          </a:prstGeom>
          <a:solidFill>
            <a:srgbClr val="FDECEA"/>
          </a:solidFill>
          <a:ln w="12700">
            <a:solidFill>
              <a:srgbClr val="A32D2D"/>
            </a:solidFill>
            <a:prstDash val="solid"/>
          </a:ln>
        </p:spPr>
      </p:sp>
      <p:sp>
        <p:nvSpPr>
          <p:cNvPr id="19" name="Text 17"/>
          <p:cNvSpPr/>
          <p:nvPr/>
        </p:nvSpPr>
        <p:spPr>
          <a:xfrm>
            <a:off x="3154680" y="1673352"/>
            <a:ext cx="1143000" cy="246888"/>
          </a:xfrm>
          <a:prstGeom prst="rect">
            <a:avLst/>
          </a:prstGeom>
          <a:noFill/>
          <a:ln/>
        </p:spPr>
        <p:txBody>
          <a:bodyPr wrap="square" rtlCol="0" anchor="ctr"/>
          <a:lstStyle/>
          <a:p>
            <a:pPr algn="ctr" indent="0" marL="0">
              <a:buNone/>
            </a:pPr>
            <a:r>
              <a:rPr lang="en-US" sz="1100" b="1" dirty="0">
                <a:solidFill>
                  <a:srgbClr val="A32D2D"/>
                </a:solidFill>
              </a:rPr>
              <a:t>contra-</a:t>
            </a:r>
            <a:endParaRPr lang="en-US" sz="1100" dirty="0"/>
          </a:p>
        </p:txBody>
      </p:sp>
      <p:sp>
        <p:nvSpPr>
          <p:cNvPr id="20" name="Text 18"/>
          <p:cNvSpPr/>
          <p:nvPr/>
        </p:nvSpPr>
        <p:spPr>
          <a:xfrm>
            <a:off x="4325112" y="1700784"/>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21" name="Shape 19"/>
          <p:cNvSpPr/>
          <p:nvPr/>
        </p:nvSpPr>
        <p:spPr>
          <a:xfrm>
            <a:off x="4553712" y="1645920"/>
            <a:ext cx="1143000" cy="301752"/>
          </a:xfrm>
          <a:prstGeom prst="rect">
            <a:avLst/>
          </a:prstGeom>
          <a:solidFill>
            <a:srgbClr val="EDE0FA"/>
          </a:solidFill>
          <a:ln w="12700">
            <a:solidFill>
              <a:srgbClr val="7B3FA0"/>
            </a:solidFill>
            <a:prstDash val="solid"/>
          </a:ln>
        </p:spPr>
      </p:sp>
      <p:sp>
        <p:nvSpPr>
          <p:cNvPr id="22" name="Text 20"/>
          <p:cNvSpPr/>
          <p:nvPr/>
        </p:nvSpPr>
        <p:spPr>
          <a:xfrm>
            <a:off x="4553712" y="1673352"/>
            <a:ext cx="1143000" cy="246888"/>
          </a:xfrm>
          <a:prstGeom prst="rect">
            <a:avLst/>
          </a:prstGeom>
          <a:noFill/>
          <a:ln/>
        </p:spPr>
        <p:txBody>
          <a:bodyPr wrap="square" rtlCol="0" anchor="ctr"/>
          <a:lstStyle/>
          <a:p>
            <a:pPr algn="ctr" indent="0" marL="0">
              <a:buNone/>
            </a:pPr>
            <a:r>
              <a:rPr lang="en-US" sz="1100" b="1" dirty="0">
                <a:solidFill>
                  <a:srgbClr val="7B3FA0"/>
                </a:solidFill>
              </a:rPr>
              <a:t>later/o</a:t>
            </a:r>
            <a:endParaRPr lang="en-US" sz="1100" dirty="0"/>
          </a:p>
        </p:txBody>
      </p:sp>
      <p:sp>
        <p:nvSpPr>
          <p:cNvPr id="23" name="Text 21"/>
          <p:cNvSpPr/>
          <p:nvPr/>
        </p:nvSpPr>
        <p:spPr>
          <a:xfrm>
            <a:off x="5724144" y="1700784"/>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24" name="Shape 22"/>
          <p:cNvSpPr/>
          <p:nvPr/>
        </p:nvSpPr>
        <p:spPr>
          <a:xfrm>
            <a:off x="5952744" y="1645920"/>
            <a:ext cx="1143000" cy="301752"/>
          </a:xfrm>
          <a:prstGeom prst="rect">
            <a:avLst/>
          </a:prstGeom>
          <a:solidFill>
            <a:srgbClr val="D4EDDA"/>
          </a:solidFill>
          <a:ln w="12700">
            <a:solidFill>
              <a:srgbClr val="0F6E56"/>
            </a:solidFill>
            <a:prstDash val="solid"/>
          </a:ln>
        </p:spPr>
      </p:sp>
      <p:sp>
        <p:nvSpPr>
          <p:cNvPr id="25" name="Text 23"/>
          <p:cNvSpPr/>
          <p:nvPr/>
        </p:nvSpPr>
        <p:spPr>
          <a:xfrm>
            <a:off x="5952744" y="1673352"/>
            <a:ext cx="1143000" cy="246888"/>
          </a:xfrm>
          <a:prstGeom prst="rect">
            <a:avLst/>
          </a:prstGeom>
          <a:noFill/>
          <a:ln/>
        </p:spPr>
        <p:txBody>
          <a:bodyPr wrap="square" rtlCol="0" anchor="ctr"/>
          <a:lstStyle/>
          <a:p>
            <a:pPr algn="ctr" indent="0" marL="0">
              <a:buNone/>
            </a:pPr>
            <a:r>
              <a:rPr lang="en-US" sz="1100" b="1" dirty="0">
                <a:solidFill>
                  <a:srgbClr val="0F6E56"/>
                </a:solidFill>
              </a:rPr>
              <a:t>-al</a:t>
            </a:r>
            <a:endParaRPr lang="en-US" sz="1100" dirty="0"/>
          </a:p>
        </p:txBody>
      </p:sp>
      <p:sp>
        <p:nvSpPr>
          <p:cNvPr id="26" name="Text 24"/>
          <p:cNvSpPr/>
          <p:nvPr/>
        </p:nvSpPr>
        <p:spPr>
          <a:xfrm>
            <a:off x="7132320" y="1700784"/>
            <a:ext cx="1600200" cy="274320"/>
          </a:xfrm>
          <a:prstGeom prst="rect">
            <a:avLst/>
          </a:prstGeom>
          <a:noFill/>
          <a:ln/>
        </p:spPr>
        <p:txBody>
          <a:bodyPr wrap="square" rtlCol="0" anchor="ctr"/>
          <a:lstStyle/>
          <a:p>
            <a:pPr indent="0" marL="0">
              <a:buNone/>
            </a:pPr>
            <a:r>
              <a:rPr lang="en-US" sz="950" i="1" dirty="0">
                <a:solidFill>
                  <a:srgbClr val="4A5568"/>
                </a:solidFill>
              </a:rPr>
              <a:t>= pertaining to the opposite side</a:t>
            </a:r>
            <a:endParaRPr lang="en-US" sz="950" dirty="0"/>
          </a:p>
        </p:txBody>
      </p:sp>
      <p:sp>
        <p:nvSpPr>
          <p:cNvPr id="27" name="Shape 25"/>
          <p:cNvSpPr/>
          <p:nvPr/>
        </p:nvSpPr>
        <p:spPr>
          <a:xfrm>
            <a:off x="365760" y="2194560"/>
            <a:ext cx="8412480" cy="621792"/>
          </a:xfrm>
          <a:prstGeom prst="rect">
            <a:avLst/>
          </a:prstGeom>
          <a:solidFill>
            <a:srgbClr val="F2EDFA"/>
          </a:solidFill>
          <a:ln w="12700">
            <a:solidFill>
              <a:srgbClr val="D0C8E4"/>
            </a:solidFill>
            <a:prstDash val="solid"/>
          </a:ln>
        </p:spPr>
      </p:sp>
      <p:sp>
        <p:nvSpPr>
          <p:cNvPr id="28" name="Text 26"/>
          <p:cNvSpPr/>
          <p:nvPr/>
        </p:nvSpPr>
        <p:spPr>
          <a:xfrm>
            <a:off x="502920" y="2286000"/>
            <a:ext cx="2468880" cy="420624"/>
          </a:xfrm>
          <a:prstGeom prst="rect">
            <a:avLst/>
          </a:prstGeom>
          <a:noFill/>
          <a:ln/>
        </p:spPr>
        <p:txBody>
          <a:bodyPr wrap="square" rtlCol="0" anchor="ctr"/>
          <a:lstStyle/>
          <a:p>
            <a:pPr indent="0" marL="0">
              <a:buNone/>
            </a:pPr>
            <a:r>
              <a:rPr lang="en-US" sz="1350" b="1" dirty="0">
                <a:solidFill>
                  <a:srgbClr val="12203A"/>
                </a:solidFill>
              </a:rPr>
              <a:t>Epigastric</a:t>
            </a:r>
            <a:endParaRPr lang="en-US" sz="1350" dirty="0"/>
          </a:p>
        </p:txBody>
      </p:sp>
      <p:sp>
        <p:nvSpPr>
          <p:cNvPr id="29" name="Shape 27"/>
          <p:cNvSpPr/>
          <p:nvPr/>
        </p:nvSpPr>
        <p:spPr>
          <a:xfrm>
            <a:off x="3154680" y="2340864"/>
            <a:ext cx="1143000" cy="301752"/>
          </a:xfrm>
          <a:prstGeom prst="rect">
            <a:avLst/>
          </a:prstGeom>
          <a:solidFill>
            <a:srgbClr val="FDE8B0"/>
          </a:solidFill>
          <a:ln w="12700">
            <a:solidFill>
              <a:srgbClr val="C9860A"/>
            </a:solidFill>
            <a:prstDash val="solid"/>
          </a:ln>
        </p:spPr>
      </p:sp>
      <p:sp>
        <p:nvSpPr>
          <p:cNvPr id="30" name="Text 28"/>
          <p:cNvSpPr/>
          <p:nvPr/>
        </p:nvSpPr>
        <p:spPr>
          <a:xfrm>
            <a:off x="3154680" y="2368296"/>
            <a:ext cx="1143000" cy="246888"/>
          </a:xfrm>
          <a:prstGeom prst="rect">
            <a:avLst/>
          </a:prstGeom>
          <a:noFill/>
          <a:ln/>
        </p:spPr>
        <p:txBody>
          <a:bodyPr wrap="square" rtlCol="0" anchor="ctr"/>
          <a:lstStyle/>
          <a:p>
            <a:pPr algn="ctr" indent="0" marL="0">
              <a:buNone/>
            </a:pPr>
            <a:r>
              <a:rPr lang="en-US" sz="1100" b="1" dirty="0">
                <a:solidFill>
                  <a:srgbClr val="C9860A"/>
                </a:solidFill>
              </a:rPr>
              <a:t>epi-</a:t>
            </a:r>
            <a:endParaRPr lang="en-US" sz="1100" dirty="0"/>
          </a:p>
        </p:txBody>
      </p:sp>
      <p:sp>
        <p:nvSpPr>
          <p:cNvPr id="31" name="Text 29"/>
          <p:cNvSpPr/>
          <p:nvPr/>
        </p:nvSpPr>
        <p:spPr>
          <a:xfrm>
            <a:off x="4325112" y="2395728"/>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32" name="Shape 30"/>
          <p:cNvSpPr/>
          <p:nvPr/>
        </p:nvSpPr>
        <p:spPr>
          <a:xfrm>
            <a:off x="4553712" y="2340864"/>
            <a:ext cx="1143000" cy="301752"/>
          </a:xfrm>
          <a:prstGeom prst="rect">
            <a:avLst/>
          </a:prstGeom>
          <a:solidFill>
            <a:srgbClr val="D6EEFA"/>
          </a:solidFill>
          <a:ln w="12700">
            <a:solidFill>
              <a:srgbClr val="185FA5"/>
            </a:solidFill>
            <a:prstDash val="solid"/>
          </a:ln>
        </p:spPr>
      </p:sp>
      <p:sp>
        <p:nvSpPr>
          <p:cNvPr id="33" name="Text 31"/>
          <p:cNvSpPr/>
          <p:nvPr/>
        </p:nvSpPr>
        <p:spPr>
          <a:xfrm>
            <a:off x="4553712" y="2368296"/>
            <a:ext cx="1143000" cy="246888"/>
          </a:xfrm>
          <a:prstGeom prst="rect">
            <a:avLst/>
          </a:prstGeom>
          <a:noFill/>
          <a:ln/>
        </p:spPr>
        <p:txBody>
          <a:bodyPr wrap="square" rtlCol="0" anchor="ctr"/>
          <a:lstStyle/>
          <a:p>
            <a:pPr algn="ctr" indent="0" marL="0">
              <a:buNone/>
            </a:pPr>
            <a:r>
              <a:rPr lang="en-US" sz="1100" b="1" dirty="0">
                <a:solidFill>
                  <a:srgbClr val="185FA5"/>
                </a:solidFill>
              </a:rPr>
              <a:t>gastr/o</a:t>
            </a:r>
            <a:endParaRPr lang="en-US" sz="1100" dirty="0"/>
          </a:p>
        </p:txBody>
      </p:sp>
      <p:sp>
        <p:nvSpPr>
          <p:cNvPr id="34" name="Text 32"/>
          <p:cNvSpPr/>
          <p:nvPr/>
        </p:nvSpPr>
        <p:spPr>
          <a:xfrm>
            <a:off x="5724144" y="2395728"/>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35" name="Shape 33"/>
          <p:cNvSpPr/>
          <p:nvPr/>
        </p:nvSpPr>
        <p:spPr>
          <a:xfrm>
            <a:off x="5952744" y="2340864"/>
            <a:ext cx="1143000" cy="301752"/>
          </a:xfrm>
          <a:prstGeom prst="rect">
            <a:avLst/>
          </a:prstGeom>
          <a:solidFill>
            <a:srgbClr val="FDECEA"/>
          </a:solidFill>
          <a:ln w="12700">
            <a:solidFill>
              <a:srgbClr val="A32D2D"/>
            </a:solidFill>
            <a:prstDash val="solid"/>
          </a:ln>
        </p:spPr>
      </p:sp>
      <p:sp>
        <p:nvSpPr>
          <p:cNvPr id="36" name="Text 34"/>
          <p:cNvSpPr/>
          <p:nvPr/>
        </p:nvSpPr>
        <p:spPr>
          <a:xfrm>
            <a:off x="5952744" y="2368296"/>
            <a:ext cx="1143000" cy="246888"/>
          </a:xfrm>
          <a:prstGeom prst="rect">
            <a:avLst/>
          </a:prstGeom>
          <a:noFill/>
          <a:ln/>
        </p:spPr>
        <p:txBody>
          <a:bodyPr wrap="square" rtlCol="0" anchor="ctr"/>
          <a:lstStyle/>
          <a:p>
            <a:pPr algn="ctr" indent="0" marL="0">
              <a:buNone/>
            </a:pPr>
            <a:r>
              <a:rPr lang="en-US" sz="1100" b="1" dirty="0">
                <a:solidFill>
                  <a:srgbClr val="A32D2D"/>
                </a:solidFill>
              </a:rPr>
              <a:t>-ic</a:t>
            </a:r>
            <a:endParaRPr lang="en-US" sz="1100" dirty="0"/>
          </a:p>
        </p:txBody>
      </p:sp>
      <p:sp>
        <p:nvSpPr>
          <p:cNvPr id="37" name="Text 35"/>
          <p:cNvSpPr/>
          <p:nvPr/>
        </p:nvSpPr>
        <p:spPr>
          <a:xfrm>
            <a:off x="7132320" y="2395728"/>
            <a:ext cx="1600200" cy="274320"/>
          </a:xfrm>
          <a:prstGeom prst="rect">
            <a:avLst/>
          </a:prstGeom>
          <a:noFill/>
          <a:ln/>
        </p:spPr>
        <p:txBody>
          <a:bodyPr wrap="square" rtlCol="0" anchor="ctr"/>
          <a:lstStyle/>
          <a:p>
            <a:pPr indent="0" marL="0">
              <a:buNone/>
            </a:pPr>
            <a:r>
              <a:rPr lang="en-US" sz="950" i="1" dirty="0">
                <a:solidFill>
                  <a:srgbClr val="4A5568"/>
                </a:solidFill>
              </a:rPr>
              <a:t>= pertaining to above the stomach (region)</a:t>
            </a:r>
            <a:endParaRPr lang="en-US" sz="950" dirty="0"/>
          </a:p>
        </p:txBody>
      </p:sp>
      <p:sp>
        <p:nvSpPr>
          <p:cNvPr id="38" name="Shape 36"/>
          <p:cNvSpPr/>
          <p:nvPr/>
        </p:nvSpPr>
        <p:spPr>
          <a:xfrm>
            <a:off x="365760" y="2889504"/>
            <a:ext cx="8412480" cy="621792"/>
          </a:xfrm>
          <a:prstGeom prst="rect">
            <a:avLst/>
          </a:prstGeom>
          <a:solidFill>
            <a:srgbClr val="FAF7FD"/>
          </a:solidFill>
          <a:ln w="12700">
            <a:solidFill>
              <a:srgbClr val="D0C8E4"/>
            </a:solidFill>
            <a:prstDash val="solid"/>
          </a:ln>
        </p:spPr>
      </p:sp>
      <p:sp>
        <p:nvSpPr>
          <p:cNvPr id="39" name="Text 37"/>
          <p:cNvSpPr/>
          <p:nvPr/>
        </p:nvSpPr>
        <p:spPr>
          <a:xfrm>
            <a:off x="502920" y="2980944"/>
            <a:ext cx="2468880" cy="420624"/>
          </a:xfrm>
          <a:prstGeom prst="rect">
            <a:avLst/>
          </a:prstGeom>
          <a:noFill/>
          <a:ln/>
        </p:spPr>
        <p:txBody>
          <a:bodyPr wrap="square" rtlCol="0" anchor="ctr"/>
          <a:lstStyle/>
          <a:p>
            <a:pPr indent="0" marL="0">
              <a:buNone/>
            </a:pPr>
            <a:r>
              <a:rPr lang="en-US" sz="1350" b="1" dirty="0">
                <a:solidFill>
                  <a:srgbClr val="12203A"/>
                </a:solidFill>
              </a:rPr>
              <a:t>Unilateral</a:t>
            </a:r>
            <a:endParaRPr lang="en-US" sz="1350" dirty="0"/>
          </a:p>
        </p:txBody>
      </p:sp>
      <p:sp>
        <p:nvSpPr>
          <p:cNvPr id="40" name="Shape 38"/>
          <p:cNvSpPr/>
          <p:nvPr/>
        </p:nvSpPr>
        <p:spPr>
          <a:xfrm>
            <a:off x="3154680" y="3035808"/>
            <a:ext cx="1143000" cy="301752"/>
          </a:xfrm>
          <a:prstGeom prst="rect">
            <a:avLst/>
          </a:prstGeom>
          <a:solidFill>
            <a:srgbClr val="FDE8B0"/>
          </a:solidFill>
          <a:ln w="12700">
            <a:solidFill>
              <a:srgbClr val="C9860A"/>
            </a:solidFill>
            <a:prstDash val="solid"/>
          </a:ln>
        </p:spPr>
      </p:sp>
      <p:sp>
        <p:nvSpPr>
          <p:cNvPr id="41" name="Text 39"/>
          <p:cNvSpPr/>
          <p:nvPr/>
        </p:nvSpPr>
        <p:spPr>
          <a:xfrm>
            <a:off x="3154680" y="3063240"/>
            <a:ext cx="1143000" cy="246888"/>
          </a:xfrm>
          <a:prstGeom prst="rect">
            <a:avLst/>
          </a:prstGeom>
          <a:noFill/>
          <a:ln/>
        </p:spPr>
        <p:txBody>
          <a:bodyPr wrap="square" rtlCol="0" anchor="ctr"/>
          <a:lstStyle/>
          <a:p>
            <a:pPr algn="ctr" indent="0" marL="0">
              <a:buNone/>
            </a:pPr>
            <a:r>
              <a:rPr lang="en-US" sz="1100" b="1" dirty="0">
                <a:solidFill>
                  <a:srgbClr val="C9860A"/>
                </a:solidFill>
              </a:rPr>
              <a:t>uni-</a:t>
            </a:r>
            <a:endParaRPr lang="en-US" sz="1100" dirty="0"/>
          </a:p>
        </p:txBody>
      </p:sp>
      <p:sp>
        <p:nvSpPr>
          <p:cNvPr id="42" name="Text 40"/>
          <p:cNvSpPr/>
          <p:nvPr/>
        </p:nvSpPr>
        <p:spPr>
          <a:xfrm>
            <a:off x="4325112" y="3090672"/>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43" name="Shape 41"/>
          <p:cNvSpPr/>
          <p:nvPr/>
        </p:nvSpPr>
        <p:spPr>
          <a:xfrm>
            <a:off x="4553712" y="3035808"/>
            <a:ext cx="1143000" cy="301752"/>
          </a:xfrm>
          <a:prstGeom prst="rect">
            <a:avLst/>
          </a:prstGeom>
          <a:solidFill>
            <a:srgbClr val="EDE0FA"/>
          </a:solidFill>
          <a:ln w="12700">
            <a:solidFill>
              <a:srgbClr val="7B3FA0"/>
            </a:solidFill>
            <a:prstDash val="solid"/>
          </a:ln>
        </p:spPr>
      </p:sp>
      <p:sp>
        <p:nvSpPr>
          <p:cNvPr id="44" name="Text 42"/>
          <p:cNvSpPr/>
          <p:nvPr/>
        </p:nvSpPr>
        <p:spPr>
          <a:xfrm>
            <a:off x="4553712" y="3063240"/>
            <a:ext cx="1143000" cy="246888"/>
          </a:xfrm>
          <a:prstGeom prst="rect">
            <a:avLst/>
          </a:prstGeom>
          <a:noFill/>
          <a:ln/>
        </p:spPr>
        <p:txBody>
          <a:bodyPr wrap="square" rtlCol="0" anchor="ctr"/>
          <a:lstStyle/>
          <a:p>
            <a:pPr algn="ctr" indent="0" marL="0">
              <a:buNone/>
            </a:pPr>
            <a:r>
              <a:rPr lang="en-US" sz="1100" b="1" dirty="0">
                <a:solidFill>
                  <a:srgbClr val="7B3FA0"/>
                </a:solidFill>
              </a:rPr>
              <a:t>later/o</a:t>
            </a:r>
            <a:endParaRPr lang="en-US" sz="1100" dirty="0"/>
          </a:p>
        </p:txBody>
      </p:sp>
      <p:sp>
        <p:nvSpPr>
          <p:cNvPr id="45" name="Text 43"/>
          <p:cNvSpPr/>
          <p:nvPr/>
        </p:nvSpPr>
        <p:spPr>
          <a:xfrm>
            <a:off x="5724144" y="3090672"/>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46" name="Shape 44"/>
          <p:cNvSpPr/>
          <p:nvPr/>
        </p:nvSpPr>
        <p:spPr>
          <a:xfrm>
            <a:off x="5952744" y="3035808"/>
            <a:ext cx="1143000" cy="301752"/>
          </a:xfrm>
          <a:prstGeom prst="rect">
            <a:avLst/>
          </a:prstGeom>
          <a:solidFill>
            <a:srgbClr val="D4EDDA"/>
          </a:solidFill>
          <a:ln w="12700">
            <a:solidFill>
              <a:srgbClr val="0F6E56"/>
            </a:solidFill>
            <a:prstDash val="solid"/>
          </a:ln>
        </p:spPr>
      </p:sp>
      <p:sp>
        <p:nvSpPr>
          <p:cNvPr id="47" name="Text 45"/>
          <p:cNvSpPr/>
          <p:nvPr/>
        </p:nvSpPr>
        <p:spPr>
          <a:xfrm>
            <a:off x="5952744" y="3063240"/>
            <a:ext cx="1143000" cy="246888"/>
          </a:xfrm>
          <a:prstGeom prst="rect">
            <a:avLst/>
          </a:prstGeom>
          <a:noFill/>
          <a:ln/>
        </p:spPr>
        <p:txBody>
          <a:bodyPr wrap="square" rtlCol="0" anchor="ctr"/>
          <a:lstStyle/>
          <a:p>
            <a:pPr algn="ctr" indent="0" marL="0">
              <a:buNone/>
            </a:pPr>
            <a:r>
              <a:rPr lang="en-US" sz="1100" b="1" dirty="0">
                <a:solidFill>
                  <a:srgbClr val="0F6E56"/>
                </a:solidFill>
              </a:rPr>
              <a:t>-al</a:t>
            </a:r>
            <a:endParaRPr lang="en-US" sz="1100" dirty="0"/>
          </a:p>
        </p:txBody>
      </p:sp>
      <p:sp>
        <p:nvSpPr>
          <p:cNvPr id="48" name="Text 46"/>
          <p:cNvSpPr/>
          <p:nvPr/>
        </p:nvSpPr>
        <p:spPr>
          <a:xfrm>
            <a:off x="7132320" y="3090672"/>
            <a:ext cx="1600200" cy="274320"/>
          </a:xfrm>
          <a:prstGeom prst="rect">
            <a:avLst/>
          </a:prstGeom>
          <a:noFill/>
          <a:ln/>
        </p:spPr>
        <p:txBody>
          <a:bodyPr wrap="square" rtlCol="0" anchor="ctr"/>
          <a:lstStyle/>
          <a:p>
            <a:pPr indent="0" marL="0">
              <a:buNone/>
            </a:pPr>
            <a:r>
              <a:rPr lang="en-US" sz="950" i="1" dirty="0">
                <a:solidFill>
                  <a:srgbClr val="4A5568"/>
                </a:solidFill>
              </a:rPr>
              <a:t>= pertaining to one side only</a:t>
            </a:r>
            <a:endParaRPr lang="en-US" sz="950" dirty="0"/>
          </a:p>
        </p:txBody>
      </p:sp>
      <p:sp>
        <p:nvSpPr>
          <p:cNvPr id="49" name="Shape 47"/>
          <p:cNvSpPr/>
          <p:nvPr/>
        </p:nvSpPr>
        <p:spPr>
          <a:xfrm>
            <a:off x="365760" y="3584448"/>
            <a:ext cx="8412480" cy="621792"/>
          </a:xfrm>
          <a:prstGeom prst="rect">
            <a:avLst/>
          </a:prstGeom>
          <a:solidFill>
            <a:srgbClr val="F2EDFA"/>
          </a:solidFill>
          <a:ln w="12700">
            <a:solidFill>
              <a:srgbClr val="D0C8E4"/>
            </a:solidFill>
            <a:prstDash val="solid"/>
          </a:ln>
        </p:spPr>
      </p:sp>
      <p:sp>
        <p:nvSpPr>
          <p:cNvPr id="50" name="Text 48"/>
          <p:cNvSpPr/>
          <p:nvPr/>
        </p:nvSpPr>
        <p:spPr>
          <a:xfrm>
            <a:off x="502920" y="3675888"/>
            <a:ext cx="2468880" cy="420624"/>
          </a:xfrm>
          <a:prstGeom prst="rect">
            <a:avLst/>
          </a:prstGeom>
          <a:noFill/>
          <a:ln/>
        </p:spPr>
        <p:txBody>
          <a:bodyPr wrap="square" rtlCol="0" anchor="ctr"/>
          <a:lstStyle/>
          <a:p>
            <a:pPr indent="0" marL="0">
              <a:buNone/>
            </a:pPr>
            <a:r>
              <a:rPr lang="en-US" sz="1350" b="1" dirty="0">
                <a:solidFill>
                  <a:srgbClr val="12203A"/>
                </a:solidFill>
              </a:rPr>
              <a:t>Cephalad</a:t>
            </a:r>
            <a:endParaRPr lang="en-US" sz="1350" dirty="0"/>
          </a:p>
        </p:txBody>
      </p:sp>
      <p:sp>
        <p:nvSpPr>
          <p:cNvPr id="51" name="Shape 49"/>
          <p:cNvSpPr/>
          <p:nvPr/>
        </p:nvSpPr>
        <p:spPr>
          <a:xfrm>
            <a:off x="3154680" y="3730752"/>
            <a:ext cx="1143000" cy="301752"/>
          </a:xfrm>
          <a:prstGeom prst="rect">
            <a:avLst/>
          </a:prstGeom>
          <a:solidFill>
            <a:srgbClr val="D6EEFA"/>
          </a:solidFill>
          <a:ln w="12700">
            <a:solidFill>
              <a:srgbClr val="185FA5"/>
            </a:solidFill>
            <a:prstDash val="solid"/>
          </a:ln>
        </p:spPr>
      </p:sp>
      <p:sp>
        <p:nvSpPr>
          <p:cNvPr id="52" name="Text 50"/>
          <p:cNvSpPr/>
          <p:nvPr/>
        </p:nvSpPr>
        <p:spPr>
          <a:xfrm>
            <a:off x="3154680" y="3758184"/>
            <a:ext cx="1143000" cy="246888"/>
          </a:xfrm>
          <a:prstGeom prst="rect">
            <a:avLst/>
          </a:prstGeom>
          <a:noFill/>
          <a:ln/>
        </p:spPr>
        <p:txBody>
          <a:bodyPr wrap="square" rtlCol="0" anchor="ctr"/>
          <a:lstStyle/>
          <a:p>
            <a:pPr algn="ctr" indent="0" marL="0">
              <a:buNone/>
            </a:pPr>
            <a:r>
              <a:rPr lang="en-US" sz="1100" b="1" dirty="0">
                <a:solidFill>
                  <a:srgbClr val="185FA5"/>
                </a:solidFill>
              </a:rPr>
              <a:t>cephal/o</a:t>
            </a:r>
            <a:endParaRPr lang="en-US" sz="1100" dirty="0"/>
          </a:p>
        </p:txBody>
      </p:sp>
      <p:sp>
        <p:nvSpPr>
          <p:cNvPr id="53" name="Text 51"/>
          <p:cNvSpPr/>
          <p:nvPr/>
        </p:nvSpPr>
        <p:spPr>
          <a:xfrm>
            <a:off x="4325112" y="3785616"/>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54" name="Shape 52"/>
          <p:cNvSpPr/>
          <p:nvPr/>
        </p:nvSpPr>
        <p:spPr>
          <a:xfrm>
            <a:off x="4553712" y="3730752"/>
            <a:ext cx="1143000" cy="301752"/>
          </a:xfrm>
          <a:prstGeom prst="rect">
            <a:avLst/>
          </a:prstGeom>
          <a:solidFill>
            <a:srgbClr val="D4EDDA"/>
          </a:solidFill>
          <a:ln w="12700">
            <a:solidFill>
              <a:srgbClr val="0F6E56"/>
            </a:solidFill>
            <a:prstDash val="solid"/>
          </a:ln>
        </p:spPr>
      </p:sp>
      <p:sp>
        <p:nvSpPr>
          <p:cNvPr id="55" name="Text 53"/>
          <p:cNvSpPr/>
          <p:nvPr/>
        </p:nvSpPr>
        <p:spPr>
          <a:xfrm>
            <a:off x="4553712" y="3758184"/>
            <a:ext cx="1143000" cy="246888"/>
          </a:xfrm>
          <a:prstGeom prst="rect">
            <a:avLst/>
          </a:prstGeom>
          <a:noFill/>
          <a:ln/>
        </p:spPr>
        <p:txBody>
          <a:bodyPr wrap="square" rtlCol="0" anchor="ctr"/>
          <a:lstStyle/>
          <a:p>
            <a:pPr algn="ctr" indent="0" marL="0">
              <a:buNone/>
            </a:pPr>
            <a:r>
              <a:rPr lang="en-US" sz="1100" b="1" dirty="0">
                <a:solidFill>
                  <a:srgbClr val="0F6E56"/>
                </a:solidFill>
              </a:rPr>
              <a:t>-ad</a:t>
            </a:r>
            <a:endParaRPr lang="en-US" sz="1100" dirty="0"/>
          </a:p>
        </p:txBody>
      </p:sp>
      <p:sp>
        <p:nvSpPr>
          <p:cNvPr id="56" name="Text 54"/>
          <p:cNvSpPr/>
          <p:nvPr/>
        </p:nvSpPr>
        <p:spPr>
          <a:xfrm>
            <a:off x="7132320" y="3785616"/>
            <a:ext cx="1600200" cy="274320"/>
          </a:xfrm>
          <a:prstGeom prst="rect">
            <a:avLst/>
          </a:prstGeom>
          <a:noFill/>
          <a:ln/>
        </p:spPr>
        <p:txBody>
          <a:bodyPr wrap="square" rtlCol="0" anchor="ctr"/>
          <a:lstStyle/>
          <a:p>
            <a:pPr indent="0" marL="0">
              <a:buNone/>
            </a:pPr>
            <a:r>
              <a:rPr lang="en-US" sz="950" i="1" dirty="0">
                <a:solidFill>
                  <a:srgbClr val="4A5568"/>
                </a:solidFill>
              </a:rPr>
              <a:t>= toward the head (direction)</a:t>
            </a:r>
            <a:endParaRPr lang="en-US" sz="950" dirty="0"/>
          </a:p>
        </p:txBody>
      </p:sp>
      <p:sp>
        <p:nvSpPr>
          <p:cNvPr id="57" name="Shape 55"/>
          <p:cNvSpPr/>
          <p:nvPr/>
        </p:nvSpPr>
        <p:spPr>
          <a:xfrm>
            <a:off x="365760" y="4279392"/>
            <a:ext cx="8412480" cy="621792"/>
          </a:xfrm>
          <a:prstGeom prst="rect">
            <a:avLst/>
          </a:prstGeom>
          <a:solidFill>
            <a:srgbClr val="FAF7FD"/>
          </a:solidFill>
          <a:ln w="12700">
            <a:solidFill>
              <a:srgbClr val="D0C8E4"/>
            </a:solidFill>
            <a:prstDash val="solid"/>
          </a:ln>
        </p:spPr>
      </p:sp>
      <p:sp>
        <p:nvSpPr>
          <p:cNvPr id="58" name="Text 56"/>
          <p:cNvSpPr/>
          <p:nvPr/>
        </p:nvSpPr>
        <p:spPr>
          <a:xfrm>
            <a:off x="502920" y="4370832"/>
            <a:ext cx="2468880" cy="420624"/>
          </a:xfrm>
          <a:prstGeom prst="rect">
            <a:avLst/>
          </a:prstGeom>
          <a:noFill/>
          <a:ln/>
        </p:spPr>
        <p:txBody>
          <a:bodyPr wrap="square" rtlCol="0" anchor="ctr"/>
          <a:lstStyle/>
          <a:p>
            <a:pPr indent="0" marL="0">
              <a:buNone/>
            </a:pPr>
            <a:r>
              <a:rPr lang="en-US" sz="1350" b="1" dirty="0">
                <a:solidFill>
                  <a:srgbClr val="12203A"/>
                </a:solidFill>
              </a:rPr>
              <a:t>Mediastinum</a:t>
            </a:r>
            <a:endParaRPr lang="en-US" sz="1350" dirty="0"/>
          </a:p>
        </p:txBody>
      </p:sp>
      <p:sp>
        <p:nvSpPr>
          <p:cNvPr id="59" name="Shape 57"/>
          <p:cNvSpPr/>
          <p:nvPr/>
        </p:nvSpPr>
        <p:spPr>
          <a:xfrm>
            <a:off x="3154680" y="4425696"/>
            <a:ext cx="1143000" cy="301752"/>
          </a:xfrm>
          <a:prstGeom prst="rect">
            <a:avLst/>
          </a:prstGeom>
          <a:solidFill>
            <a:srgbClr val="EDE0FA"/>
          </a:solidFill>
          <a:ln w="12700">
            <a:solidFill>
              <a:srgbClr val="7B3FA0"/>
            </a:solidFill>
            <a:prstDash val="solid"/>
          </a:ln>
        </p:spPr>
      </p:sp>
      <p:sp>
        <p:nvSpPr>
          <p:cNvPr id="60" name="Text 58"/>
          <p:cNvSpPr/>
          <p:nvPr/>
        </p:nvSpPr>
        <p:spPr>
          <a:xfrm>
            <a:off x="3154680" y="4453128"/>
            <a:ext cx="1143000" cy="246888"/>
          </a:xfrm>
          <a:prstGeom prst="rect">
            <a:avLst/>
          </a:prstGeom>
          <a:noFill/>
          <a:ln/>
        </p:spPr>
        <p:txBody>
          <a:bodyPr wrap="square" rtlCol="0" anchor="ctr"/>
          <a:lstStyle/>
          <a:p>
            <a:pPr algn="ctr" indent="0" marL="0">
              <a:buNone/>
            </a:pPr>
            <a:r>
              <a:rPr lang="en-US" sz="1100" b="1" dirty="0">
                <a:solidFill>
                  <a:srgbClr val="7B3FA0"/>
                </a:solidFill>
              </a:rPr>
              <a:t>mediastin/o</a:t>
            </a:r>
            <a:endParaRPr lang="en-US" sz="1100" dirty="0"/>
          </a:p>
        </p:txBody>
      </p:sp>
      <p:sp>
        <p:nvSpPr>
          <p:cNvPr id="61" name="Text 59"/>
          <p:cNvSpPr/>
          <p:nvPr/>
        </p:nvSpPr>
        <p:spPr>
          <a:xfrm>
            <a:off x="4325112" y="4480560"/>
            <a:ext cx="201168" cy="201168"/>
          </a:xfrm>
          <a:prstGeom prst="rect">
            <a:avLst/>
          </a:prstGeom>
          <a:noFill/>
          <a:ln/>
        </p:spPr>
        <p:txBody>
          <a:bodyPr wrap="square" rtlCol="0" anchor="ctr"/>
          <a:lstStyle/>
          <a:p>
            <a:pPr algn="ctr" indent="0" marL="0">
              <a:buNone/>
            </a:pPr>
            <a:r>
              <a:rPr lang="en-US" sz="1100" dirty="0">
                <a:solidFill>
                  <a:srgbClr val="4A5568"/>
                </a:solidFill>
              </a:rPr>
              <a:t>+</a:t>
            </a:r>
            <a:endParaRPr lang="en-US" sz="1100" dirty="0"/>
          </a:p>
        </p:txBody>
      </p:sp>
      <p:sp>
        <p:nvSpPr>
          <p:cNvPr id="62" name="Shape 60"/>
          <p:cNvSpPr/>
          <p:nvPr/>
        </p:nvSpPr>
        <p:spPr>
          <a:xfrm>
            <a:off x="4553712" y="4425696"/>
            <a:ext cx="1143000" cy="301752"/>
          </a:xfrm>
          <a:prstGeom prst="rect">
            <a:avLst/>
          </a:prstGeom>
          <a:solidFill>
            <a:srgbClr val="FDE8B0"/>
          </a:solidFill>
          <a:ln w="12700">
            <a:solidFill>
              <a:srgbClr val="C9860A"/>
            </a:solidFill>
            <a:prstDash val="solid"/>
          </a:ln>
        </p:spPr>
      </p:sp>
      <p:sp>
        <p:nvSpPr>
          <p:cNvPr id="63" name="Text 61"/>
          <p:cNvSpPr/>
          <p:nvPr/>
        </p:nvSpPr>
        <p:spPr>
          <a:xfrm>
            <a:off x="4553712" y="4453128"/>
            <a:ext cx="1143000" cy="246888"/>
          </a:xfrm>
          <a:prstGeom prst="rect">
            <a:avLst/>
          </a:prstGeom>
          <a:noFill/>
          <a:ln/>
        </p:spPr>
        <p:txBody>
          <a:bodyPr wrap="square" rtlCol="0" anchor="ctr"/>
          <a:lstStyle/>
          <a:p>
            <a:pPr algn="ctr" indent="0" marL="0">
              <a:buNone/>
            </a:pPr>
            <a:r>
              <a:rPr lang="en-US" sz="1100" b="1" dirty="0">
                <a:solidFill>
                  <a:srgbClr val="C9860A"/>
                </a:solidFill>
              </a:rPr>
              <a:t>-um</a:t>
            </a:r>
            <a:endParaRPr lang="en-US" sz="1100" dirty="0"/>
          </a:p>
        </p:txBody>
      </p:sp>
      <p:sp>
        <p:nvSpPr>
          <p:cNvPr id="64" name="Text 62"/>
          <p:cNvSpPr/>
          <p:nvPr/>
        </p:nvSpPr>
        <p:spPr>
          <a:xfrm>
            <a:off x="7132320" y="4480560"/>
            <a:ext cx="1600200" cy="274320"/>
          </a:xfrm>
          <a:prstGeom prst="rect">
            <a:avLst/>
          </a:prstGeom>
          <a:noFill/>
          <a:ln/>
        </p:spPr>
        <p:txBody>
          <a:bodyPr wrap="square" rtlCol="0" anchor="ctr"/>
          <a:lstStyle/>
          <a:p>
            <a:pPr indent="0" marL="0">
              <a:buNone/>
            </a:pPr>
            <a:r>
              <a:rPr lang="en-US" sz="950" i="1" dirty="0">
                <a:solidFill>
                  <a:srgbClr val="4A5568"/>
                </a:solidFill>
              </a:rPr>
              <a:t>= structure in the middle of chest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0D2E"/>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C9860A"/>
          </a:solidFill>
          <a:ln w="12700">
            <a:solidFill>
              <a:srgbClr val="C9860A"/>
            </a:solidFill>
            <a:prstDash val="solid"/>
          </a:ln>
        </p:spPr>
      </p:sp>
      <p:sp>
        <p:nvSpPr>
          <p:cNvPr id="3" name="Text 1"/>
          <p:cNvSpPr/>
          <p:nvPr/>
        </p:nvSpPr>
        <p:spPr>
          <a:xfrm>
            <a:off x="457200" y="256032"/>
            <a:ext cx="822960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Chapter 2 Summary</a:t>
            </a:r>
            <a:endParaRPr lang="en-US" sz="3200" dirty="0"/>
          </a:p>
        </p:txBody>
      </p:sp>
      <p:sp>
        <p:nvSpPr>
          <p:cNvPr id="4" name="Shape 2"/>
          <p:cNvSpPr/>
          <p:nvPr/>
        </p:nvSpPr>
        <p:spPr>
          <a:xfrm>
            <a:off x="457200" y="1051560"/>
            <a:ext cx="475488" cy="566928"/>
          </a:xfrm>
          <a:prstGeom prst="rect">
            <a:avLst/>
          </a:prstGeom>
          <a:solidFill>
            <a:srgbClr val="C9860A"/>
          </a:solidFill>
          <a:ln w="12700">
            <a:solidFill>
              <a:srgbClr val="C9860A"/>
            </a:solidFill>
            <a:prstDash val="solid"/>
          </a:ln>
        </p:spPr>
      </p:sp>
      <p:sp>
        <p:nvSpPr>
          <p:cNvPr id="5" name="Text 3"/>
          <p:cNvSpPr/>
          <p:nvPr/>
        </p:nvSpPr>
        <p:spPr>
          <a:xfrm>
            <a:off x="457200" y="1115568"/>
            <a:ext cx="475488" cy="438912"/>
          </a:xfrm>
          <a:prstGeom prst="rect">
            <a:avLst/>
          </a:prstGeom>
          <a:noFill/>
          <a:ln/>
        </p:spPr>
        <p:txBody>
          <a:bodyPr wrap="square" rtlCol="0" anchor="ctr"/>
          <a:lstStyle/>
          <a:p>
            <a:pPr algn="ctr" indent="0" marL="0">
              <a:buNone/>
            </a:pPr>
            <a:r>
              <a:rPr lang="en-US" sz="2000" b="1" dirty="0">
                <a:solidFill>
                  <a:srgbClr val="12203A"/>
                </a:solidFill>
              </a:rPr>
              <a:t>1</a:t>
            </a:r>
            <a:endParaRPr lang="en-US" sz="2000" dirty="0"/>
          </a:p>
        </p:txBody>
      </p:sp>
      <p:sp>
        <p:nvSpPr>
          <p:cNvPr id="6" name="Shape 4"/>
          <p:cNvSpPr/>
          <p:nvPr/>
        </p:nvSpPr>
        <p:spPr>
          <a:xfrm>
            <a:off x="1005840" y="1051560"/>
            <a:ext cx="7635240" cy="566928"/>
          </a:xfrm>
          <a:prstGeom prst="rect">
            <a:avLst/>
          </a:prstGeom>
          <a:solidFill>
            <a:srgbClr val="1A0D2E"/>
          </a:solidFill>
          <a:ln w="12700">
            <a:solidFill>
              <a:srgbClr val="7B3FA0"/>
            </a:solidFill>
            <a:prstDash val="solid"/>
          </a:ln>
        </p:spPr>
      </p:sp>
      <p:sp>
        <p:nvSpPr>
          <p:cNvPr id="7" name="Text 5"/>
          <p:cNvSpPr/>
          <p:nvPr/>
        </p:nvSpPr>
        <p:spPr>
          <a:xfrm>
            <a:off x="1115568" y="1133856"/>
            <a:ext cx="7406640" cy="402336"/>
          </a:xfrm>
          <a:prstGeom prst="rect">
            <a:avLst/>
          </a:prstGeom>
          <a:noFill/>
          <a:ln/>
        </p:spPr>
        <p:txBody>
          <a:bodyPr wrap="square" rtlCol="0" anchor="ctr"/>
          <a:lstStyle/>
          <a:p>
            <a:pPr indent="0" marL="0">
              <a:buNone/>
            </a:pPr>
            <a:r>
              <a:rPr lang="en-US" sz="1200" dirty="0">
                <a:solidFill>
                  <a:srgbClr val="EDE0FA"/>
                </a:solidFill>
              </a:rPr>
              <a:t>Anatomic position = the universal reference frame: standing erect, face forward, arms at sides, palms forward, toes forward. ALL directional terms assume this position.</a:t>
            </a:r>
            <a:endParaRPr lang="en-US" sz="1200" dirty="0"/>
          </a:p>
        </p:txBody>
      </p:sp>
      <p:sp>
        <p:nvSpPr>
          <p:cNvPr id="8" name="Shape 6"/>
          <p:cNvSpPr/>
          <p:nvPr/>
        </p:nvSpPr>
        <p:spPr>
          <a:xfrm>
            <a:off x="457200" y="1828800"/>
            <a:ext cx="475488" cy="566928"/>
          </a:xfrm>
          <a:prstGeom prst="rect">
            <a:avLst/>
          </a:prstGeom>
          <a:solidFill>
            <a:srgbClr val="C9860A"/>
          </a:solidFill>
          <a:ln w="12700">
            <a:solidFill>
              <a:srgbClr val="C9860A"/>
            </a:solidFill>
            <a:prstDash val="solid"/>
          </a:ln>
        </p:spPr>
      </p:sp>
      <p:sp>
        <p:nvSpPr>
          <p:cNvPr id="9" name="Text 7"/>
          <p:cNvSpPr/>
          <p:nvPr/>
        </p:nvSpPr>
        <p:spPr>
          <a:xfrm>
            <a:off x="457200" y="1892808"/>
            <a:ext cx="475488" cy="438912"/>
          </a:xfrm>
          <a:prstGeom prst="rect">
            <a:avLst/>
          </a:prstGeom>
          <a:noFill/>
          <a:ln/>
        </p:spPr>
        <p:txBody>
          <a:bodyPr wrap="square" rtlCol="0" anchor="ctr"/>
          <a:lstStyle/>
          <a:p>
            <a:pPr algn="ctr" indent="0" marL="0">
              <a:buNone/>
            </a:pPr>
            <a:r>
              <a:rPr lang="en-US" sz="2000" b="1" dirty="0">
                <a:solidFill>
                  <a:srgbClr val="12203A"/>
                </a:solidFill>
              </a:rPr>
              <a:t>2</a:t>
            </a:r>
            <a:endParaRPr lang="en-US" sz="2000" dirty="0"/>
          </a:p>
        </p:txBody>
      </p:sp>
      <p:sp>
        <p:nvSpPr>
          <p:cNvPr id="10" name="Shape 8"/>
          <p:cNvSpPr/>
          <p:nvPr/>
        </p:nvSpPr>
        <p:spPr>
          <a:xfrm>
            <a:off x="1005840" y="1828800"/>
            <a:ext cx="7635240" cy="566928"/>
          </a:xfrm>
          <a:prstGeom prst="rect">
            <a:avLst/>
          </a:prstGeom>
          <a:solidFill>
            <a:srgbClr val="1A0D2E"/>
          </a:solidFill>
          <a:ln w="12700">
            <a:solidFill>
              <a:srgbClr val="7B3FA0"/>
            </a:solidFill>
            <a:prstDash val="solid"/>
          </a:ln>
        </p:spPr>
      </p:sp>
      <p:sp>
        <p:nvSpPr>
          <p:cNvPr id="11" name="Text 9"/>
          <p:cNvSpPr/>
          <p:nvPr/>
        </p:nvSpPr>
        <p:spPr>
          <a:xfrm>
            <a:off x="1115568" y="1911096"/>
            <a:ext cx="7406640" cy="402336"/>
          </a:xfrm>
          <a:prstGeom prst="rect">
            <a:avLst/>
          </a:prstGeom>
          <a:noFill/>
          <a:ln/>
        </p:spPr>
        <p:txBody>
          <a:bodyPr wrap="square" rtlCol="0" anchor="ctr"/>
          <a:lstStyle/>
          <a:p>
            <a:pPr indent="0" marL="0">
              <a:buNone/>
            </a:pPr>
            <a:r>
              <a:rPr lang="en-US" sz="1200" dirty="0">
                <a:solidFill>
                  <a:srgbClr val="EDE0FA"/>
                </a:solidFill>
              </a:rPr>
              <a:t>Directional term pairs: Anterior/Posterior · Superior/Inferior · Medial/Lateral · Proximal/Distal · Superficial/Deep · Ipsilateral/Contralateral · Unilateral/Bilateral.</a:t>
            </a:r>
            <a:endParaRPr lang="en-US" sz="1200" dirty="0"/>
          </a:p>
        </p:txBody>
      </p:sp>
      <p:sp>
        <p:nvSpPr>
          <p:cNvPr id="12" name="Shape 10"/>
          <p:cNvSpPr/>
          <p:nvPr/>
        </p:nvSpPr>
        <p:spPr>
          <a:xfrm>
            <a:off x="457200" y="2606040"/>
            <a:ext cx="475488" cy="566928"/>
          </a:xfrm>
          <a:prstGeom prst="rect">
            <a:avLst/>
          </a:prstGeom>
          <a:solidFill>
            <a:srgbClr val="C9860A"/>
          </a:solidFill>
          <a:ln w="12700">
            <a:solidFill>
              <a:srgbClr val="C9860A"/>
            </a:solidFill>
            <a:prstDash val="solid"/>
          </a:ln>
        </p:spPr>
      </p:sp>
      <p:sp>
        <p:nvSpPr>
          <p:cNvPr id="13" name="Text 11"/>
          <p:cNvSpPr/>
          <p:nvPr/>
        </p:nvSpPr>
        <p:spPr>
          <a:xfrm>
            <a:off x="457200" y="2670048"/>
            <a:ext cx="475488" cy="438912"/>
          </a:xfrm>
          <a:prstGeom prst="rect">
            <a:avLst/>
          </a:prstGeom>
          <a:noFill/>
          <a:ln/>
        </p:spPr>
        <p:txBody>
          <a:bodyPr wrap="square" rtlCol="0" anchor="ctr"/>
          <a:lstStyle/>
          <a:p>
            <a:pPr algn="ctr" indent="0" marL="0">
              <a:buNone/>
            </a:pPr>
            <a:r>
              <a:rPr lang="en-US" sz="2000" b="1" dirty="0">
                <a:solidFill>
                  <a:srgbClr val="12203A"/>
                </a:solidFill>
              </a:rPr>
              <a:t>3</a:t>
            </a:r>
            <a:endParaRPr lang="en-US" sz="2000" dirty="0"/>
          </a:p>
        </p:txBody>
      </p:sp>
      <p:sp>
        <p:nvSpPr>
          <p:cNvPr id="14" name="Shape 12"/>
          <p:cNvSpPr/>
          <p:nvPr/>
        </p:nvSpPr>
        <p:spPr>
          <a:xfrm>
            <a:off x="1005840" y="2606040"/>
            <a:ext cx="7635240" cy="566928"/>
          </a:xfrm>
          <a:prstGeom prst="rect">
            <a:avLst/>
          </a:prstGeom>
          <a:solidFill>
            <a:srgbClr val="1A0D2E"/>
          </a:solidFill>
          <a:ln w="12700">
            <a:solidFill>
              <a:srgbClr val="7B3FA0"/>
            </a:solidFill>
            <a:prstDash val="solid"/>
          </a:ln>
        </p:spPr>
      </p:sp>
      <p:sp>
        <p:nvSpPr>
          <p:cNvPr id="15" name="Text 13"/>
          <p:cNvSpPr/>
          <p:nvPr/>
        </p:nvSpPr>
        <p:spPr>
          <a:xfrm>
            <a:off x="1115568" y="2688336"/>
            <a:ext cx="7406640" cy="402336"/>
          </a:xfrm>
          <a:prstGeom prst="rect">
            <a:avLst/>
          </a:prstGeom>
          <a:noFill/>
          <a:ln/>
        </p:spPr>
        <p:txBody>
          <a:bodyPr wrap="square" rtlCol="0" anchor="ctr"/>
          <a:lstStyle/>
          <a:p>
            <a:pPr indent="0" marL="0">
              <a:buNone/>
            </a:pPr>
            <a:r>
              <a:rPr lang="en-US" sz="1200" dirty="0">
                <a:solidFill>
                  <a:srgbClr val="EDE0FA"/>
                </a:solidFill>
              </a:rPr>
              <a:t>Body cavities: DORSAL (cranial + spinal, protected by bone) · VENTRAL = TAP (Thoracic + Abdominal + Pelvic). The thoracic cavity contains the mediastinum and pleural cavities.</a:t>
            </a:r>
            <a:endParaRPr lang="en-US" sz="1200" dirty="0"/>
          </a:p>
        </p:txBody>
      </p:sp>
      <p:sp>
        <p:nvSpPr>
          <p:cNvPr id="16" name="Shape 14"/>
          <p:cNvSpPr/>
          <p:nvPr/>
        </p:nvSpPr>
        <p:spPr>
          <a:xfrm>
            <a:off x="457200" y="3383280"/>
            <a:ext cx="475488" cy="566928"/>
          </a:xfrm>
          <a:prstGeom prst="rect">
            <a:avLst/>
          </a:prstGeom>
          <a:solidFill>
            <a:srgbClr val="C9860A"/>
          </a:solidFill>
          <a:ln w="12700">
            <a:solidFill>
              <a:srgbClr val="C9860A"/>
            </a:solidFill>
            <a:prstDash val="solid"/>
          </a:ln>
        </p:spPr>
      </p:sp>
      <p:sp>
        <p:nvSpPr>
          <p:cNvPr id="17" name="Text 15"/>
          <p:cNvSpPr/>
          <p:nvPr/>
        </p:nvSpPr>
        <p:spPr>
          <a:xfrm>
            <a:off x="457200" y="3447288"/>
            <a:ext cx="475488" cy="438912"/>
          </a:xfrm>
          <a:prstGeom prst="rect">
            <a:avLst/>
          </a:prstGeom>
          <a:noFill/>
          <a:ln/>
        </p:spPr>
        <p:txBody>
          <a:bodyPr wrap="square" rtlCol="0" anchor="ctr"/>
          <a:lstStyle/>
          <a:p>
            <a:pPr algn="ctr" indent="0" marL="0">
              <a:buNone/>
            </a:pPr>
            <a:r>
              <a:rPr lang="en-US" sz="2000" b="1" dirty="0">
                <a:solidFill>
                  <a:srgbClr val="12203A"/>
                </a:solidFill>
              </a:rPr>
              <a:t>4</a:t>
            </a:r>
            <a:endParaRPr lang="en-US" sz="2000" dirty="0"/>
          </a:p>
        </p:txBody>
      </p:sp>
      <p:sp>
        <p:nvSpPr>
          <p:cNvPr id="18" name="Shape 16"/>
          <p:cNvSpPr/>
          <p:nvPr/>
        </p:nvSpPr>
        <p:spPr>
          <a:xfrm>
            <a:off x="1005840" y="3383280"/>
            <a:ext cx="7635240" cy="566928"/>
          </a:xfrm>
          <a:prstGeom prst="rect">
            <a:avLst/>
          </a:prstGeom>
          <a:solidFill>
            <a:srgbClr val="1A0D2E"/>
          </a:solidFill>
          <a:ln w="12700">
            <a:solidFill>
              <a:srgbClr val="7B3FA0"/>
            </a:solidFill>
            <a:prstDash val="solid"/>
          </a:ln>
        </p:spPr>
      </p:sp>
      <p:sp>
        <p:nvSpPr>
          <p:cNvPr id="19" name="Text 17"/>
          <p:cNvSpPr/>
          <p:nvPr/>
        </p:nvSpPr>
        <p:spPr>
          <a:xfrm>
            <a:off x="1115568" y="3465576"/>
            <a:ext cx="7406640" cy="402336"/>
          </a:xfrm>
          <a:prstGeom prst="rect">
            <a:avLst/>
          </a:prstGeom>
          <a:noFill/>
          <a:ln/>
        </p:spPr>
        <p:txBody>
          <a:bodyPr wrap="square" rtlCol="0" anchor="ctr"/>
          <a:lstStyle/>
          <a:p>
            <a:pPr indent="0" marL="0">
              <a:buNone/>
            </a:pPr>
            <a:r>
              <a:rPr lang="en-US" sz="1200" dirty="0">
                <a:solidFill>
                  <a:srgbClr val="EDE0FA"/>
                </a:solidFill>
              </a:rPr>
              <a:t>9 abdominopelvic regions: epigastric (epi-), hypochondriac (hypo-), hypogastric (hypo-), lumbar, umbilical (umbilic/o), inguinal. 4 quadrants: RUQ, LUQ, RLQ, LLQ.</a:t>
            </a:r>
            <a:endParaRPr lang="en-US" sz="1200" dirty="0"/>
          </a:p>
        </p:txBody>
      </p:sp>
      <p:sp>
        <p:nvSpPr>
          <p:cNvPr id="20" name="Shape 18"/>
          <p:cNvSpPr/>
          <p:nvPr/>
        </p:nvSpPr>
        <p:spPr>
          <a:xfrm>
            <a:off x="457200" y="4160520"/>
            <a:ext cx="475488" cy="566928"/>
          </a:xfrm>
          <a:prstGeom prst="rect">
            <a:avLst/>
          </a:prstGeom>
          <a:solidFill>
            <a:srgbClr val="C9860A"/>
          </a:solidFill>
          <a:ln w="12700">
            <a:solidFill>
              <a:srgbClr val="C9860A"/>
            </a:solidFill>
            <a:prstDash val="solid"/>
          </a:ln>
        </p:spPr>
      </p:sp>
      <p:sp>
        <p:nvSpPr>
          <p:cNvPr id="21" name="Text 19"/>
          <p:cNvSpPr/>
          <p:nvPr/>
        </p:nvSpPr>
        <p:spPr>
          <a:xfrm>
            <a:off x="457200" y="4224528"/>
            <a:ext cx="475488" cy="438912"/>
          </a:xfrm>
          <a:prstGeom prst="rect">
            <a:avLst/>
          </a:prstGeom>
          <a:noFill/>
          <a:ln/>
        </p:spPr>
        <p:txBody>
          <a:bodyPr wrap="square" rtlCol="0" anchor="ctr"/>
          <a:lstStyle/>
          <a:p>
            <a:pPr algn="ctr" indent="0" marL="0">
              <a:buNone/>
            </a:pPr>
            <a:r>
              <a:rPr lang="en-US" sz="2000" b="1" dirty="0">
                <a:solidFill>
                  <a:srgbClr val="12203A"/>
                </a:solidFill>
              </a:rPr>
              <a:t>5</a:t>
            </a:r>
            <a:endParaRPr lang="en-US" sz="2000" dirty="0"/>
          </a:p>
        </p:txBody>
      </p:sp>
      <p:sp>
        <p:nvSpPr>
          <p:cNvPr id="22" name="Shape 20"/>
          <p:cNvSpPr/>
          <p:nvPr/>
        </p:nvSpPr>
        <p:spPr>
          <a:xfrm>
            <a:off x="1005840" y="4160520"/>
            <a:ext cx="7635240" cy="566928"/>
          </a:xfrm>
          <a:prstGeom prst="rect">
            <a:avLst/>
          </a:prstGeom>
          <a:solidFill>
            <a:srgbClr val="1A0D2E"/>
          </a:solidFill>
          <a:ln w="12700">
            <a:solidFill>
              <a:srgbClr val="7B3FA0"/>
            </a:solidFill>
            <a:prstDash val="solid"/>
          </a:ln>
        </p:spPr>
      </p:sp>
      <p:sp>
        <p:nvSpPr>
          <p:cNvPr id="23" name="Text 21"/>
          <p:cNvSpPr/>
          <p:nvPr/>
        </p:nvSpPr>
        <p:spPr>
          <a:xfrm>
            <a:off x="1115568" y="4242816"/>
            <a:ext cx="7406640" cy="402336"/>
          </a:xfrm>
          <a:prstGeom prst="rect">
            <a:avLst/>
          </a:prstGeom>
          <a:noFill/>
          <a:ln/>
        </p:spPr>
        <p:txBody>
          <a:bodyPr wrap="square" rtlCol="0" anchor="ctr"/>
          <a:lstStyle/>
          <a:p>
            <a:pPr indent="0" marL="0">
              <a:buNone/>
            </a:pPr>
            <a:r>
              <a:rPr lang="en-US" sz="1200" dirty="0">
                <a:solidFill>
                  <a:srgbClr val="EDE0FA"/>
                </a:solidFill>
              </a:rPr>
              <a:t>5 body planes: Midsagittal (equal L/R) · Frontal/Coronal (front/back) · Transverse/Axial (top/bottom, used for CT scans) · Sagittal (unequal L/R) · Oblique (diagonal).</a:t>
            </a:r>
            <a:endParaRPr lang="en-US" sz="1200" dirty="0"/>
          </a:p>
        </p:txBody>
      </p:sp>
      <p:sp>
        <p:nvSpPr>
          <p:cNvPr id="24" name="Shape 22"/>
          <p:cNvSpPr/>
          <p:nvPr/>
        </p:nvSpPr>
        <p:spPr>
          <a:xfrm>
            <a:off x="0" y="4736592"/>
            <a:ext cx="9144000" cy="406908"/>
          </a:xfrm>
          <a:prstGeom prst="rect">
            <a:avLst/>
          </a:prstGeom>
          <a:solidFill>
            <a:srgbClr val="7B3FA0"/>
          </a:solidFill>
          <a:ln w="12700">
            <a:solidFill>
              <a:srgbClr val="7B3FA0"/>
            </a:solidFill>
            <a:prstDash val="solid"/>
          </a:ln>
        </p:spPr>
      </p:sp>
      <p:sp>
        <p:nvSpPr>
          <p:cNvPr id="25" name="Text 23"/>
          <p:cNvSpPr/>
          <p:nvPr/>
        </p:nvSpPr>
        <p:spPr>
          <a:xfrm>
            <a:off x="274320" y="4754880"/>
            <a:ext cx="8595360" cy="365760"/>
          </a:xfrm>
          <a:prstGeom prst="rect">
            <a:avLst/>
          </a:prstGeom>
          <a:noFill/>
          <a:ln/>
        </p:spPr>
        <p:txBody>
          <a:bodyPr wrap="square" rtlCol="0" anchor="ctr"/>
          <a:lstStyle/>
          <a:p>
            <a:pPr algn="ctr" indent="0" marL="0">
              <a:buNone/>
            </a:pPr>
            <a:r>
              <a:rPr lang="en-US" sz="1100" dirty="0">
                <a:solidFill>
                  <a:srgbClr val="EDE0FA"/>
                </a:solidFill>
              </a:rPr>
              <a:t>Review: Directional Term Pairs → Body Cavities → 9 Regions → 4 Quadrants → 5 Planes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Body Structure and Directional Terminology — Chapter 2</dc:title>
  <dc:subject>PptxGenJS Presentation</dc:subject>
  <dc:creator>PptxGenJS</dc:creator>
  <cp:lastModifiedBy>PptxGenJS</cp:lastModifiedBy>
  <cp:revision>1</cp:revision>
  <dcterms:created xsi:type="dcterms:W3CDTF">2026-06-07T21:32:37Z</dcterms:created>
  <dcterms:modified xsi:type="dcterms:W3CDTF">2026-06-07T21:32:37Z</dcterms:modified>
</cp:coreProperties>
</file>